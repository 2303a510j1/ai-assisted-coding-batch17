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E8A020"/>
          </a:solidFill>
          <a:ln w="12700">
            <a:solidFill>
              <a:srgbClr val="E8A020"/>
            </a:solidFill>
            <a:prstDash val="solid"/>
          </a:ln>
        </p:spPr>
      </p:sp>
      <p:sp>
        <p:nvSpPr>
          <p:cNvPr id="3" name="Shape 1"/>
          <p:cNvSpPr/>
          <p:nvPr/>
        </p:nvSpPr>
        <p:spPr>
          <a:xfrm>
            <a:off x="4256532" y="0"/>
            <a:ext cx="7904988" cy="64008"/>
          </a:xfrm>
          <a:prstGeom prst="rect">
            <a:avLst/>
          </a:prstGeom>
          <a:solidFill>
            <a:srgbClr val="00C9A7"/>
          </a:solidFill>
          <a:ln w="12700">
            <a:solidFill>
              <a:srgbClr val="00C9A7"/>
            </a:solidFill>
            <a:prstDash val="solid"/>
          </a:ln>
        </p:spPr>
      </p:sp>
      <p:sp>
        <p:nvSpPr>
          <p:cNvPr id="4" name="Shape 2"/>
          <p:cNvSpPr/>
          <p:nvPr/>
        </p:nvSpPr>
        <p:spPr>
          <a:xfrm>
            <a:off x="-1371600" y="-457200"/>
            <a:ext cx="7315200" cy="7315200"/>
          </a:xfrm>
          <a:prstGeom prst="ellipse">
            <a:avLst/>
          </a:prstGeom>
          <a:solidFill>
            <a:srgbClr val="E8A020">
              <a:alpha val="10000"/>
            </a:srgbClr>
          </a:solidFill>
          <a:ln w="12700">
            <a:solidFill>
              <a:srgbClr val="E8A020">
                <a:alpha val="0"/>
              </a:srgbClr>
            </a:solidFill>
            <a:prstDash val="solid"/>
          </a:ln>
        </p:spPr>
      </p:sp>
      <p:sp>
        <p:nvSpPr>
          <p:cNvPr id="5" name="Shape 3"/>
          <p:cNvSpPr/>
          <p:nvPr/>
        </p:nvSpPr>
        <p:spPr>
          <a:xfrm>
            <a:off x="6858000" y="-914400"/>
            <a:ext cx="6400800" cy="6400800"/>
          </a:xfrm>
          <a:prstGeom prst="ellipse">
            <a:avLst/>
          </a:prstGeom>
          <a:solidFill>
            <a:srgbClr val="00C9A7">
              <a:alpha val="8000"/>
            </a:srgbClr>
          </a:solidFill>
          <a:ln w="12700">
            <a:solidFill>
              <a:srgbClr val="00C9A7">
                <a:alpha val="0"/>
              </a:srgbClr>
            </a:solidFill>
            <a:prstDash val="solid"/>
          </a:ln>
        </p:spPr>
      </p:sp>
      <p:sp>
        <p:nvSpPr>
          <p:cNvPr id="6" name="Shape 4"/>
          <p:cNvSpPr/>
          <p:nvPr/>
        </p:nvSpPr>
        <p:spPr>
          <a:xfrm>
            <a:off x="3337560" y="3657600"/>
            <a:ext cx="5486400" cy="5486400"/>
          </a:xfrm>
          <a:prstGeom prst="ellipse">
            <a:avLst/>
          </a:prstGeom>
          <a:solidFill>
            <a:srgbClr val="4FC3F7">
              <a:alpha val="7000"/>
            </a:srgbClr>
          </a:solidFill>
          <a:ln w="12700">
            <a:solidFill>
              <a:srgbClr val="4FC3F7">
                <a:alpha val="0"/>
              </a:srgbClr>
            </a:solidFill>
            <a:prstDash val="solid"/>
          </a:ln>
        </p:spPr>
      </p:sp>
      <p:sp>
        <p:nvSpPr>
          <p:cNvPr id="7" name="Shape 5"/>
          <p:cNvSpPr/>
          <p:nvPr/>
        </p:nvSpPr>
        <p:spPr>
          <a:xfrm>
            <a:off x="1097280" y="3429000"/>
            <a:ext cx="9966960" cy="2651760"/>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8" name="Text 6"/>
          <p:cNvSpPr/>
          <p:nvPr/>
        </p:nvSpPr>
        <p:spPr>
          <a:xfrm>
            <a:off x="457200" y="1371600"/>
            <a:ext cx="11247120" cy="1645920"/>
          </a:xfrm>
          <a:prstGeom prst="rect">
            <a:avLst/>
          </a:prstGeom>
          <a:noFill/>
          <a:ln/>
        </p:spPr>
        <p:txBody>
          <a:bodyPr wrap="square" rtlCol="0" anchor="ctr"/>
          <a:lstStyle/>
          <a:p>
            <a:pPr algn="ctr" indent="0" marL="0">
              <a:buNone/>
            </a:pPr>
            <a:r>
              <a:rPr lang="en-US" sz="7200" b="1" dirty="0">
                <a:solidFill>
                  <a:srgbClr val="FFFFFF"/>
                </a:solidFill>
                <a:latin typeface="Trebuchet MS" pitchFamily="34" charset="0"/>
                <a:ea typeface="Trebuchet MS" pitchFamily="34" charset="-122"/>
                <a:cs typeface="Trebuchet MS" pitchFamily="34" charset="-120"/>
              </a:rPr>
              <a:t>Portfolio Generator</a:t>
            </a:r>
            <a:endParaRPr lang="en-US" sz="7200" dirty="0"/>
          </a:p>
        </p:txBody>
      </p:sp>
      <p:sp>
        <p:nvSpPr>
          <p:cNvPr id="9" name="Shape 7"/>
          <p:cNvSpPr/>
          <p:nvPr/>
        </p:nvSpPr>
        <p:spPr>
          <a:xfrm>
            <a:off x="4389120" y="3154680"/>
            <a:ext cx="3383280" cy="54864"/>
          </a:xfrm>
          <a:prstGeom prst="rect">
            <a:avLst/>
          </a:prstGeom>
          <a:solidFill>
            <a:srgbClr val="E8A020"/>
          </a:solidFill>
          <a:ln w="12700">
            <a:solidFill>
              <a:srgbClr val="E8A020"/>
            </a:solidFill>
            <a:prstDash val="solid"/>
          </a:ln>
        </p:spPr>
      </p:sp>
      <p:sp>
        <p:nvSpPr>
          <p:cNvPr id="10" name="Shape 8"/>
          <p:cNvSpPr/>
          <p:nvPr/>
        </p:nvSpPr>
        <p:spPr>
          <a:xfrm>
            <a:off x="4389120" y="3218688"/>
            <a:ext cx="3383280" cy="22860"/>
          </a:xfrm>
          <a:prstGeom prst="rect">
            <a:avLst/>
          </a:prstGeom>
          <a:solidFill>
            <a:srgbClr val="00C9A7">
              <a:alpha val="40000"/>
            </a:srgbClr>
          </a:solidFill>
          <a:ln w="12700">
            <a:solidFill>
              <a:srgbClr val="00C9A7"/>
            </a:solidFill>
            <a:prstDash val="solid"/>
          </a:ln>
        </p:spPr>
      </p:sp>
      <p:sp>
        <p:nvSpPr>
          <p:cNvPr id="11" name="Shape 9"/>
          <p:cNvSpPr/>
          <p:nvPr/>
        </p:nvSpPr>
        <p:spPr>
          <a:xfrm>
            <a:off x="1097280" y="3566160"/>
            <a:ext cx="9966960" cy="2514600"/>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2" name="Shape 10"/>
          <p:cNvSpPr/>
          <p:nvPr/>
        </p:nvSpPr>
        <p:spPr>
          <a:xfrm>
            <a:off x="1097280" y="3429000"/>
            <a:ext cx="50292" cy="2651760"/>
          </a:xfrm>
          <a:prstGeom prst="rect">
            <a:avLst/>
          </a:prstGeom>
          <a:solidFill>
            <a:srgbClr val="E8A020"/>
          </a:solidFill>
          <a:ln w="12700">
            <a:solidFill>
              <a:srgbClr val="E8A020"/>
            </a:solidFill>
            <a:prstDash val="solid"/>
          </a:ln>
        </p:spPr>
      </p:sp>
      <p:sp>
        <p:nvSpPr>
          <p:cNvPr id="13" name="Text 11"/>
          <p:cNvSpPr/>
          <p:nvPr/>
        </p:nvSpPr>
        <p:spPr>
          <a:xfrm>
            <a:off x="1325880" y="3566160"/>
            <a:ext cx="9601200" cy="347472"/>
          </a:xfrm>
          <a:prstGeom prst="rect">
            <a:avLst/>
          </a:prstGeom>
          <a:noFill/>
          <a:ln/>
        </p:spPr>
        <p:txBody>
          <a:bodyPr wrap="square" rtlCol="0" anchor="ctr"/>
          <a:lstStyle/>
          <a:p>
            <a:pPr indent="0" marL="0">
              <a:buNone/>
            </a:pPr>
            <a:r>
              <a:rPr lang="en-US" sz="1300" b="1" dirty="0">
                <a:solidFill>
                  <a:srgbClr val="E8A020"/>
                </a:solidFill>
                <a:latin typeface="Arial" pitchFamily="34" charset="0"/>
                <a:ea typeface="Arial" pitchFamily="34" charset="-122"/>
                <a:cs typeface="Arial" pitchFamily="34" charset="-120"/>
              </a:rPr>
              <a:t>👥  Team Details</a:t>
            </a:r>
            <a:endParaRPr lang="en-US" sz="1300" dirty="0"/>
          </a:p>
        </p:txBody>
      </p:sp>
      <p:sp>
        <p:nvSpPr>
          <p:cNvPr id="14" name="Shape 12"/>
          <p:cNvSpPr/>
          <p:nvPr/>
        </p:nvSpPr>
        <p:spPr>
          <a:xfrm>
            <a:off x="1417320" y="4087368"/>
            <a:ext cx="658368" cy="658368"/>
          </a:xfrm>
          <a:prstGeom prst="ellipse">
            <a:avLst/>
          </a:prstGeom>
          <a:solidFill>
            <a:srgbClr val="E8A020">
              <a:alpha val="35000"/>
            </a:srgbClr>
          </a:solidFill>
          <a:ln w="25400">
            <a:solidFill>
              <a:srgbClr val="E8A020"/>
            </a:solidFill>
            <a:prstDash val="solid"/>
          </a:ln>
        </p:spPr>
      </p:sp>
      <p:sp>
        <p:nvSpPr>
          <p:cNvPr id="15" name="Text 13"/>
          <p:cNvSpPr/>
          <p:nvPr/>
        </p:nvSpPr>
        <p:spPr>
          <a:xfrm>
            <a:off x="1417320" y="4087368"/>
            <a:ext cx="658368" cy="658368"/>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SN</a:t>
            </a:r>
            <a:endParaRPr lang="en-US" sz="1600" dirty="0"/>
          </a:p>
        </p:txBody>
      </p:sp>
      <p:sp>
        <p:nvSpPr>
          <p:cNvPr id="16" name="Text 14"/>
          <p:cNvSpPr/>
          <p:nvPr/>
        </p:nvSpPr>
        <p:spPr>
          <a:xfrm>
            <a:off x="2240280" y="4087368"/>
            <a:ext cx="8229600" cy="384048"/>
          </a:xfrm>
          <a:prstGeom prst="rect">
            <a:avLst/>
          </a:prstGeom>
          <a:noFill/>
          <a:ln/>
        </p:spPr>
        <p:txBody>
          <a:bodyPr wrap="square"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Sabbani Navyasri</a:t>
            </a:r>
            <a:endParaRPr lang="en-US" sz="2000" dirty="0"/>
          </a:p>
        </p:txBody>
      </p:sp>
      <p:sp>
        <p:nvSpPr>
          <p:cNvPr id="17" name="Text 15"/>
          <p:cNvSpPr/>
          <p:nvPr/>
        </p:nvSpPr>
        <p:spPr>
          <a:xfrm>
            <a:off x="2240280" y="4526280"/>
            <a:ext cx="8229600" cy="274320"/>
          </a:xfrm>
          <a:prstGeom prst="rect">
            <a:avLst/>
          </a:prstGeom>
          <a:noFill/>
          <a:ln/>
        </p:spPr>
        <p:txBody>
          <a:bodyPr wrap="square" rtlCol="0" anchor="ctr"/>
          <a:lstStyle/>
          <a:p>
            <a:pPr indent="0" marL="0">
              <a:buNone/>
            </a:pPr>
            <a:r>
              <a:rPr lang="en-US" sz="1050" dirty="0">
                <a:solidFill>
                  <a:srgbClr val="E8A020"/>
                </a:solidFill>
                <a:latin typeface="Courier New" pitchFamily="34" charset="0"/>
                <a:ea typeface="Courier New" pitchFamily="34" charset="-122"/>
                <a:cs typeface="Courier New" pitchFamily="34" charset="-120"/>
              </a:rPr>
              <a:t>2303a510j1@sru.edu.in</a:t>
            </a:r>
            <a:endParaRPr lang="en-US" sz="1050" dirty="0"/>
          </a:p>
        </p:txBody>
      </p:sp>
      <p:sp>
        <p:nvSpPr>
          <p:cNvPr id="18" name="Text 16"/>
          <p:cNvSpPr/>
          <p:nvPr/>
        </p:nvSpPr>
        <p:spPr>
          <a:xfrm>
            <a:off x="9875520" y="4142232"/>
            <a:ext cx="1371600" cy="292608"/>
          </a:xfrm>
          <a:prstGeom prst="rect">
            <a:avLst/>
          </a:prstGeom>
          <a:noFill/>
          <a:ln/>
        </p:spPr>
        <p:txBody>
          <a:bodyPr wrap="square" rtlCol="0" anchor="ctr"/>
          <a:lstStyle/>
          <a:p>
            <a:pPr algn="r" indent="0" marL="0">
              <a:buNone/>
            </a:pPr>
            <a:r>
              <a:rPr lang="en-US" sz="1100" dirty="0">
                <a:solidFill>
                  <a:srgbClr val="6B8CAE"/>
                </a:solidFill>
                <a:latin typeface="Courier New" pitchFamily="34" charset="0"/>
                <a:ea typeface="Courier New" pitchFamily="34" charset="-122"/>
                <a:cs typeface="Courier New" pitchFamily="34" charset="-120"/>
              </a:rPr>
              <a:t>2026</a:t>
            </a:r>
            <a:endParaRPr lang="en-US" sz="1100" dirty="0"/>
          </a:p>
        </p:txBody>
      </p:sp>
      <p:sp>
        <p:nvSpPr>
          <p:cNvPr id="19" name="Shape 17"/>
          <p:cNvSpPr/>
          <p:nvPr/>
        </p:nvSpPr>
        <p:spPr>
          <a:xfrm>
            <a:off x="0" y="6547104"/>
            <a:ext cx="12161520" cy="310896"/>
          </a:xfrm>
          <a:prstGeom prst="rect">
            <a:avLst/>
          </a:prstGeom>
          <a:solidFill>
            <a:srgbClr val="071020"/>
          </a:solidFill>
          <a:ln w="12700">
            <a:solidFill>
              <a:srgbClr val="071020"/>
            </a:solidFill>
            <a:prstDash val="solid"/>
          </a:ln>
        </p:spPr>
      </p:sp>
      <p:sp>
        <p:nvSpPr>
          <p:cNvPr id="20" name="Shape 18"/>
          <p:cNvSpPr/>
          <p:nvPr/>
        </p:nvSpPr>
        <p:spPr>
          <a:xfrm>
            <a:off x="0" y="6547104"/>
            <a:ext cx="12161520" cy="27432"/>
          </a:xfrm>
          <a:prstGeom prst="rect">
            <a:avLst/>
          </a:prstGeom>
          <a:solidFill>
            <a:srgbClr val="E8A020"/>
          </a:solidFill>
          <a:ln w="12700">
            <a:solidFill>
              <a:srgbClr val="E8A020"/>
            </a:solidFill>
            <a:prstDash val="solid"/>
          </a:ln>
        </p:spPr>
      </p:sp>
      <p:sp>
        <p:nvSpPr>
          <p:cNvPr id="21" name="Text 19"/>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E8A020"/>
          </a:solidFill>
          <a:ln w="12700">
            <a:solidFill>
              <a:srgbClr val="E8A020"/>
            </a:solidFill>
            <a:prstDash val="solid"/>
          </a:ln>
        </p:spPr>
      </p:sp>
      <p:sp>
        <p:nvSpPr>
          <p:cNvPr id="3" name="Shape 1"/>
          <p:cNvSpPr/>
          <p:nvPr/>
        </p:nvSpPr>
        <p:spPr>
          <a:xfrm>
            <a:off x="4256532" y="0"/>
            <a:ext cx="7904988" cy="64008"/>
          </a:xfrm>
          <a:prstGeom prst="rect">
            <a:avLst/>
          </a:prstGeom>
          <a:solidFill>
            <a:srgbClr val="4FC3F7"/>
          </a:solidFill>
          <a:ln w="12700">
            <a:solidFill>
              <a:srgbClr val="4FC3F7"/>
            </a:solidFill>
            <a:prstDash val="solid"/>
          </a:ln>
        </p:spPr>
      </p:sp>
      <p:sp>
        <p:nvSpPr>
          <p:cNvPr id="4" name="Shape 2"/>
          <p:cNvSpPr/>
          <p:nvPr/>
        </p:nvSpPr>
        <p:spPr>
          <a:xfrm>
            <a:off x="0" y="64008"/>
            <a:ext cx="54864" cy="6793992"/>
          </a:xfrm>
          <a:prstGeom prst="rect">
            <a:avLst/>
          </a:prstGeom>
          <a:solidFill>
            <a:srgbClr val="E8A020">
              <a:alpha val="18000"/>
            </a:srgbClr>
          </a:solidFill>
          <a:ln w="12700">
            <a:solidFill>
              <a:srgbClr val="E8A020"/>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E8A020"/>
                </a:solidFill>
                <a:latin typeface="Courier New" pitchFamily="34" charset="0"/>
                <a:ea typeface="Courier New" pitchFamily="34" charset="-122"/>
                <a:cs typeface="Courier New" pitchFamily="34" charset="-120"/>
              </a:rPr>
              <a:t>/ 01</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Introduction</a:t>
            </a:r>
            <a:endParaRPr lang="en-US" sz="3400" dirty="0"/>
          </a:p>
        </p:txBody>
      </p:sp>
      <p:sp>
        <p:nvSpPr>
          <p:cNvPr id="7" name="Shape 5"/>
          <p:cNvSpPr/>
          <p:nvPr/>
        </p:nvSpPr>
        <p:spPr>
          <a:xfrm>
            <a:off x="502920" y="1024128"/>
            <a:ext cx="548640" cy="45720"/>
          </a:xfrm>
          <a:prstGeom prst="rect">
            <a:avLst/>
          </a:prstGeom>
          <a:solidFill>
            <a:srgbClr val="E8A020"/>
          </a:solidFill>
          <a:ln w="12700">
            <a:solidFill>
              <a:srgbClr val="E8A020"/>
            </a:solidFill>
            <a:prstDash val="solid"/>
          </a:ln>
        </p:spPr>
      </p:sp>
      <p:sp>
        <p:nvSpPr>
          <p:cNvPr id="8" name="Shape 6"/>
          <p:cNvSpPr/>
          <p:nvPr/>
        </p:nvSpPr>
        <p:spPr>
          <a:xfrm>
            <a:off x="8686800" y="2286000"/>
            <a:ext cx="5486400" cy="5486400"/>
          </a:xfrm>
          <a:prstGeom prst="ellipse">
            <a:avLst/>
          </a:prstGeom>
          <a:solidFill>
            <a:srgbClr val="E8A020">
              <a:alpha val="9000"/>
            </a:srgbClr>
          </a:solidFill>
          <a:ln w="12700">
            <a:solidFill>
              <a:srgbClr val="E8A020">
                <a:alpha val="0"/>
              </a:srgbClr>
            </a:solidFill>
            <a:prstDash val="solid"/>
          </a:ln>
        </p:spPr>
      </p:sp>
      <p:sp>
        <p:nvSpPr>
          <p:cNvPr id="9" name="Shape 7"/>
          <p:cNvSpPr/>
          <p:nvPr/>
        </p:nvSpPr>
        <p:spPr>
          <a:xfrm>
            <a:off x="502920" y="1207008"/>
            <a:ext cx="11155680" cy="1143000"/>
          </a:xfrm>
          <a:prstGeom prst="rect">
            <a:avLst/>
          </a:prstGeom>
          <a:solidFill>
            <a:srgbClr val="1C2E4A"/>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0" name="Shape 8"/>
          <p:cNvSpPr/>
          <p:nvPr/>
        </p:nvSpPr>
        <p:spPr>
          <a:xfrm>
            <a:off x="502920" y="1207008"/>
            <a:ext cx="50292" cy="1143000"/>
          </a:xfrm>
          <a:prstGeom prst="rect">
            <a:avLst/>
          </a:prstGeom>
          <a:solidFill>
            <a:srgbClr val="E8A020"/>
          </a:solidFill>
          <a:ln w="12700">
            <a:solidFill>
              <a:srgbClr val="E8A020"/>
            </a:solidFill>
            <a:prstDash val="solid"/>
          </a:ln>
        </p:spPr>
      </p:sp>
      <p:sp>
        <p:nvSpPr>
          <p:cNvPr id="11" name="Text 9"/>
          <p:cNvSpPr/>
          <p:nvPr/>
        </p:nvSpPr>
        <p:spPr>
          <a:xfrm>
            <a:off x="685800" y="1298448"/>
            <a:ext cx="10789920" cy="329184"/>
          </a:xfrm>
          <a:prstGeom prst="rect">
            <a:avLst/>
          </a:prstGeom>
          <a:noFill/>
          <a:ln/>
        </p:spPr>
        <p:txBody>
          <a:bodyPr wrap="square" rtlCol="0" anchor="ctr"/>
          <a:lstStyle/>
          <a:p>
            <a:pPr indent="0" marL="0">
              <a:buNone/>
            </a:pPr>
            <a:r>
              <a:rPr lang="en-US" sz="1300" b="1" dirty="0">
                <a:solidFill>
                  <a:srgbClr val="E8A020"/>
                </a:solidFill>
                <a:latin typeface="Arial" pitchFamily="34" charset="0"/>
                <a:ea typeface="Arial" pitchFamily="34" charset="-122"/>
                <a:cs typeface="Arial" pitchFamily="34" charset="-120"/>
              </a:rPr>
              <a:t>What is Portfolio Generator?</a:t>
            </a:r>
            <a:endParaRPr lang="en-US" sz="1300" dirty="0"/>
          </a:p>
        </p:txBody>
      </p:sp>
      <p:sp>
        <p:nvSpPr>
          <p:cNvPr id="12" name="Text 10"/>
          <p:cNvSpPr/>
          <p:nvPr/>
        </p:nvSpPr>
        <p:spPr>
          <a:xfrm>
            <a:off x="685800" y="1645920"/>
            <a:ext cx="10789920" cy="594360"/>
          </a:xfrm>
          <a:prstGeom prst="rect">
            <a:avLst/>
          </a:prstGeom>
          <a:noFill/>
          <a:ln/>
        </p:spPr>
        <p:txBody>
          <a:bodyPr wrap="square" rtlCol="0" anchor="ctr"/>
          <a:lstStyle/>
          <a:p>
            <a:pPr indent="0" marL="0">
              <a:lnSpc>
                <a:spcPct val="150000"/>
              </a:lnSpc>
              <a:buNone/>
            </a:pPr>
            <a:r>
              <a:rPr lang="en-US" sz="1050" dirty="0">
                <a:solidFill>
                  <a:srgbClr val="B8D4E8"/>
                </a:solidFill>
                <a:latin typeface="Calibri" pitchFamily="34" charset="0"/>
                <a:ea typeface="Calibri" pitchFamily="34" charset="-122"/>
                <a:cs typeface="Calibri" pitchFamily="34" charset="-120"/>
              </a:rPr>
              <a:t>Portfolio Generator is an AI-powered developer portfolio generator that transforms a resume PDF into a stunning, downloadable portfolio website — in under 5 minutes, with zero design skills required. Built entirely with HTML, CSS and JavaScript using Copilot and Gemini for code generation.</a:t>
            </a:r>
            <a:endParaRPr lang="en-US" sz="1050" dirty="0"/>
          </a:p>
        </p:txBody>
      </p:sp>
      <p:sp>
        <p:nvSpPr>
          <p:cNvPr id="13" name="Shape 11"/>
          <p:cNvSpPr/>
          <p:nvPr/>
        </p:nvSpPr>
        <p:spPr>
          <a:xfrm>
            <a:off x="502920" y="25146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4" name="Text 12"/>
          <p:cNvSpPr/>
          <p:nvPr/>
        </p:nvSpPr>
        <p:spPr>
          <a:xfrm>
            <a:off x="612648" y="26060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15" name="Text 13"/>
          <p:cNvSpPr/>
          <p:nvPr/>
        </p:nvSpPr>
        <p:spPr>
          <a:xfrm>
            <a:off x="1088136" y="26060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Parses resume PDF automatically using PDF.js to extract name, skills, projects &amp; experience</a:t>
            </a:r>
            <a:endParaRPr lang="en-US" sz="900" dirty="0"/>
          </a:p>
        </p:txBody>
      </p:sp>
      <p:sp>
        <p:nvSpPr>
          <p:cNvPr id="16" name="Shape 14"/>
          <p:cNvSpPr/>
          <p:nvPr/>
        </p:nvSpPr>
        <p:spPr>
          <a:xfrm>
            <a:off x="4270248" y="25146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7" name="Text 15"/>
          <p:cNvSpPr/>
          <p:nvPr/>
        </p:nvSpPr>
        <p:spPr>
          <a:xfrm>
            <a:off x="4379976" y="26060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18" name="Text 16"/>
          <p:cNvSpPr/>
          <p:nvPr/>
        </p:nvSpPr>
        <p:spPr>
          <a:xfrm>
            <a:off x="4855464" y="26060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Offers 20 unique professionally designed portfolio templates (dark, light, terminal, editorial...)</a:t>
            </a:r>
            <a:endParaRPr lang="en-US" sz="900" dirty="0"/>
          </a:p>
        </p:txBody>
      </p:sp>
      <p:sp>
        <p:nvSpPr>
          <p:cNvPr id="19" name="Shape 17"/>
          <p:cNvSpPr/>
          <p:nvPr/>
        </p:nvSpPr>
        <p:spPr>
          <a:xfrm>
            <a:off x="8037576" y="25146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20" name="Text 18"/>
          <p:cNvSpPr/>
          <p:nvPr/>
        </p:nvSpPr>
        <p:spPr>
          <a:xfrm>
            <a:off x="8147304" y="26060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21" name="Text 19"/>
          <p:cNvSpPr/>
          <p:nvPr/>
        </p:nvSpPr>
        <p:spPr>
          <a:xfrm>
            <a:off x="8622792" y="26060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AI bio generator creates professional bios using Gemini/Copilot prompt-based integration</a:t>
            </a:r>
            <a:endParaRPr lang="en-US" sz="900" dirty="0"/>
          </a:p>
        </p:txBody>
      </p:sp>
      <p:sp>
        <p:nvSpPr>
          <p:cNvPr id="22" name="Shape 20"/>
          <p:cNvSpPr/>
          <p:nvPr/>
        </p:nvSpPr>
        <p:spPr>
          <a:xfrm>
            <a:off x="502920" y="34290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23" name="Text 21"/>
          <p:cNvSpPr/>
          <p:nvPr/>
        </p:nvSpPr>
        <p:spPr>
          <a:xfrm>
            <a:off x="612648" y="35204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24" name="Text 22"/>
          <p:cNvSpPr/>
          <p:nvPr/>
        </p:nvSpPr>
        <p:spPr>
          <a:xfrm>
            <a:off x="1088136" y="35204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5-step guided wizard — Profile → Skills → Projects → Experience → Style</a:t>
            </a:r>
            <a:endParaRPr lang="en-US" sz="900" dirty="0"/>
          </a:p>
        </p:txBody>
      </p:sp>
      <p:sp>
        <p:nvSpPr>
          <p:cNvPr id="25" name="Shape 23"/>
          <p:cNvSpPr/>
          <p:nvPr/>
        </p:nvSpPr>
        <p:spPr>
          <a:xfrm>
            <a:off x="4270248" y="34290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26" name="Text 24"/>
          <p:cNvSpPr/>
          <p:nvPr/>
        </p:nvSpPr>
        <p:spPr>
          <a:xfrm>
            <a:off x="4379976" y="35204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27" name="Text 25"/>
          <p:cNvSpPr/>
          <p:nvPr/>
        </p:nvSpPr>
        <p:spPr>
          <a:xfrm>
            <a:off x="4855464" y="35204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Complete auth system: Sign up, Login, Password Reset with localStorage session management</a:t>
            </a:r>
            <a:endParaRPr lang="en-US" sz="900" dirty="0"/>
          </a:p>
        </p:txBody>
      </p:sp>
      <p:sp>
        <p:nvSpPr>
          <p:cNvPr id="28" name="Shape 26"/>
          <p:cNvSpPr/>
          <p:nvPr/>
        </p:nvSpPr>
        <p:spPr>
          <a:xfrm>
            <a:off x="8037576" y="3429000"/>
            <a:ext cx="3547872" cy="78638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29" name="Text 27"/>
          <p:cNvSpPr/>
          <p:nvPr/>
        </p:nvSpPr>
        <p:spPr>
          <a:xfrm>
            <a:off x="8147304" y="3520440"/>
            <a:ext cx="411480" cy="603504"/>
          </a:xfrm>
          <a:prstGeom prst="rect">
            <a:avLst/>
          </a:prstGeom>
          <a:noFill/>
          <a:ln/>
        </p:spPr>
        <p:txBody>
          <a:bodyPr wrap="square" rtlCol="0" anchor="ctr"/>
          <a:lstStyle/>
          <a:p>
            <a:pPr indent="0" marL="0">
              <a:buNone/>
            </a:pPr>
            <a:r>
              <a:rPr lang="en-US" sz="1700" dirty="0">
                <a:solidFill>
                  <a:srgbClr val="000000"/>
                </a:solidFill>
              </a:rPr>
              <a:t>⬇</a:t>
            </a:r>
            <a:endParaRPr lang="en-US" sz="1700" dirty="0"/>
          </a:p>
        </p:txBody>
      </p:sp>
      <p:sp>
        <p:nvSpPr>
          <p:cNvPr id="30" name="Text 28"/>
          <p:cNvSpPr/>
          <p:nvPr/>
        </p:nvSpPr>
        <p:spPr>
          <a:xfrm>
            <a:off x="8622792" y="3520440"/>
            <a:ext cx="2880360" cy="603504"/>
          </a:xfrm>
          <a:prstGeom prst="rect">
            <a:avLst/>
          </a:prstGeom>
          <a:noFill/>
          <a:ln/>
        </p:spPr>
        <p:txBody>
          <a:bodyPr wrap="square" rtlCol="0" anchor="ctr"/>
          <a:lstStyle/>
          <a:p>
            <a:pPr indent="0" marL="0">
              <a:lnSpc>
                <a:spcPct val="140000"/>
              </a:lnSpc>
              <a:buNone/>
            </a:pPr>
            <a:r>
              <a:rPr lang="en-US" sz="900" dirty="0">
                <a:solidFill>
                  <a:srgbClr val="B8D4E8"/>
                </a:solidFill>
              </a:rPr>
              <a:t>One-click download of a standalone HTML portfolio — host anywhere for free, no lock-in</a:t>
            </a:r>
            <a:endParaRPr lang="en-US" sz="900" dirty="0"/>
          </a:p>
        </p:txBody>
      </p:sp>
      <p:sp>
        <p:nvSpPr>
          <p:cNvPr id="31" name="Shape 29"/>
          <p:cNvSpPr/>
          <p:nvPr/>
        </p:nvSpPr>
        <p:spPr>
          <a:xfrm>
            <a:off x="502920" y="4526280"/>
            <a:ext cx="2606040" cy="1078992"/>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32" name="Shape 30"/>
          <p:cNvSpPr/>
          <p:nvPr/>
        </p:nvSpPr>
        <p:spPr>
          <a:xfrm>
            <a:off x="502920" y="4526280"/>
            <a:ext cx="2606040" cy="45720"/>
          </a:xfrm>
          <a:prstGeom prst="rect">
            <a:avLst/>
          </a:prstGeom>
          <a:solidFill>
            <a:srgbClr val="E8A020"/>
          </a:solidFill>
          <a:ln w="12700">
            <a:solidFill>
              <a:srgbClr val="E8A020"/>
            </a:solidFill>
            <a:prstDash val="solid"/>
          </a:ln>
        </p:spPr>
      </p:sp>
      <p:sp>
        <p:nvSpPr>
          <p:cNvPr id="33" name="Text 31"/>
          <p:cNvSpPr/>
          <p:nvPr/>
        </p:nvSpPr>
        <p:spPr>
          <a:xfrm>
            <a:off x="502920" y="4617720"/>
            <a:ext cx="2606040" cy="475488"/>
          </a:xfrm>
          <a:prstGeom prst="rect">
            <a:avLst/>
          </a:prstGeom>
          <a:noFill/>
          <a:ln/>
        </p:spPr>
        <p:txBody>
          <a:bodyPr wrap="square" rtlCol="0" anchor="ctr"/>
          <a:lstStyle/>
          <a:p>
            <a:pPr algn="ctr" indent="0" marL="0">
              <a:buNone/>
            </a:pPr>
            <a:r>
              <a:rPr lang="en-US" sz="2600" b="1" dirty="0">
                <a:solidFill>
                  <a:srgbClr val="E8A020"/>
                </a:solidFill>
                <a:latin typeface="Arial Black" pitchFamily="34" charset="0"/>
                <a:ea typeface="Arial Black" pitchFamily="34" charset="-122"/>
                <a:cs typeface="Arial Black" pitchFamily="34" charset="-120"/>
              </a:rPr>
              <a:t>5 min</a:t>
            </a:r>
            <a:endParaRPr lang="en-US" sz="2600" dirty="0"/>
          </a:p>
        </p:txBody>
      </p:sp>
      <p:sp>
        <p:nvSpPr>
          <p:cNvPr id="34" name="Text 32"/>
          <p:cNvSpPr/>
          <p:nvPr/>
        </p:nvSpPr>
        <p:spPr>
          <a:xfrm>
            <a:off x="502920" y="5102352"/>
            <a:ext cx="2606040" cy="256032"/>
          </a:xfrm>
          <a:prstGeom prst="rect">
            <a:avLst/>
          </a:prstGeom>
          <a:noFill/>
          <a:ln/>
        </p:spPr>
        <p:txBody>
          <a:bodyPr wrap="square" rtlCol="0" anchor="ctr"/>
          <a:lstStyle/>
          <a:p>
            <a:pPr algn="ctr" indent="0" marL="0">
              <a:buNone/>
            </a:pPr>
            <a:r>
              <a:rPr lang="en-US" sz="900" dirty="0">
                <a:solidFill>
                  <a:srgbClr val="6B8CAE"/>
                </a:solidFill>
              </a:rPr>
              <a:t>Time to Portfolio</a:t>
            </a:r>
            <a:endParaRPr lang="en-US" sz="900" dirty="0"/>
          </a:p>
        </p:txBody>
      </p:sp>
      <p:sp>
        <p:nvSpPr>
          <p:cNvPr id="35" name="Shape 33"/>
          <p:cNvSpPr/>
          <p:nvPr/>
        </p:nvSpPr>
        <p:spPr>
          <a:xfrm>
            <a:off x="3300984" y="4526280"/>
            <a:ext cx="2606040" cy="107899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36" name="Shape 34"/>
          <p:cNvSpPr/>
          <p:nvPr/>
        </p:nvSpPr>
        <p:spPr>
          <a:xfrm>
            <a:off x="3300984" y="4526280"/>
            <a:ext cx="2606040" cy="45720"/>
          </a:xfrm>
          <a:prstGeom prst="rect">
            <a:avLst/>
          </a:prstGeom>
          <a:solidFill>
            <a:srgbClr val="00C9A7"/>
          </a:solidFill>
          <a:ln w="12700">
            <a:solidFill>
              <a:srgbClr val="00C9A7"/>
            </a:solidFill>
            <a:prstDash val="solid"/>
          </a:ln>
        </p:spPr>
      </p:sp>
      <p:sp>
        <p:nvSpPr>
          <p:cNvPr id="37" name="Text 35"/>
          <p:cNvSpPr/>
          <p:nvPr/>
        </p:nvSpPr>
        <p:spPr>
          <a:xfrm>
            <a:off x="3300984" y="4617720"/>
            <a:ext cx="2606040" cy="475488"/>
          </a:xfrm>
          <a:prstGeom prst="rect">
            <a:avLst/>
          </a:prstGeom>
          <a:noFill/>
          <a:ln/>
        </p:spPr>
        <p:txBody>
          <a:bodyPr wrap="square" rtlCol="0" anchor="ctr"/>
          <a:lstStyle/>
          <a:p>
            <a:pPr algn="ctr" indent="0" marL="0">
              <a:buNone/>
            </a:pPr>
            <a:r>
              <a:rPr lang="en-US" sz="2600" b="1" dirty="0">
                <a:solidFill>
                  <a:srgbClr val="00C9A7"/>
                </a:solidFill>
                <a:latin typeface="Arial Black" pitchFamily="34" charset="0"/>
                <a:ea typeface="Arial Black" pitchFamily="34" charset="-122"/>
                <a:cs typeface="Arial Black" pitchFamily="34" charset="-120"/>
              </a:rPr>
              <a:t>20</a:t>
            </a:r>
            <a:endParaRPr lang="en-US" sz="2600" dirty="0"/>
          </a:p>
        </p:txBody>
      </p:sp>
      <p:sp>
        <p:nvSpPr>
          <p:cNvPr id="38" name="Text 36"/>
          <p:cNvSpPr/>
          <p:nvPr/>
        </p:nvSpPr>
        <p:spPr>
          <a:xfrm>
            <a:off x="3300984" y="5102352"/>
            <a:ext cx="2606040" cy="256032"/>
          </a:xfrm>
          <a:prstGeom prst="rect">
            <a:avLst/>
          </a:prstGeom>
          <a:noFill/>
          <a:ln/>
        </p:spPr>
        <p:txBody>
          <a:bodyPr wrap="square" rtlCol="0" anchor="ctr"/>
          <a:lstStyle/>
          <a:p>
            <a:pPr algn="ctr" indent="0" marL="0">
              <a:buNone/>
            </a:pPr>
            <a:r>
              <a:rPr lang="en-US" sz="900" dirty="0">
                <a:solidFill>
                  <a:srgbClr val="6B8CAE"/>
                </a:solidFill>
              </a:rPr>
              <a:t>Templates</a:t>
            </a:r>
            <a:endParaRPr lang="en-US" sz="900" dirty="0"/>
          </a:p>
        </p:txBody>
      </p:sp>
      <p:sp>
        <p:nvSpPr>
          <p:cNvPr id="39" name="Shape 37"/>
          <p:cNvSpPr/>
          <p:nvPr/>
        </p:nvSpPr>
        <p:spPr>
          <a:xfrm>
            <a:off x="6099048" y="4526280"/>
            <a:ext cx="2606040" cy="1078992"/>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40" name="Shape 38"/>
          <p:cNvSpPr/>
          <p:nvPr/>
        </p:nvSpPr>
        <p:spPr>
          <a:xfrm>
            <a:off x="6099048" y="4526280"/>
            <a:ext cx="2606040" cy="45720"/>
          </a:xfrm>
          <a:prstGeom prst="rect">
            <a:avLst/>
          </a:prstGeom>
          <a:solidFill>
            <a:srgbClr val="4FC3F7"/>
          </a:solidFill>
          <a:ln w="12700">
            <a:solidFill>
              <a:srgbClr val="4FC3F7"/>
            </a:solidFill>
            <a:prstDash val="solid"/>
          </a:ln>
        </p:spPr>
      </p:sp>
      <p:sp>
        <p:nvSpPr>
          <p:cNvPr id="41" name="Text 39"/>
          <p:cNvSpPr/>
          <p:nvPr/>
        </p:nvSpPr>
        <p:spPr>
          <a:xfrm>
            <a:off x="6099048" y="4617720"/>
            <a:ext cx="2606040" cy="475488"/>
          </a:xfrm>
          <a:prstGeom prst="rect">
            <a:avLst/>
          </a:prstGeom>
          <a:noFill/>
          <a:ln/>
        </p:spPr>
        <p:txBody>
          <a:bodyPr wrap="square" rtlCol="0" anchor="ctr"/>
          <a:lstStyle/>
          <a:p>
            <a:pPr algn="ctr" indent="0" marL="0">
              <a:buNone/>
            </a:pPr>
            <a:r>
              <a:rPr lang="en-US" sz="2600" b="1" dirty="0">
                <a:solidFill>
                  <a:srgbClr val="4FC3F7"/>
                </a:solidFill>
                <a:latin typeface="Arial Black" pitchFamily="34" charset="0"/>
                <a:ea typeface="Arial Black" pitchFamily="34" charset="-122"/>
                <a:cs typeface="Arial Black" pitchFamily="34" charset="-120"/>
              </a:rPr>
              <a:t>AI</a:t>
            </a:r>
            <a:endParaRPr lang="en-US" sz="2600" dirty="0"/>
          </a:p>
        </p:txBody>
      </p:sp>
      <p:sp>
        <p:nvSpPr>
          <p:cNvPr id="42" name="Text 40"/>
          <p:cNvSpPr/>
          <p:nvPr/>
        </p:nvSpPr>
        <p:spPr>
          <a:xfrm>
            <a:off x="6099048" y="5102352"/>
            <a:ext cx="2606040" cy="256032"/>
          </a:xfrm>
          <a:prstGeom prst="rect">
            <a:avLst/>
          </a:prstGeom>
          <a:noFill/>
          <a:ln/>
        </p:spPr>
        <p:txBody>
          <a:bodyPr wrap="square" rtlCol="0" anchor="ctr"/>
          <a:lstStyle/>
          <a:p>
            <a:pPr algn="ctr" indent="0" marL="0">
              <a:buNone/>
            </a:pPr>
            <a:r>
              <a:rPr lang="en-US" sz="900" dirty="0">
                <a:solidFill>
                  <a:srgbClr val="6B8CAE"/>
                </a:solidFill>
              </a:rPr>
              <a:t>Bio Generator</a:t>
            </a:r>
            <a:endParaRPr lang="en-US" sz="900" dirty="0"/>
          </a:p>
        </p:txBody>
      </p:sp>
      <p:sp>
        <p:nvSpPr>
          <p:cNvPr id="43" name="Shape 41"/>
          <p:cNvSpPr/>
          <p:nvPr/>
        </p:nvSpPr>
        <p:spPr>
          <a:xfrm>
            <a:off x="8897112" y="4526280"/>
            <a:ext cx="2606040" cy="1078992"/>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44" name="Shape 42"/>
          <p:cNvSpPr/>
          <p:nvPr/>
        </p:nvSpPr>
        <p:spPr>
          <a:xfrm>
            <a:off x="8897112" y="4526280"/>
            <a:ext cx="2606040" cy="45720"/>
          </a:xfrm>
          <a:prstGeom prst="rect">
            <a:avLst/>
          </a:prstGeom>
          <a:solidFill>
            <a:srgbClr val="F5C842"/>
          </a:solidFill>
          <a:ln w="12700">
            <a:solidFill>
              <a:srgbClr val="F5C842"/>
            </a:solidFill>
            <a:prstDash val="solid"/>
          </a:ln>
        </p:spPr>
      </p:sp>
      <p:sp>
        <p:nvSpPr>
          <p:cNvPr id="45" name="Text 43"/>
          <p:cNvSpPr/>
          <p:nvPr/>
        </p:nvSpPr>
        <p:spPr>
          <a:xfrm>
            <a:off x="8897112" y="4617720"/>
            <a:ext cx="2606040" cy="475488"/>
          </a:xfrm>
          <a:prstGeom prst="rect">
            <a:avLst/>
          </a:prstGeom>
          <a:noFill/>
          <a:ln/>
        </p:spPr>
        <p:txBody>
          <a:bodyPr wrap="square" rtlCol="0" anchor="ctr"/>
          <a:lstStyle/>
          <a:p>
            <a:pPr algn="ctr" indent="0" marL="0">
              <a:buNone/>
            </a:pPr>
            <a:r>
              <a:rPr lang="en-US" sz="2600" b="1" dirty="0">
                <a:solidFill>
                  <a:srgbClr val="F5C842"/>
                </a:solidFill>
                <a:latin typeface="Arial Black" pitchFamily="34" charset="0"/>
                <a:ea typeface="Arial Black" pitchFamily="34" charset="-122"/>
                <a:cs typeface="Arial Black" pitchFamily="34" charset="-120"/>
              </a:rPr>
              <a:t>Free</a:t>
            </a:r>
            <a:endParaRPr lang="en-US" sz="2600" dirty="0"/>
          </a:p>
        </p:txBody>
      </p:sp>
      <p:sp>
        <p:nvSpPr>
          <p:cNvPr id="46" name="Text 44"/>
          <p:cNvSpPr/>
          <p:nvPr/>
        </p:nvSpPr>
        <p:spPr>
          <a:xfrm>
            <a:off x="8897112" y="5102352"/>
            <a:ext cx="2606040" cy="256032"/>
          </a:xfrm>
          <a:prstGeom prst="rect">
            <a:avLst/>
          </a:prstGeom>
          <a:noFill/>
          <a:ln/>
        </p:spPr>
        <p:txBody>
          <a:bodyPr wrap="square" rtlCol="0" anchor="ctr"/>
          <a:lstStyle/>
          <a:p>
            <a:pPr algn="ctr" indent="0" marL="0">
              <a:buNone/>
            </a:pPr>
            <a:r>
              <a:rPr lang="en-US" sz="900" dirty="0">
                <a:solidFill>
                  <a:srgbClr val="6B8CAE"/>
                </a:solidFill>
              </a:rPr>
              <a:t>No Subscription</a:t>
            </a:r>
            <a:endParaRPr lang="en-US" sz="900" dirty="0"/>
          </a:p>
        </p:txBody>
      </p:sp>
      <p:sp>
        <p:nvSpPr>
          <p:cNvPr id="47" name="Shape 45"/>
          <p:cNvSpPr/>
          <p:nvPr/>
        </p:nvSpPr>
        <p:spPr>
          <a:xfrm>
            <a:off x="0" y="6547104"/>
            <a:ext cx="12161520" cy="310896"/>
          </a:xfrm>
          <a:prstGeom prst="rect">
            <a:avLst/>
          </a:prstGeom>
          <a:solidFill>
            <a:srgbClr val="071020"/>
          </a:solidFill>
          <a:ln w="12700">
            <a:solidFill>
              <a:srgbClr val="071020"/>
            </a:solidFill>
            <a:prstDash val="solid"/>
          </a:ln>
        </p:spPr>
      </p:sp>
      <p:sp>
        <p:nvSpPr>
          <p:cNvPr id="48" name="Shape 46"/>
          <p:cNvSpPr/>
          <p:nvPr/>
        </p:nvSpPr>
        <p:spPr>
          <a:xfrm>
            <a:off x="0" y="6547104"/>
            <a:ext cx="12161520" cy="27432"/>
          </a:xfrm>
          <a:prstGeom prst="rect">
            <a:avLst/>
          </a:prstGeom>
          <a:solidFill>
            <a:srgbClr val="E8A020"/>
          </a:solidFill>
          <a:ln w="12700">
            <a:solidFill>
              <a:srgbClr val="E8A020"/>
            </a:solidFill>
            <a:prstDash val="solid"/>
          </a:ln>
        </p:spPr>
      </p:sp>
      <p:sp>
        <p:nvSpPr>
          <p:cNvPr id="49" name="Text 47"/>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00C9A7"/>
          </a:solidFill>
          <a:ln w="12700">
            <a:solidFill>
              <a:srgbClr val="00C9A7"/>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00C9A7">
              <a:alpha val="18000"/>
            </a:srgbClr>
          </a:solidFill>
          <a:ln w="12700">
            <a:solidFill>
              <a:srgbClr val="00C9A7"/>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00C9A7"/>
                </a:solidFill>
                <a:latin typeface="Courier New" pitchFamily="34" charset="0"/>
                <a:ea typeface="Courier New" pitchFamily="34" charset="-122"/>
                <a:cs typeface="Courier New" pitchFamily="34" charset="-120"/>
              </a:rPr>
              <a:t>/ 02</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Objectives</a:t>
            </a:r>
            <a:endParaRPr lang="en-US" sz="3400" dirty="0"/>
          </a:p>
        </p:txBody>
      </p:sp>
      <p:sp>
        <p:nvSpPr>
          <p:cNvPr id="7" name="Shape 5"/>
          <p:cNvSpPr/>
          <p:nvPr/>
        </p:nvSpPr>
        <p:spPr>
          <a:xfrm>
            <a:off x="502920" y="1024128"/>
            <a:ext cx="548640" cy="45720"/>
          </a:xfrm>
          <a:prstGeom prst="rect">
            <a:avLst/>
          </a:prstGeom>
          <a:solidFill>
            <a:srgbClr val="00C9A7"/>
          </a:solidFill>
          <a:ln w="12700">
            <a:solidFill>
              <a:srgbClr val="00C9A7"/>
            </a:solidFill>
            <a:prstDash val="solid"/>
          </a:ln>
        </p:spPr>
      </p:sp>
      <p:sp>
        <p:nvSpPr>
          <p:cNvPr id="8" name="Shape 6"/>
          <p:cNvSpPr/>
          <p:nvPr/>
        </p:nvSpPr>
        <p:spPr>
          <a:xfrm>
            <a:off x="-1828800" y="2743200"/>
            <a:ext cx="5486400" cy="5486400"/>
          </a:xfrm>
          <a:prstGeom prst="ellipse">
            <a:avLst/>
          </a:prstGeom>
          <a:solidFill>
            <a:srgbClr val="00C9A7">
              <a:alpha val="9000"/>
            </a:srgbClr>
          </a:solidFill>
          <a:ln w="12700">
            <a:solidFill>
              <a:srgbClr val="00C9A7">
                <a:alpha val="0"/>
              </a:srgbClr>
            </a:solidFill>
            <a:prstDash val="solid"/>
          </a:ln>
        </p:spPr>
      </p:sp>
      <p:sp>
        <p:nvSpPr>
          <p:cNvPr id="9" name="Shape 7"/>
          <p:cNvSpPr/>
          <p:nvPr/>
        </p:nvSpPr>
        <p:spPr>
          <a:xfrm>
            <a:off x="8686800" y="-457200"/>
            <a:ext cx="4572000" cy="4572000"/>
          </a:xfrm>
          <a:prstGeom prst="ellipse">
            <a:avLst/>
          </a:prstGeom>
          <a:solidFill>
            <a:srgbClr val="E8A020">
              <a:alpha val="8000"/>
            </a:srgbClr>
          </a:solidFill>
          <a:ln w="12700">
            <a:solidFill>
              <a:srgbClr val="E8A020">
                <a:alpha val="0"/>
              </a:srgbClr>
            </a:solidFill>
            <a:prstDash val="solid"/>
          </a:ln>
        </p:spPr>
      </p:sp>
      <p:sp>
        <p:nvSpPr>
          <p:cNvPr id="10" name="Shape 8"/>
          <p:cNvSpPr/>
          <p:nvPr/>
        </p:nvSpPr>
        <p:spPr>
          <a:xfrm>
            <a:off x="502920" y="1207008"/>
            <a:ext cx="5532120" cy="1444752"/>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207008"/>
            <a:ext cx="50292" cy="1444752"/>
          </a:xfrm>
          <a:prstGeom prst="rect">
            <a:avLst/>
          </a:prstGeom>
          <a:solidFill>
            <a:srgbClr val="E8A020"/>
          </a:solidFill>
          <a:ln w="12700">
            <a:solidFill>
              <a:srgbClr val="E8A020"/>
            </a:solidFill>
            <a:prstDash val="solid"/>
          </a:ln>
        </p:spPr>
      </p:sp>
      <p:sp>
        <p:nvSpPr>
          <p:cNvPr id="12" name="Text 10"/>
          <p:cNvSpPr/>
          <p:nvPr/>
        </p:nvSpPr>
        <p:spPr>
          <a:xfrm>
            <a:off x="685800" y="1335024"/>
            <a:ext cx="502920" cy="274320"/>
          </a:xfrm>
          <a:prstGeom prst="rect">
            <a:avLst/>
          </a:prstGeom>
          <a:noFill/>
          <a:ln/>
        </p:spPr>
        <p:txBody>
          <a:bodyPr wrap="square" rtlCol="0" anchor="ctr"/>
          <a:lstStyle/>
          <a:p>
            <a:pPr indent="0" marL="0">
              <a:buNone/>
            </a:pPr>
            <a:r>
              <a:rPr lang="en-US" sz="900" b="1" spc="200" kern="0" dirty="0">
                <a:solidFill>
                  <a:srgbClr val="E8A020"/>
                </a:solidFill>
                <a:latin typeface="Courier New" pitchFamily="34" charset="0"/>
                <a:ea typeface="Courier New" pitchFamily="34" charset="-122"/>
                <a:cs typeface="Courier New" pitchFamily="34" charset="-120"/>
              </a:rPr>
              <a:t>01</a:t>
            </a:r>
            <a:endParaRPr lang="en-US" sz="900" dirty="0"/>
          </a:p>
        </p:txBody>
      </p:sp>
      <p:sp>
        <p:nvSpPr>
          <p:cNvPr id="13" name="Text 11"/>
          <p:cNvSpPr/>
          <p:nvPr/>
        </p:nvSpPr>
        <p:spPr>
          <a:xfrm>
            <a:off x="685800" y="1609344"/>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Automate Portfolio Creation</a:t>
            </a:r>
            <a:endParaRPr lang="en-US" sz="1250" dirty="0"/>
          </a:p>
        </p:txBody>
      </p:sp>
      <p:sp>
        <p:nvSpPr>
          <p:cNvPr id="14" name="Text 12"/>
          <p:cNvSpPr/>
          <p:nvPr/>
        </p:nvSpPr>
        <p:spPr>
          <a:xfrm>
            <a:off x="685800" y="1956816"/>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Eliminate manual coding and design effort by auto-generating portfolio websites from resume data using intelligent parsing.</a:t>
            </a:r>
            <a:endParaRPr lang="en-US" sz="950" dirty="0"/>
          </a:p>
        </p:txBody>
      </p:sp>
      <p:sp>
        <p:nvSpPr>
          <p:cNvPr id="15" name="Shape 13"/>
          <p:cNvSpPr/>
          <p:nvPr/>
        </p:nvSpPr>
        <p:spPr>
          <a:xfrm>
            <a:off x="6309360" y="1207008"/>
            <a:ext cx="5532120" cy="144475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16" name="Shape 14"/>
          <p:cNvSpPr/>
          <p:nvPr/>
        </p:nvSpPr>
        <p:spPr>
          <a:xfrm>
            <a:off x="6309360" y="1207008"/>
            <a:ext cx="50292" cy="1444752"/>
          </a:xfrm>
          <a:prstGeom prst="rect">
            <a:avLst/>
          </a:prstGeom>
          <a:solidFill>
            <a:srgbClr val="00C9A7"/>
          </a:solidFill>
          <a:ln w="12700">
            <a:solidFill>
              <a:srgbClr val="00C9A7"/>
            </a:solidFill>
            <a:prstDash val="solid"/>
          </a:ln>
        </p:spPr>
      </p:sp>
      <p:sp>
        <p:nvSpPr>
          <p:cNvPr id="17" name="Text 15"/>
          <p:cNvSpPr/>
          <p:nvPr/>
        </p:nvSpPr>
        <p:spPr>
          <a:xfrm>
            <a:off x="6492240" y="1335024"/>
            <a:ext cx="502920" cy="274320"/>
          </a:xfrm>
          <a:prstGeom prst="rect">
            <a:avLst/>
          </a:prstGeom>
          <a:noFill/>
          <a:ln/>
        </p:spPr>
        <p:txBody>
          <a:bodyPr wrap="square" rtlCol="0" anchor="ctr"/>
          <a:lstStyle/>
          <a:p>
            <a:pPr indent="0" marL="0">
              <a:buNone/>
            </a:pPr>
            <a:r>
              <a:rPr lang="en-US" sz="900" b="1" spc="200" kern="0" dirty="0">
                <a:solidFill>
                  <a:srgbClr val="00C9A7"/>
                </a:solidFill>
                <a:latin typeface="Courier New" pitchFamily="34" charset="0"/>
                <a:ea typeface="Courier New" pitchFamily="34" charset="-122"/>
                <a:cs typeface="Courier New" pitchFamily="34" charset="-120"/>
              </a:rPr>
              <a:t>02</a:t>
            </a:r>
            <a:endParaRPr lang="en-US" sz="900" dirty="0"/>
          </a:p>
        </p:txBody>
      </p:sp>
      <p:sp>
        <p:nvSpPr>
          <p:cNvPr id="18" name="Text 16"/>
          <p:cNvSpPr/>
          <p:nvPr/>
        </p:nvSpPr>
        <p:spPr>
          <a:xfrm>
            <a:off x="6492240" y="1609344"/>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Resume PDF Parsing</a:t>
            </a:r>
            <a:endParaRPr lang="en-US" sz="1250" dirty="0"/>
          </a:p>
        </p:txBody>
      </p:sp>
      <p:sp>
        <p:nvSpPr>
          <p:cNvPr id="19" name="Text 17"/>
          <p:cNvSpPr/>
          <p:nvPr/>
        </p:nvSpPr>
        <p:spPr>
          <a:xfrm>
            <a:off x="6492240" y="1956816"/>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Use PDF.js to extract structured data (name, skills, experience, projects) automatically from any uploaded resume file.</a:t>
            </a:r>
            <a:endParaRPr lang="en-US" sz="950" dirty="0"/>
          </a:p>
        </p:txBody>
      </p:sp>
      <p:sp>
        <p:nvSpPr>
          <p:cNvPr id="20" name="Shape 18"/>
          <p:cNvSpPr/>
          <p:nvPr/>
        </p:nvSpPr>
        <p:spPr>
          <a:xfrm>
            <a:off x="502920" y="2834640"/>
            <a:ext cx="5532120" cy="1444752"/>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1" name="Shape 19"/>
          <p:cNvSpPr/>
          <p:nvPr/>
        </p:nvSpPr>
        <p:spPr>
          <a:xfrm>
            <a:off x="502920" y="2834640"/>
            <a:ext cx="50292" cy="1444752"/>
          </a:xfrm>
          <a:prstGeom prst="rect">
            <a:avLst/>
          </a:prstGeom>
          <a:solidFill>
            <a:srgbClr val="4FC3F7"/>
          </a:solidFill>
          <a:ln w="12700">
            <a:solidFill>
              <a:srgbClr val="4FC3F7"/>
            </a:solidFill>
            <a:prstDash val="solid"/>
          </a:ln>
        </p:spPr>
      </p:sp>
      <p:sp>
        <p:nvSpPr>
          <p:cNvPr id="22" name="Text 20"/>
          <p:cNvSpPr/>
          <p:nvPr/>
        </p:nvSpPr>
        <p:spPr>
          <a:xfrm>
            <a:off x="685800" y="2962656"/>
            <a:ext cx="502920" cy="274320"/>
          </a:xfrm>
          <a:prstGeom prst="rect">
            <a:avLst/>
          </a:prstGeom>
          <a:noFill/>
          <a:ln/>
        </p:spPr>
        <p:txBody>
          <a:bodyPr wrap="square" rtlCol="0" anchor="ctr"/>
          <a:lstStyle/>
          <a:p>
            <a:pPr indent="0" marL="0">
              <a:buNone/>
            </a:pPr>
            <a:r>
              <a:rPr lang="en-US" sz="900" b="1" spc="200" kern="0" dirty="0">
                <a:solidFill>
                  <a:srgbClr val="4FC3F7"/>
                </a:solidFill>
                <a:latin typeface="Courier New" pitchFamily="34" charset="0"/>
                <a:ea typeface="Courier New" pitchFamily="34" charset="-122"/>
                <a:cs typeface="Courier New" pitchFamily="34" charset="-120"/>
              </a:rPr>
              <a:t>03</a:t>
            </a:r>
            <a:endParaRPr lang="en-US" sz="900" dirty="0"/>
          </a:p>
        </p:txBody>
      </p:sp>
      <p:sp>
        <p:nvSpPr>
          <p:cNvPr id="23" name="Text 21"/>
          <p:cNvSpPr/>
          <p:nvPr/>
        </p:nvSpPr>
        <p:spPr>
          <a:xfrm>
            <a:off x="685800" y="3236976"/>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AI-Powered Content Generation</a:t>
            </a:r>
            <a:endParaRPr lang="en-US" sz="1250" dirty="0"/>
          </a:p>
        </p:txBody>
      </p:sp>
      <p:sp>
        <p:nvSpPr>
          <p:cNvPr id="24" name="Text 22"/>
          <p:cNvSpPr/>
          <p:nvPr/>
        </p:nvSpPr>
        <p:spPr>
          <a:xfrm>
            <a:off x="685800" y="3584448"/>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Integrate Claude AI API to generate professional, personalized bio paragraphs based on the user's profile and skills.</a:t>
            </a:r>
            <a:endParaRPr lang="en-US" sz="950" dirty="0"/>
          </a:p>
        </p:txBody>
      </p:sp>
      <p:sp>
        <p:nvSpPr>
          <p:cNvPr id="25" name="Shape 23"/>
          <p:cNvSpPr/>
          <p:nvPr/>
        </p:nvSpPr>
        <p:spPr>
          <a:xfrm>
            <a:off x="6309360" y="2834640"/>
            <a:ext cx="5532120" cy="1444752"/>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26" name="Shape 24"/>
          <p:cNvSpPr/>
          <p:nvPr/>
        </p:nvSpPr>
        <p:spPr>
          <a:xfrm>
            <a:off x="6309360" y="2834640"/>
            <a:ext cx="50292" cy="1444752"/>
          </a:xfrm>
          <a:prstGeom prst="rect">
            <a:avLst/>
          </a:prstGeom>
          <a:solidFill>
            <a:srgbClr val="F5C842"/>
          </a:solidFill>
          <a:ln w="12700">
            <a:solidFill>
              <a:srgbClr val="F5C842"/>
            </a:solidFill>
            <a:prstDash val="solid"/>
          </a:ln>
        </p:spPr>
      </p:sp>
      <p:sp>
        <p:nvSpPr>
          <p:cNvPr id="27" name="Text 25"/>
          <p:cNvSpPr/>
          <p:nvPr/>
        </p:nvSpPr>
        <p:spPr>
          <a:xfrm>
            <a:off x="6492240" y="2962656"/>
            <a:ext cx="502920" cy="274320"/>
          </a:xfrm>
          <a:prstGeom prst="rect">
            <a:avLst/>
          </a:prstGeom>
          <a:noFill/>
          <a:ln/>
        </p:spPr>
        <p:txBody>
          <a:bodyPr wrap="square" rtlCol="0" anchor="ctr"/>
          <a:lstStyle/>
          <a:p>
            <a:pPr indent="0" marL="0">
              <a:buNone/>
            </a:pPr>
            <a:r>
              <a:rPr lang="en-US" sz="900" b="1" spc="200" kern="0" dirty="0">
                <a:solidFill>
                  <a:srgbClr val="F5C842"/>
                </a:solidFill>
                <a:latin typeface="Courier New" pitchFamily="34" charset="0"/>
                <a:ea typeface="Courier New" pitchFamily="34" charset="-122"/>
                <a:cs typeface="Courier New" pitchFamily="34" charset="-120"/>
              </a:rPr>
              <a:t>04</a:t>
            </a:r>
            <a:endParaRPr lang="en-US" sz="900" dirty="0"/>
          </a:p>
        </p:txBody>
      </p:sp>
      <p:sp>
        <p:nvSpPr>
          <p:cNvPr id="28" name="Text 26"/>
          <p:cNvSpPr/>
          <p:nvPr/>
        </p:nvSpPr>
        <p:spPr>
          <a:xfrm>
            <a:off x="6492240" y="3236976"/>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Multiple Template Styles</a:t>
            </a:r>
            <a:endParaRPr lang="en-US" sz="1250" dirty="0"/>
          </a:p>
        </p:txBody>
      </p:sp>
      <p:sp>
        <p:nvSpPr>
          <p:cNvPr id="29" name="Text 27"/>
          <p:cNvSpPr/>
          <p:nvPr/>
        </p:nvSpPr>
        <p:spPr>
          <a:xfrm>
            <a:off x="6492240" y="3584448"/>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Provide 20 distinct portfolio templates covering dark, light, terminal, editorial, minimal, retro, and cyber aesthetics.</a:t>
            </a:r>
            <a:endParaRPr lang="en-US" sz="950" dirty="0"/>
          </a:p>
        </p:txBody>
      </p:sp>
      <p:sp>
        <p:nvSpPr>
          <p:cNvPr id="30" name="Shape 28"/>
          <p:cNvSpPr/>
          <p:nvPr/>
        </p:nvSpPr>
        <p:spPr>
          <a:xfrm>
            <a:off x="502920" y="4462272"/>
            <a:ext cx="5532120" cy="1444752"/>
          </a:xfrm>
          <a:prstGeom prst="rect">
            <a:avLst/>
          </a:prstGeom>
          <a:solidFill>
            <a:srgbClr val="152542"/>
          </a:solidFill>
          <a:ln w="12700">
            <a:solidFill>
              <a:srgbClr val="FF8C42">
                <a:alpha val="50000"/>
              </a:srgbClr>
            </a:solidFill>
            <a:prstDash val="solid"/>
          </a:ln>
          <a:effectLst>
            <a:outerShdw sx="100000" sy="100000" kx="0" ky="0" algn="bl" rotWithShape="0" blurRad="127000" dist="38100" dir="8100000">
              <a:srgbClr val="000000">
                <a:alpha val="25000"/>
              </a:srgbClr>
            </a:outerShdw>
          </a:effectLst>
        </p:spPr>
      </p:sp>
      <p:sp>
        <p:nvSpPr>
          <p:cNvPr id="31" name="Shape 29"/>
          <p:cNvSpPr/>
          <p:nvPr/>
        </p:nvSpPr>
        <p:spPr>
          <a:xfrm>
            <a:off x="502920" y="4462272"/>
            <a:ext cx="50292" cy="1444752"/>
          </a:xfrm>
          <a:prstGeom prst="rect">
            <a:avLst/>
          </a:prstGeom>
          <a:solidFill>
            <a:srgbClr val="FF8C42"/>
          </a:solidFill>
          <a:ln w="12700">
            <a:solidFill>
              <a:srgbClr val="FF8C42"/>
            </a:solidFill>
            <a:prstDash val="solid"/>
          </a:ln>
        </p:spPr>
      </p:sp>
      <p:sp>
        <p:nvSpPr>
          <p:cNvPr id="32" name="Text 30"/>
          <p:cNvSpPr/>
          <p:nvPr/>
        </p:nvSpPr>
        <p:spPr>
          <a:xfrm>
            <a:off x="685800" y="4590288"/>
            <a:ext cx="502920" cy="274320"/>
          </a:xfrm>
          <a:prstGeom prst="rect">
            <a:avLst/>
          </a:prstGeom>
          <a:noFill/>
          <a:ln/>
        </p:spPr>
        <p:txBody>
          <a:bodyPr wrap="square" rtlCol="0" anchor="ctr"/>
          <a:lstStyle/>
          <a:p>
            <a:pPr indent="0" marL="0">
              <a:buNone/>
            </a:pPr>
            <a:r>
              <a:rPr lang="en-US" sz="900" b="1" spc="200" kern="0" dirty="0">
                <a:solidFill>
                  <a:srgbClr val="FF8C42"/>
                </a:solidFill>
                <a:latin typeface="Courier New" pitchFamily="34" charset="0"/>
                <a:ea typeface="Courier New" pitchFamily="34" charset="-122"/>
                <a:cs typeface="Courier New" pitchFamily="34" charset="-120"/>
              </a:rPr>
              <a:t>05</a:t>
            </a:r>
            <a:endParaRPr lang="en-US" sz="900" dirty="0"/>
          </a:p>
        </p:txBody>
      </p:sp>
      <p:sp>
        <p:nvSpPr>
          <p:cNvPr id="33" name="Text 31"/>
          <p:cNvSpPr/>
          <p:nvPr/>
        </p:nvSpPr>
        <p:spPr>
          <a:xfrm>
            <a:off x="685800" y="4864608"/>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Secure Authentication System</a:t>
            </a:r>
            <a:endParaRPr lang="en-US" sz="1250" dirty="0"/>
          </a:p>
        </p:txBody>
      </p:sp>
      <p:sp>
        <p:nvSpPr>
          <p:cNvPr id="34" name="Text 32"/>
          <p:cNvSpPr/>
          <p:nvPr/>
        </p:nvSpPr>
        <p:spPr>
          <a:xfrm>
            <a:off x="685800" y="5212080"/>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Implement full signup, login, and password-reset flow with localStorage-based session management and persistence.</a:t>
            </a:r>
            <a:endParaRPr lang="en-US" sz="950" dirty="0"/>
          </a:p>
        </p:txBody>
      </p:sp>
      <p:sp>
        <p:nvSpPr>
          <p:cNvPr id="35" name="Shape 33"/>
          <p:cNvSpPr/>
          <p:nvPr/>
        </p:nvSpPr>
        <p:spPr>
          <a:xfrm>
            <a:off x="6309360" y="4462272"/>
            <a:ext cx="5532120" cy="1444752"/>
          </a:xfrm>
          <a:prstGeom prst="rect">
            <a:avLst/>
          </a:prstGeom>
          <a:solidFill>
            <a:srgbClr val="152542"/>
          </a:solidFill>
          <a:ln w="12700">
            <a:solidFill>
              <a:srgbClr val="00E5CC">
                <a:alpha val="50000"/>
              </a:srgbClr>
            </a:solidFill>
            <a:prstDash val="solid"/>
          </a:ln>
          <a:effectLst>
            <a:outerShdw sx="100000" sy="100000" kx="0" ky="0" algn="bl" rotWithShape="0" blurRad="127000" dist="38100" dir="8100000">
              <a:srgbClr val="000000">
                <a:alpha val="25000"/>
              </a:srgbClr>
            </a:outerShdw>
          </a:effectLst>
        </p:spPr>
      </p:sp>
      <p:sp>
        <p:nvSpPr>
          <p:cNvPr id="36" name="Shape 34"/>
          <p:cNvSpPr/>
          <p:nvPr/>
        </p:nvSpPr>
        <p:spPr>
          <a:xfrm>
            <a:off x="6309360" y="4462272"/>
            <a:ext cx="50292" cy="1444752"/>
          </a:xfrm>
          <a:prstGeom prst="rect">
            <a:avLst/>
          </a:prstGeom>
          <a:solidFill>
            <a:srgbClr val="00E5CC"/>
          </a:solidFill>
          <a:ln w="12700">
            <a:solidFill>
              <a:srgbClr val="00E5CC"/>
            </a:solidFill>
            <a:prstDash val="solid"/>
          </a:ln>
        </p:spPr>
      </p:sp>
      <p:sp>
        <p:nvSpPr>
          <p:cNvPr id="37" name="Text 35"/>
          <p:cNvSpPr/>
          <p:nvPr/>
        </p:nvSpPr>
        <p:spPr>
          <a:xfrm>
            <a:off x="6492240" y="4590288"/>
            <a:ext cx="502920" cy="274320"/>
          </a:xfrm>
          <a:prstGeom prst="rect">
            <a:avLst/>
          </a:prstGeom>
          <a:noFill/>
          <a:ln/>
        </p:spPr>
        <p:txBody>
          <a:bodyPr wrap="square" rtlCol="0" anchor="ctr"/>
          <a:lstStyle/>
          <a:p>
            <a:pPr indent="0" marL="0">
              <a:buNone/>
            </a:pPr>
            <a:r>
              <a:rPr lang="en-US" sz="900" b="1" spc="200" kern="0" dirty="0">
                <a:solidFill>
                  <a:srgbClr val="00E5CC"/>
                </a:solidFill>
                <a:latin typeface="Courier New" pitchFamily="34" charset="0"/>
                <a:ea typeface="Courier New" pitchFamily="34" charset="-122"/>
                <a:cs typeface="Courier New" pitchFamily="34" charset="-120"/>
              </a:rPr>
              <a:t>06</a:t>
            </a:r>
            <a:endParaRPr lang="en-US" sz="900" dirty="0"/>
          </a:p>
        </p:txBody>
      </p:sp>
      <p:sp>
        <p:nvSpPr>
          <p:cNvPr id="38" name="Text 36"/>
          <p:cNvSpPr/>
          <p:nvPr/>
        </p:nvSpPr>
        <p:spPr>
          <a:xfrm>
            <a:off x="6492240" y="4864608"/>
            <a:ext cx="5120640" cy="329184"/>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Downloadable Output</a:t>
            </a:r>
            <a:endParaRPr lang="en-US" sz="1250" dirty="0"/>
          </a:p>
        </p:txBody>
      </p:sp>
      <p:sp>
        <p:nvSpPr>
          <p:cNvPr id="39" name="Text 37"/>
          <p:cNvSpPr/>
          <p:nvPr/>
        </p:nvSpPr>
        <p:spPr>
          <a:xfrm>
            <a:off x="6492240" y="5212080"/>
            <a:ext cx="5166360" cy="621792"/>
          </a:xfrm>
          <a:prstGeom prst="rect">
            <a:avLst/>
          </a:prstGeom>
          <a:noFill/>
          <a:ln/>
        </p:spPr>
        <p:txBody>
          <a:bodyPr wrap="square" rtlCol="0" anchor="ctr"/>
          <a:lstStyle/>
          <a:p>
            <a:pPr indent="0" marL="0">
              <a:lnSpc>
                <a:spcPct val="140000"/>
              </a:lnSpc>
              <a:buNone/>
            </a:pPr>
            <a:r>
              <a:rPr lang="en-US" sz="950" dirty="0">
                <a:solidFill>
                  <a:srgbClr val="6B8CAE"/>
                </a:solidFill>
              </a:rPr>
              <a:t>Enable one-click generation of a standalone HTML portfolio file that can be hosted anywhere — no backend required.</a:t>
            </a:r>
            <a:endParaRPr lang="en-US" sz="950" dirty="0"/>
          </a:p>
        </p:txBody>
      </p:sp>
      <p:sp>
        <p:nvSpPr>
          <p:cNvPr id="40" name="Shape 38"/>
          <p:cNvSpPr/>
          <p:nvPr/>
        </p:nvSpPr>
        <p:spPr>
          <a:xfrm>
            <a:off x="0" y="6547104"/>
            <a:ext cx="12161520" cy="310896"/>
          </a:xfrm>
          <a:prstGeom prst="rect">
            <a:avLst/>
          </a:prstGeom>
          <a:solidFill>
            <a:srgbClr val="071020"/>
          </a:solidFill>
          <a:ln w="12700">
            <a:solidFill>
              <a:srgbClr val="071020"/>
            </a:solidFill>
            <a:prstDash val="solid"/>
          </a:ln>
        </p:spPr>
      </p:sp>
      <p:sp>
        <p:nvSpPr>
          <p:cNvPr id="41" name="Shape 39"/>
          <p:cNvSpPr/>
          <p:nvPr/>
        </p:nvSpPr>
        <p:spPr>
          <a:xfrm>
            <a:off x="0" y="6547104"/>
            <a:ext cx="12161520" cy="27432"/>
          </a:xfrm>
          <a:prstGeom prst="rect">
            <a:avLst/>
          </a:prstGeom>
          <a:solidFill>
            <a:srgbClr val="E8A020"/>
          </a:solidFill>
          <a:ln w="12700">
            <a:solidFill>
              <a:srgbClr val="E8A020"/>
            </a:solidFill>
            <a:prstDash val="solid"/>
          </a:ln>
        </p:spPr>
      </p:sp>
      <p:sp>
        <p:nvSpPr>
          <p:cNvPr id="42" name="Text 40"/>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4FC3F7"/>
          </a:solidFill>
          <a:ln w="12700">
            <a:solidFill>
              <a:srgbClr val="4FC3F7"/>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4FC3F7">
              <a:alpha val="18000"/>
            </a:srgbClr>
          </a:solidFill>
          <a:ln w="12700">
            <a:solidFill>
              <a:srgbClr val="4FC3F7"/>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4FC3F7"/>
                </a:solidFill>
                <a:latin typeface="Courier New" pitchFamily="34" charset="0"/>
                <a:ea typeface="Courier New" pitchFamily="34" charset="-122"/>
                <a:cs typeface="Courier New" pitchFamily="34" charset="-120"/>
              </a:rPr>
              <a:t>/ 03</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Stakeholders</a:t>
            </a:r>
            <a:endParaRPr lang="en-US" sz="3400" dirty="0"/>
          </a:p>
        </p:txBody>
      </p:sp>
      <p:sp>
        <p:nvSpPr>
          <p:cNvPr id="7" name="Shape 5"/>
          <p:cNvSpPr/>
          <p:nvPr/>
        </p:nvSpPr>
        <p:spPr>
          <a:xfrm>
            <a:off x="502920" y="1024128"/>
            <a:ext cx="548640" cy="45720"/>
          </a:xfrm>
          <a:prstGeom prst="rect">
            <a:avLst/>
          </a:prstGeom>
          <a:solidFill>
            <a:srgbClr val="4FC3F7"/>
          </a:solidFill>
          <a:ln w="12700">
            <a:solidFill>
              <a:srgbClr val="4FC3F7"/>
            </a:solidFill>
            <a:prstDash val="solid"/>
          </a:ln>
        </p:spPr>
      </p:sp>
      <p:sp>
        <p:nvSpPr>
          <p:cNvPr id="8" name="Shape 6"/>
          <p:cNvSpPr/>
          <p:nvPr/>
        </p:nvSpPr>
        <p:spPr>
          <a:xfrm>
            <a:off x="2423160" y="457200"/>
            <a:ext cx="7315200" cy="7315200"/>
          </a:xfrm>
          <a:prstGeom prst="ellipse">
            <a:avLst/>
          </a:prstGeom>
          <a:solidFill>
            <a:srgbClr val="4FC3F7">
              <a:alpha val="8000"/>
            </a:srgbClr>
          </a:solidFill>
          <a:ln w="12700">
            <a:solidFill>
              <a:srgbClr val="4FC3F7">
                <a:alpha val="0"/>
              </a:srgbClr>
            </a:solidFill>
            <a:prstDash val="solid"/>
          </a:ln>
        </p:spPr>
      </p:sp>
      <p:sp>
        <p:nvSpPr>
          <p:cNvPr id="9" name="Text 7"/>
          <p:cNvSpPr/>
          <p:nvPr/>
        </p:nvSpPr>
        <p:spPr>
          <a:xfrm>
            <a:off x="502920" y="1097280"/>
            <a:ext cx="9144000" cy="274320"/>
          </a:xfrm>
          <a:prstGeom prst="rect">
            <a:avLst/>
          </a:prstGeom>
          <a:noFill/>
          <a:ln/>
        </p:spPr>
        <p:txBody>
          <a:bodyPr wrap="square" rtlCol="0" anchor="ctr"/>
          <a:lstStyle/>
          <a:p>
            <a:pPr indent="0" marL="0">
              <a:buNone/>
            </a:pPr>
            <a:r>
              <a:rPr lang="en-US" sz="1100" i="1" dirty="0">
                <a:solidFill>
                  <a:srgbClr val="6B8CAE"/>
                </a:solidFill>
                <a:latin typeface="Calibri" pitchFamily="34" charset="0"/>
                <a:ea typeface="Calibri" pitchFamily="34" charset="-122"/>
                <a:cs typeface="Calibri" pitchFamily="34" charset="-120"/>
              </a:rPr>
              <a:t>Who benefits from DevFolio?</a:t>
            </a:r>
            <a:endParaRPr lang="en-US" sz="1100" dirty="0"/>
          </a:p>
        </p:txBody>
      </p:sp>
      <p:sp>
        <p:nvSpPr>
          <p:cNvPr id="10" name="Shape 8"/>
          <p:cNvSpPr/>
          <p:nvPr/>
        </p:nvSpPr>
        <p:spPr>
          <a:xfrm>
            <a:off x="502920" y="1481328"/>
            <a:ext cx="3566160" cy="2011680"/>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481328"/>
            <a:ext cx="3566160" cy="45720"/>
          </a:xfrm>
          <a:prstGeom prst="rect">
            <a:avLst/>
          </a:prstGeom>
          <a:solidFill>
            <a:srgbClr val="E8A020"/>
          </a:solidFill>
          <a:ln w="12700">
            <a:solidFill>
              <a:srgbClr val="E8A020"/>
            </a:solidFill>
            <a:prstDash val="solid"/>
          </a:ln>
        </p:spPr>
      </p:sp>
      <p:sp>
        <p:nvSpPr>
          <p:cNvPr id="12" name="Shape 10"/>
          <p:cNvSpPr/>
          <p:nvPr/>
        </p:nvSpPr>
        <p:spPr>
          <a:xfrm>
            <a:off x="667512" y="1664208"/>
            <a:ext cx="566928" cy="566928"/>
          </a:xfrm>
          <a:prstGeom prst="ellipse">
            <a:avLst/>
          </a:prstGeom>
          <a:solidFill>
            <a:srgbClr val="E8A020">
              <a:alpha val="22000"/>
            </a:srgbClr>
          </a:solidFill>
          <a:ln w="12700">
            <a:solidFill>
              <a:srgbClr val="E8A020">
                <a:alpha val="50000"/>
              </a:srgbClr>
            </a:solidFill>
            <a:prstDash val="solid"/>
          </a:ln>
        </p:spPr>
      </p:sp>
      <p:sp>
        <p:nvSpPr>
          <p:cNvPr id="13" name="Text 11"/>
          <p:cNvSpPr/>
          <p:nvPr/>
        </p:nvSpPr>
        <p:spPr>
          <a:xfrm>
            <a:off x="667512" y="1664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649224" y="2340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Students &amp; Graduates</a:t>
            </a:r>
            <a:endParaRPr lang="en-US" sz="1200" dirty="0"/>
          </a:p>
        </p:txBody>
      </p:sp>
      <p:sp>
        <p:nvSpPr>
          <p:cNvPr id="15" name="Text 13"/>
          <p:cNvSpPr/>
          <p:nvPr/>
        </p:nvSpPr>
        <p:spPr>
          <a:xfrm>
            <a:off x="649224" y="2706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Build a portfolio without coding knowledge to stand out in placements, internships and job applications.</a:t>
            </a:r>
            <a:endParaRPr lang="en-US" sz="900" dirty="0"/>
          </a:p>
        </p:txBody>
      </p:sp>
      <p:sp>
        <p:nvSpPr>
          <p:cNvPr id="16" name="Shape 14"/>
          <p:cNvSpPr/>
          <p:nvPr/>
        </p:nvSpPr>
        <p:spPr>
          <a:xfrm>
            <a:off x="4343400" y="1481328"/>
            <a:ext cx="3566160" cy="2011680"/>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17" name="Shape 15"/>
          <p:cNvSpPr/>
          <p:nvPr/>
        </p:nvSpPr>
        <p:spPr>
          <a:xfrm>
            <a:off x="4343400" y="1481328"/>
            <a:ext cx="3566160" cy="45720"/>
          </a:xfrm>
          <a:prstGeom prst="rect">
            <a:avLst/>
          </a:prstGeom>
          <a:solidFill>
            <a:srgbClr val="00C9A7"/>
          </a:solidFill>
          <a:ln w="12700">
            <a:solidFill>
              <a:srgbClr val="00C9A7"/>
            </a:solidFill>
            <a:prstDash val="solid"/>
          </a:ln>
        </p:spPr>
      </p:sp>
      <p:sp>
        <p:nvSpPr>
          <p:cNvPr id="18" name="Shape 16"/>
          <p:cNvSpPr/>
          <p:nvPr/>
        </p:nvSpPr>
        <p:spPr>
          <a:xfrm>
            <a:off x="4507992" y="1664208"/>
            <a:ext cx="566928" cy="566928"/>
          </a:xfrm>
          <a:prstGeom prst="ellipse">
            <a:avLst/>
          </a:prstGeom>
          <a:solidFill>
            <a:srgbClr val="00C9A7">
              <a:alpha val="22000"/>
            </a:srgbClr>
          </a:solidFill>
          <a:ln w="12700">
            <a:solidFill>
              <a:srgbClr val="00C9A7">
                <a:alpha val="50000"/>
              </a:srgbClr>
            </a:solidFill>
            <a:prstDash val="solid"/>
          </a:ln>
        </p:spPr>
      </p:sp>
      <p:sp>
        <p:nvSpPr>
          <p:cNvPr id="19" name="Text 17"/>
          <p:cNvSpPr/>
          <p:nvPr/>
        </p:nvSpPr>
        <p:spPr>
          <a:xfrm>
            <a:off x="4507992" y="1664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4489704" y="2340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Job Seekers</a:t>
            </a:r>
            <a:endParaRPr lang="en-US" sz="1200" dirty="0"/>
          </a:p>
        </p:txBody>
      </p:sp>
      <p:sp>
        <p:nvSpPr>
          <p:cNvPr id="21" name="Text 19"/>
          <p:cNvSpPr/>
          <p:nvPr/>
        </p:nvSpPr>
        <p:spPr>
          <a:xfrm>
            <a:off x="4489704" y="2706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Create a professional online presence instantly by converting their resume into a visually impressive portfolio.</a:t>
            </a:r>
            <a:endParaRPr lang="en-US" sz="900" dirty="0"/>
          </a:p>
        </p:txBody>
      </p:sp>
      <p:sp>
        <p:nvSpPr>
          <p:cNvPr id="22" name="Shape 20"/>
          <p:cNvSpPr/>
          <p:nvPr/>
        </p:nvSpPr>
        <p:spPr>
          <a:xfrm>
            <a:off x="8183880" y="1481328"/>
            <a:ext cx="3566160" cy="2011680"/>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3" name="Shape 21"/>
          <p:cNvSpPr/>
          <p:nvPr/>
        </p:nvSpPr>
        <p:spPr>
          <a:xfrm>
            <a:off x="8183880" y="1481328"/>
            <a:ext cx="3566160" cy="45720"/>
          </a:xfrm>
          <a:prstGeom prst="rect">
            <a:avLst/>
          </a:prstGeom>
          <a:solidFill>
            <a:srgbClr val="4FC3F7"/>
          </a:solidFill>
          <a:ln w="12700">
            <a:solidFill>
              <a:srgbClr val="4FC3F7"/>
            </a:solidFill>
            <a:prstDash val="solid"/>
          </a:ln>
        </p:spPr>
      </p:sp>
      <p:sp>
        <p:nvSpPr>
          <p:cNvPr id="24" name="Shape 22"/>
          <p:cNvSpPr/>
          <p:nvPr/>
        </p:nvSpPr>
        <p:spPr>
          <a:xfrm>
            <a:off x="8348472" y="1664208"/>
            <a:ext cx="566928" cy="566928"/>
          </a:xfrm>
          <a:prstGeom prst="ellipse">
            <a:avLst/>
          </a:prstGeom>
          <a:solidFill>
            <a:srgbClr val="4FC3F7">
              <a:alpha val="22000"/>
            </a:srgbClr>
          </a:solidFill>
          <a:ln w="12700">
            <a:solidFill>
              <a:srgbClr val="4FC3F7">
                <a:alpha val="50000"/>
              </a:srgbClr>
            </a:solidFill>
            <a:prstDash val="solid"/>
          </a:ln>
        </p:spPr>
      </p:sp>
      <p:sp>
        <p:nvSpPr>
          <p:cNvPr id="25" name="Text 23"/>
          <p:cNvSpPr/>
          <p:nvPr/>
        </p:nvSpPr>
        <p:spPr>
          <a:xfrm>
            <a:off x="8348472" y="1664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6" name="Text 24"/>
          <p:cNvSpPr/>
          <p:nvPr/>
        </p:nvSpPr>
        <p:spPr>
          <a:xfrm>
            <a:off x="8330184" y="2340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HR / Recruiters</a:t>
            </a:r>
            <a:endParaRPr lang="en-US" sz="1200" dirty="0"/>
          </a:p>
        </p:txBody>
      </p:sp>
      <p:sp>
        <p:nvSpPr>
          <p:cNvPr id="27" name="Text 25"/>
          <p:cNvSpPr/>
          <p:nvPr/>
        </p:nvSpPr>
        <p:spPr>
          <a:xfrm>
            <a:off x="8330184" y="2706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Quickly assess a candidate's technical profile through a well-structured, downloadable portfolio website.</a:t>
            </a:r>
            <a:endParaRPr lang="en-US" sz="900" dirty="0"/>
          </a:p>
        </p:txBody>
      </p:sp>
      <p:sp>
        <p:nvSpPr>
          <p:cNvPr id="28" name="Shape 26"/>
          <p:cNvSpPr/>
          <p:nvPr/>
        </p:nvSpPr>
        <p:spPr>
          <a:xfrm>
            <a:off x="502920" y="3767328"/>
            <a:ext cx="3566160" cy="2011680"/>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29" name="Shape 27"/>
          <p:cNvSpPr/>
          <p:nvPr/>
        </p:nvSpPr>
        <p:spPr>
          <a:xfrm>
            <a:off x="502920" y="3767328"/>
            <a:ext cx="3566160" cy="45720"/>
          </a:xfrm>
          <a:prstGeom prst="rect">
            <a:avLst/>
          </a:prstGeom>
          <a:solidFill>
            <a:srgbClr val="F5C842"/>
          </a:solidFill>
          <a:ln w="12700">
            <a:solidFill>
              <a:srgbClr val="F5C842"/>
            </a:solidFill>
            <a:prstDash val="solid"/>
          </a:ln>
        </p:spPr>
      </p:sp>
      <p:sp>
        <p:nvSpPr>
          <p:cNvPr id="30" name="Shape 28"/>
          <p:cNvSpPr/>
          <p:nvPr/>
        </p:nvSpPr>
        <p:spPr>
          <a:xfrm>
            <a:off x="667512" y="3950208"/>
            <a:ext cx="566928" cy="566928"/>
          </a:xfrm>
          <a:prstGeom prst="ellipse">
            <a:avLst/>
          </a:prstGeom>
          <a:solidFill>
            <a:srgbClr val="F5C842">
              <a:alpha val="22000"/>
            </a:srgbClr>
          </a:solidFill>
          <a:ln w="12700">
            <a:solidFill>
              <a:srgbClr val="F5C842">
                <a:alpha val="50000"/>
              </a:srgbClr>
            </a:solidFill>
            <a:prstDash val="solid"/>
          </a:ln>
        </p:spPr>
      </p:sp>
      <p:sp>
        <p:nvSpPr>
          <p:cNvPr id="31" name="Text 29"/>
          <p:cNvSpPr/>
          <p:nvPr/>
        </p:nvSpPr>
        <p:spPr>
          <a:xfrm>
            <a:off x="667512" y="3950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649224" y="4626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Career Counselors</a:t>
            </a:r>
            <a:endParaRPr lang="en-US" sz="1200" dirty="0"/>
          </a:p>
        </p:txBody>
      </p:sp>
      <p:sp>
        <p:nvSpPr>
          <p:cNvPr id="33" name="Text 31"/>
          <p:cNvSpPr/>
          <p:nvPr/>
        </p:nvSpPr>
        <p:spPr>
          <a:xfrm>
            <a:off x="649224" y="4992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Use DevFolio as a teaching and mentoring tool to guide students in self-presentation and portfolio building.</a:t>
            </a:r>
            <a:endParaRPr lang="en-US" sz="900" dirty="0"/>
          </a:p>
        </p:txBody>
      </p:sp>
      <p:sp>
        <p:nvSpPr>
          <p:cNvPr id="34" name="Shape 32"/>
          <p:cNvSpPr/>
          <p:nvPr/>
        </p:nvSpPr>
        <p:spPr>
          <a:xfrm>
            <a:off x="4343400" y="3767328"/>
            <a:ext cx="3566160" cy="2011680"/>
          </a:xfrm>
          <a:prstGeom prst="rect">
            <a:avLst/>
          </a:prstGeom>
          <a:solidFill>
            <a:srgbClr val="152542"/>
          </a:solidFill>
          <a:ln w="12700">
            <a:solidFill>
              <a:srgbClr val="FF8C42">
                <a:alpha val="50000"/>
              </a:srgbClr>
            </a:solidFill>
            <a:prstDash val="solid"/>
          </a:ln>
          <a:effectLst>
            <a:outerShdw sx="100000" sy="100000" kx="0" ky="0" algn="bl" rotWithShape="0" blurRad="127000" dist="38100" dir="8100000">
              <a:srgbClr val="000000">
                <a:alpha val="25000"/>
              </a:srgbClr>
            </a:outerShdw>
          </a:effectLst>
        </p:spPr>
      </p:sp>
      <p:sp>
        <p:nvSpPr>
          <p:cNvPr id="35" name="Shape 33"/>
          <p:cNvSpPr/>
          <p:nvPr/>
        </p:nvSpPr>
        <p:spPr>
          <a:xfrm>
            <a:off x="4343400" y="3767328"/>
            <a:ext cx="3566160" cy="45720"/>
          </a:xfrm>
          <a:prstGeom prst="rect">
            <a:avLst/>
          </a:prstGeom>
          <a:solidFill>
            <a:srgbClr val="FF8C42"/>
          </a:solidFill>
          <a:ln w="12700">
            <a:solidFill>
              <a:srgbClr val="FF8C42"/>
            </a:solidFill>
            <a:prstDash val="solid"/>
          </a:ln>
        </p:spPr>
      </p:sp>
      <p:sp>
        <p:nvSpPr>
          <p:cNvPr id="36" name="Shape 34"/>
          <p:cNvSpPr/>
          <p:nvPr/>
        </p:nvSpPr>
        <p:spPr>
          <a:xfrm>
            <a:off x="4507992" y="3950208"/>
            <a:ext cx="566928" cy="566928"/>
          </a:xfrm>
          <a:prstGeom prst="ellipse">
            <a:avLst/>
          </a:prstGeom>
          <a:solidFill>
            <a:srgbClr val="FF8C42">
              <a:alpha val="22000"/>
            </a:srgbClr>
          </a:solidFill>
          <a:ln w="12700">
            <a:solidFill>
              <a:srgbClr val="FF8C42">
                <a:alpha val="50000"/>
              </a:srgbClr>
            </a:solidFill>
            <a:prstDash val="solid"/>
          </a:ln>
        </p:spPr>
      </p:sp>
      <p:sp>
        <p:nvSpPr>
          <p:cNvPr id="37" name="Text 35"/>
          <p:cNvSpPr/>
          <p:nvPr/>
        </p:nvSpPr>
        <p:spPr>
          <a:xfrm>
            <a:off x="4507992" y="3950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38" name="Text 36"/>
          <p:cNvSpPr/>
          <p:nvPr/>
        </p:nvSpPr>
        <p:spPr>
          <a:xfrm>
            <a:off x="4489704" y="4626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Placement Cells</a:t>
            </a:r>
            <a:endParaRPr lang="en-US" sz="1200" dirty="0"/>
          </a:p>
        </p:txBody>
      </p:sp>
      <p:sp>
        <p:nvSpPr>
          <p:cNvPr id="39" name="Text 37"/>
          <p:cNvSpPr/>
          <p:nvPr/>
        </p:nvSpPr>
        <p:spPr>
          <a:xfrm>
            <a:off x="4489704" y="4992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Deploy the tool institution-wide to prepare batches of students for campus placement and recruitment drives.</a:t>
            </a:r>
            <a:endParaRPr lang="en-US" sz="900" dirty="0"/>
          </a:p>
        </p:txBody>
      </p:sp>
      <p:sp>
        <p:nvSpPr>
          <p:cNvPr id="40" name="Shape 38"/>
          <p:cNvSpPr/>
          <p:nvPr/>
        </p:nvSpPr>
        <p:spPr>
          <a:xfrm>
            <a:off x="8183880" y="3767328"/>
            <a:ext cx="3566160" cy="2011680"/>
          </a:xfrm>
          <a:prstGeom prst="rect">
            <a:avLst/>
          </a:prstGeom>
          <a:solidFill>
            <a:srgbClr val="152542"/>
          </a:solidFill>
          <a:ln w="12700">
            <a:solidFill>
              <a:srgbClr val="00E5CC">
                <a:alpha val="50000"/>
              </a:srgbClr>
            </a:solidFill>
            <a:prstDash val="solid"/>
          </a:ln>
          <a:effectLst>
            <a:outerShdw sx="100000" sy="100000" kx="0" ky="0" algn="bl" rotWithShape="0" blurRad="127000" dist="38100" dir="8100000">
              <a:srgbClr val="000000">
                <a:alpha val="25000"/>
              </a:srgbClr>
            </a:outerShdw>
          </a:effectLst>
        </p:spPr>
      </p:sp>
      <p:sp>
        <p:nvSpPr>
          <p:cNvPr id="41" name="Shape 39"/>
          <p:cNvSpPr/>
          <p:nvPr/>
        </p:nvSpPr>
        <p:spPr>
          <a:xfrm>
            <a:off x="8183880" y="3767328"/>
            <a:ext cx="3566160" cy="45720"/>
          </a:xfrm>
          <a:prstGeom prst="rect">
            <a:avLst/>
          </a:prstGeom>
          <a:solidFill>
            <a:srgbClr val="00E5CC"/>
          </a:solidFill>
          <a:ln w="12700">
            <a:solidFill>
              <a:srgbClr val="00E5CC"/>
            </a:solidFill>
            <a:prstDash val="solid"/>
          </a:ln>
        </p:spPr>
      </p:sp>
      <p:sp>
        <p:nvSpPr>
          <p:cNvPr id="42" name="Shape 40"/>
          <p:cNvSpPr/>
          <p:nvPr/>
        </p:nvSpPr>
        <p:spPr>
          <a:xfrm>
            <a:off x="8348472" y="3950208"/>
            <a:ext cx="566928" cy="566928"/>
          </a:xfrm>
          <a:prstGeom prst="ellipse">
            <a:avLst/>
          </a:prstGeom>
          <a:solidFill>
            <a:srgbClr val="00E5CC">
              <a:alpha val="22000"/>
            </a:srgbClr>
          </a:solidFill>
          <a:ln w="12700">
            <a:solidFill>
              <a:srgbClr val="00E5CC">
                <a:alpha val="50000"/>
              </a:srgbClr>
            </a:solidFill>
            <a:prstDash val="solid"/>
          </a:ln>
        </p:spPr>
      </p:sp>
      <p:sp>
        <p:nvSpPr>
          <p:cNvPr id="43" name="Text 41"/>
          <p:cNvSpPr/>
          <p:nvPr/>
        </p:nvSpPr>
        <p:spPr>
          <a:xfrm>
            <a:off x="8348472" y="3950208"/>
            <a:ext cx="566928" cy="56692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44" name="Text 42"/>
          <p:cNvSpPr/>
          <p:nvPr/>
        </p:nvSpPr>
        <p:spPr>
          <a:xfrm>
            <a:off x="8330184" y="4626864"/>
            <a:ext cx="3273552"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Developers / Evaluators</a:t>
            </a:r>
            <a:endParaRPr lang="en-US" sz="1200" dirty="0"/>
          </a:p>
        </p:txBody>
      </p:sp>
      <p:sp>
        <p:nvSpPr>
          <p:cNvPr id="45" name="Text 43"/>
          <p:cNvSpPr/>
          <p:nvPr/>
        </p:nvSpPr>
        <p:spPr>
          <a:xfrm>
            <a:off x="8330184" y="4992624"/>
            <a:ext cx="3273552" cy="685800"/>
          </a:xfrm>
          <a:prstGeom prst="rect">
            <a:avLst/>
          </a:prstGeom>
          <a:noFill/>
          <a:ln/>
        </p:spPr>
        <p:txBody>
          <a:bodyPr wrap="square" rtlCol="0" anchor="ctr"/>
          <a:lstStyle/>
          <a:p>
            <a:pPr indent="0" marL="0">
              <a:lnSpc>
                <a:spcPct val="140000"/>
              </a:lnSpc>
              <a:buNone/>
            </a:pPr>
            <a:r>
              <a:rPr lang="en-US" sz="900" dirty="0">
                <a:solidFill>
                  <a:srgbClr val="6B8CAE"/>
                </a:solidFill>
              </a:rPr>
              <a:t>A well-structured full-stack project showcasing AI integration, resume parsing, auth flows, and template engines.</a:t>
            </a:r>
            <a:endParaRPr lang="en-US" sz="900" dirty="0"/>
          </a:p>
        </p:txBody>
      </p:sp>
      <p:sp>
        <p:nvSpPr>
          <p:cNvPr id="46" name="Shape 44"/>
          <p:cNvSpPr/>
          <p:nvPr/>
        </p:nvSpPr>
        <p:spPr>
          <a:xfrm>
            <a:off x="0" y="6547104"/>
            <a:ext cx="12161520" cy="310896"/>
          </a:xfrm>
          <a:prstGeom prst="rect">
            <a:avLst/>
          </a:prstGeom>
          <a:solidFill>
            <a:srgbClr val="071020"/>
          </a:solidFill>
          <a:ln w="12700">
            <a:solidFill>
              <a:srgbClr val="071020"/>
            </a:solidFill>
            <a:prstDash val="solid"/>
          </a:ln>
        </p:spPr>
      </p:sp>
      <p:sp>
        <p:nvSpPr>
          <p:cNvPr id="47" name="Shape 45"/>
          <p:cNvSpPr/>
          <p:nvPr/>
        </p:nvSpPr>
        <p:spPr>
          <a:xfrm>
            <a:off x="0" y="6547104"/>
            <a:ext cx="12161520" cy="27432"/>
          </a:xfrm>
          <a:prstGeom prst="rect">
            <a:avLst/>
          </a:prstGeom>
          <a:solidFill>
            <a:srgbClr val="E8A020"/>
          </a:solidFill>
          <a:ln w="12700">
            <a:solidFill>
              <a:srgbClr val="E8A020"/>
            </a:solidFill>
            <a:prstDash val="solid"/>
          </a:ln>
        </p:spPr>
      </p:sp>
      <p:sp>
        <p:nvSpPr>
          <p:cNvPr id="48" name="Text 46"/>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F5C842"/>
          </a:solidFill>
          <a:ln w="12700">
            <a:solidFill>
              <a:srgbClr val="F5C842"/>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F5C842">
              <a:alpha val="18000"/>
            </a:srgbClr>
          </a:solidFill>
          <a:ln w="12700">
            <a:solidFill>
              <a:srgbClr val="F5C842"/>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F5C842"/>
                </a:solidFill>
                <a:latin typeface="Courier New" pitchFamily="34" charset="0"/>
                <a:ea typeface="Courier New" pitchFamily="34" charset="-122"/>
                <a:cs typeface="Courier New" pitchFamily="34" charset="-120"/>
              </a:rPr>
              <a:t>/ 04</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Programming Languages, Tools &amp; Software</a:t>
            </a:r>
            <a:endParaRPr lang="en-US" sz="3400" dirty="0"/>
          </a:p>
        </p:txBody>
      </p:sp>
      <p:sp>
        <p:nvSpPr>
          <p:cNvPr id="7" name="Shape 5"/>
          <p:cNvSpPr/>
          <p:nvPr/>
        </p:nvSpPr>
        <p:spPr>
          <a:xfrm>
            <a:off x="502920" y="1024128"/>
            <a:ext cx="548640" cy="45720"/>
          </a:xfrm>
          <a:prstGeom prst="rect">
            <a:avLst/>
          </a:prstGeom>
          <a:solidFill>
            <a:srgbClr val="F5C842"/>
          </a:solidFill>
          <a:ln w="12700">
            <a:solidFill>
              <a:srgbClr val="F5C842"/>
            </a:solidFill>
            <a:prstDash val="solid"/>
          </a:ln>
        </p:spPr>
      </p:sp>
      <p:sp>
        <p:nvSpPr>
          <p:cNvPr id="8" name="Shape 6"/>
          <p:cNvSpPr/>
          <p:nvPr/>
        </p:nvSpPr>
        <p:spPr>
          <a:xfrm>
            <a:off x="8229600" y="2743200"/>
            <a:ext cx="5486400" cy="5486400"/>
          </a:xfrm>
          <a:prstGeom prst="ellipse">
            <a:avLst/>
          </a:prstGeom>
          <a:solidFill>
            <a:srgbClr val="F5C842">
              <a:alpha val="8000"/>
            </a:srgbClr>
          </a:solidFill>
          <a:ln w="12700">
            <a:solidFill>
              <a:srgbClr val="F5C842">
                <a:alpha val="0"/>
              </a:srgbClr>
            </a:solidFill>
            <a:prstDash val="solid"/>
          </a:ln>
        </p:spPr>
      </p:sp>
      <p:sp>
        <p:nvSpPr>
          <p:cNvPr id="9" name="Shape 7"/>
          <p:cNvSpPr/>
          <p:nvPr/>
        </p:nvSpPr>
        <p:spPr>
          <a:xfrm>
            <a:off x="-1828800" y="3200400"/>
            <a:ext cx="4572000" cy="4572000"/>
          </a:xfrm>
          <a:prstGeom prst="ellipse">
            <a:avLst/>
          </a:prstGeom>
          <a:solidFill>
            <a:srgbClr val="E8A020">
              <a:alpha val="8000"/>
            </a:srgbClr>
          </a:solidFill>
          <a:ln w="12700">
            <a:solidFill>
              <a:srgbClr val="E8A020">
                <a:alpha val="0"/>
              </a:srgbClr>
            </a:solidFill>
            <a:prstDash val="solid"/>
          </a:ln>
        </p:spPr>
      </p:sp>
      <p:sp>
        <p:nvSpPr>
          <p:cNvPr id="10" name="Shape 8"/>
          <p:cNvSpPr/>
          <p:nvPr/>
        </p:nvSpPr>
        <p:spPr>
          <a:xfrm>
            <a:off x="502920" y="1207008"/>
            <a:ext cx="3584448" cy="2249424"/>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207008"/>
            <a:ext cx="3584448" cy="45720"/>
          </a:xfrm>
          <a:prstGeom prst="rect">
            <a:avLst/>
          </a:prstGeom>
          <a:solidFill>
            <a:srgbClr val="E8A020"/>
          </a:solidFill>
          <a:ln w="12700">
            <a:solidFill>
              <a:srgbClr val="E8A020"/>
            </a:solidFill>
            <a:prstDash val="solid"/>
          </a:ln>
        </p:spPr>
      </p:sp>
      <p:sp>
        <p:nvSpPr>
          <p:cNvPr id="12" name="Text 10"/>
          <p:cNvSpPr/>
          <p:nvPr/>
        </p:nvSpPr>
        <p:spPr>
          <a:xfrm>
            <a:off x="667512" y="1316736"/>
            <a:ext cx="3255264" cy="329184"/>
          </a:xfrm>
          <a:prstGeom prst="rect">
            <a:avLst/>
          </a:prstGeom>
          <a:noFill/>
          <a:ln/>
        </p:spPr>
        <p:txBody>
          <a:bodyPr wrap="square" rtlCol="0" anchor="ctr"/>
          <a:lstStyle/>
          <a:p>
            <a:pPr indent="0" marL="0">
              <a:buNone/>
            </a:pPr>
            <a:r>
              <a:rPr lang="en-US" sz="1250" b="1" dirty="0">
                <a:solidFill>
                  <a:srgbClr val="E8A020"/>
                </a:solidFill>
                <a:latin typeface="Arial" pitchFamily="34" charset="0"/>
                <a:ea typeface="Arial" pitchFamily="34" charset="-122"/>
                <a:cs typeface="Arial" pitchFamily="34" charset="-120"/>
              </a:rPr>
              <a:t>Frontend</a:t>
            </a:r>
            <a:endParaRPr lang="en-US" sz="1250" dirty="0"/>
          </a:p>
        </p:txBody>
      </p:sp>
      <p:sp>
        <p:nvSpPr>
          <p:cNvPr id="13" name="Shape 11"/>
          <p:cNvSpPr/>
          <p:nvPr/>
        </p:nvSpPr>
        <p:spPr>
          <a:xfrm>
            <a:off x="685800" y="1801368"/>
            <a:ext cx="109728" cy="109728"/>
          </a:xfrm>
          <a:prstGeom prst="ellipse">
            <a:avLst/>
          </a:prstGeom>
          <a:solidFill>
            <a:srgbClr val="E8A020"/>
          </a:solidFill>
          <a:ln w="12700">
            <a:solidFill>
              <a:srgbClr val="E8A020"/>
            </a:solidFill>
            <a:prstDash val="solid"/>
          </a:ln>
        </p:spPr>
      </p:sp>
      <p:sp>
        <p:nvSpPr>
          <p:cNvPr id="14" name="Text 12"/>
          <p:cNvSpPr/>
          <p:nvPr/>
        </p:nvSpPr>
        <p:spPr>
          <a:xfrm>
            <a:off x="868680" y="1728216"/>
            <a:ext cx="3127248" cy="310896"/>
          </a:xfrm>
          <a:prstGeom prst="rect">
            <a:avLst/>
          </a:prstGeom>
          <a:noFill/>
          <a:ln/>
        </p:spPr>
        <p:txBody>
          <a:bodyPr wrap="square" rtlCol="0" anchor="ctr"/>
          <a:lstStyle/>
          <a:p>
            <a:pPr indent="0" marL="0">
              <a:buNone/>
            </a:pPr>
            <a:r>
              <a:rPr lang="en-US" sz="900" dirty="0">
                <a:solidFill>
                  <a:srgbClr val="6B8CAE"/>
                </a:solidFill>
              </a:rPr>
              <a:t>HTML5  —  Structure &amp; semantic markup</a:t>
            </a:r>
            <a:endParaRPr lang="en-US" sz="900" dirty="0"/>
          </a:p>
        </p:txBody>
      </p:sp>
      <p:sp>
        <p:nvSpPr>
          <p:cNvPr id="15" name="Shape 13"/>
          <p:cNvSpPr/>
          <p:nvPr/>
        </p:nvSpPr>
        <p:spPr>
          <a:xfrm>
            <a:off x="685800" y="2139696"/>
            <a:ext cx="109728" cy="109728"/>
          </a:xfrm>
          <a:prstGeom prst="ellipse">
            <a:avLst/>
          </a:prstGeom>
          <a:solidFill>
            <a:srgbClr val="E8A020"/>
          </a:solidFill>
          <a:ln w="12700">
            <a:solidFill>
              <a:srgbClr val="E8A020"/>
            </a:solidFill>
            <a:prstDash val="solid"/>
          </a:ln>
        </p:spPr>
      </p:sp>
      <p:sp>
        <p:nvSpPr>
          <p:cNvPr id="16" name="Text 14"/>
          <p:cNvSpPr/>
          <p:nvPr/>
        </p:nvSpPr>
        <p:spPr>
          <a:xfrm>
            <a:off x="868680" y="2066544"/>
            <a:ext cx="3127248" cy="310896"/>
          </a:xfrm>
          <a:prstGeom prst="rect">
            <a:avLst/>
          </a:prstGeom>
          <a:noFill/>
          <a:ln/>
        </p:spPr>
        <p:txBody>
          <a:bodyPr wrap="square" rtlCol="0" anchor="ctr"/>
          <a:lstStyle/>
          <a:p>
            <a:pPr indent="0" marL="0">
              <a:buNone/>
            </a:pPr>
            <a:r>
              <a:rPr lang="en-US" sz="900" dirty="0">
                <a:solidFill>
                  <a:srgbClr val="6B8CAE"/>
                </a:solidFill>
              </a:rPr>
              <a:t>CSS3  —  Animations, variables, flexbox/grid</a:t>
            </a:r>
            <a:endParaRPr lang="en-US" sz="900" dirty="0"/>
          </a:p>
        </p:txBody>
      </p:sp>
      <p:sp>
        <p:nvSpPr>
          <p:cNvPr id="17" name="Shape 15"/>
          <p:cNvSpPr/>
          <p:nvPr/>
        </p:nvSpPr>
        <p:spPr>
          <a:xfrm>
            <a:off x="685800" y="2478024"/>
            <a:ext cx="109728" cy="109728"/>
          </a:xfrm>
          <a:prstGeom prst="ellipse">
            <a:avLst/>
          </a:prstGeom>
          <a:solidFill>
            <a:srgbClr val="E8A020"/>
          </a:solidFill>
          <a:ln w="12700">
            <a:solidFill>
              <a:srgbClr val="E8A020"/>
            </a:solidFill>
            <a:prstDash val="solid"/>
          </a:ln>
        </p:spPr>
      </p:sp>
      <p:sp>
        <p:nvSpPr>
          <p:cNvPr id="18" name="Text 16"/>
          <p:cNvSpPr/>
          <p:nvPr/>
        </p:nvSpPr>
        <p:spPr>
          <a:xfrm>
            <a:off x="868680" y="2404872"/>
            <a:ext cx="3127248" cy="310896"/>
          </a:xfrm>
          <a:prstGeom prst="rect">
            <a:avLst/>
          </a:prstGeom>
          <a:noFill/>
          <a:ln/>
        </p:spPr>
        <p:txBody>
          <a:bodyPr wrap="square" rtlCol="0" anchor="ctr"/>
          <a:lstStyle/>
          <a:p>
            <a:pPr indent="0" marL="0">
              <a:buNone/>
            </a:pPr>
            <a:r>
              <a:rPr lang="en-US" sz="900" dirty="0">
                <a:solidFill>
                  <a:srgbClr val="6B8CAE"/>
                </a:solidFill>
              </a:rPr>
              <a:t>Vanilla JavaScript ES6+  —  Core logic</a:t>
            </a:r>
            <a:endParaRPr lang="en-US" sz="900" dirty="0"/>
          </a:p>
        </p:txBody>
      </p:sp>
      <p:sp>
        <p:nvSpPr>
          <p:cNvPr id="19" name="Shape 17"/>
          <p:cNvSpPr/>
          <p:nvPr/>
        </p:nvSpPr>
        <p:spPr>
          <a:xfrm>
            <a:off x="685800" y="2816352"/>
            <a:ext cx="109728" cy="109728"/>
          </a:xfrm>
          <a:prstGeom prst="ellipse">
            <a:avLst/>
          </a:prstGeom>
          <a:solidFill>
            <a:srgbClr val="E8A020"/>
          </a:solidFill>
          <a:ln w="12700">
            <a:solidFill>
              <a:srgbClr val="E8A020"/>
            </a:solidFill>
            <a:prstDash val="solid"/>
          </a:ln>
        </p:spPr>
      </p:sp>
      <p:sp>
        <p:nvSpPr>
          <p:cNvPr id="20" name="Text 18"/>
          <p:cNvSpPr/>
          <p:nvPr/>
        </p:nvSpPr>
        <p:spPr>
          <a:xfrm>
            <a:off x="868680" y="2743200"/>
            <a:ext cx="3127248" cy="310896"/>
          </a:xfrm>
          <a:prstGeom prst="rect">
            <a:avLst/>
          </a:prstGeom>
          <a:noFill/>
          <a:ln/>
        </p:spPr>
        <p:txBody>
          <a:bodyPr wrap="square" rtlCol="0" anchor="ctr"/>
          <a:lstStyle/>
          <a:p>
            <a:pPr indent="0" marL="0">
              <a:buNone/>
            </a:pPr>
            <a:r>
              <a:rPr lang="en-US" sz="900" dirty="0">
                <a:solidFill>
                  <a:srgbClr val="6B8CAE"/>
                </a:solidFill>
              </a:rPr>
              <a:t>PDF.js (Mozilla)  —  Resume text extraction</a:t>
            </a:r>
            <a:endParaRPr lang="en-US" sz="900" dirty="0"/>
          </a:p>
        </p:txBody>
      </p:sp>
      <p:sp>
        <p:nvSpPr>
          <p:cNvPr id="21" name="Shape 19"/>
          <p:cNvSpPr/>
          <p:nvPr/>
        </p:nvSpPr>
        <p:spPr>
          <a:xfrm>
            <a:off x="685800" y="3154680"/>
            <a:ext cx="109728" cy="109728"/>
          </a:xfrm>
          <a:prstGeom prst="ellipse">
            <a:avLst/>
          </a:prstGeom>
          <a:solidFill>
            <a:srgbClr val="E8A020"/>
          </a:solidFill>
          <a:ln w="12700">
            <a:solidFill>
              <a:srgbClr val="E8A020"/>
            </a:solidFill>
            <a:prstDash val="solid"/>
          </a:ln>
        </p:spPr>
      </p:sp>
      <p:sp>
        <p:nvSpPr>
          <p:cNvPr id="22" name="Text 20"/>
          <p:cNvSpPr/>
          <p:nvPr/>
        </p:nvSpPr>
        <p:spPr>
          <a:xfrm>
            <a:off x="868680" y="3081528"/>
            <a:ext cx="3127248" cy="310896"/>
          </a:xfrm>
          <a:prstGeom prst="rect">
            <a:avLst/>
          </a:prstGeom>
          <a:noFill/>
          <a:ln/>
        </p:spPr>
        <p:txBody>
          <a:bodyPr wrap="square" rtlCol="0" anchor="ctr"/>
          <a:lstStyle/>
          <a:p>
            <a:pPr indent="0" marL="0">
              <a:buNone/>
            </a:pPr>
            <a:r>
              <a:rPr lang="en-US" sz="900" dirty="0">
                <a:solidFill>
                  <a:srgbClr val="6B8CAE"/>
                </a:solidFill>
              </a:rPr>
              <a:t>Syne · Outfit · JetBrains Mono  —  Fonts</a:t>
            </a:r>
            <a:endParaRPr lang="en-US" sz="900" dirty="0"/>
          </a:p>
        </p:txBody>
      </p:sp>
      <p:sp>
        <p:nvSpPr>
          <p:cNvPr id="23" name="Shape 21"/>
          <p:cNvSpPr/>
          <p:nvPr/>
        </p:nvSpPr>
        <p:spPr>
          <a:xfrm>
            <a:off x="4361688" y="1207008"/>
            <a:ext cx="3584448" cy="2249424"/>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4" name="Shape 22"/>
          <p:cNvSpPr/>
          <p:nvPr/>
        </p:nvSpPr>
        <p:spPr>
          <a:xfrm>
            <a:off x="4361688" y="1207008"/>
            <a:ext cx="3584448" cy="45720"/>
          </a:xfrm>
          <a:prstGeom prst="rect">
            <a:avLst/>
          </a:prstGeom>
          <a:solidFill>
            <a:srgbClr val="4FC3F7"/>
          </a:solidFill>
          <a:ln w="12700">
            <a:solidFill>
              <a:srgbClr val="4FC3F7"/>
            </a:solidFill>
            <a:prstDash val="solid"/>
          </a:ln>
        </p:spPr>
      </p:sp>
      <p:sp>
        <p:nvSpPr>
          <p:cNvPr id="25" name="Text 23"/>
          <p:cNvSpPr/>
          <p:nvPr/>
        </p:nvSpPr>
        <p:spPr>
          <a:xfrm>
            <a:off x="4526280" y="1316736"/>
            <a:ext cx="3255264" cy="329184"/>
          </a:xfrm>
          <a:prstGeom prst="rect">
            <a:avLst/>
          </a:prstGeom>
          <a:noFill/>
          <a:ln/>
        </p:spPr>
        <p:txBody>
          <a:bodyPr wrap="square" rtlCol="0" anchor="ctr"/>
          <a:lstStyle/>
          <a:p>
            <a:pPr indent="0" marL="0">
              <a:buNone/>
            </a:pPr>
            <a:r>
              <a:rPr lang="en-US" sz="1250" b="1" dirty="0">
                <a:solidFill>
                  <a:srgbClr val="4FC3F7"/>
                </a:solidFill>
                <a:latin typeface="Arial" pitchFamily="34" charset="0"/>
                <a:ea typeface="Arial" pitchFamily="34" charset="-122"/>
                <a:cs typeface="Arial" pitchFamily="34" charset="-120"/>
              </a:rPr>
              <a:t>AI Integration</a:t>
            </a:r>
            <a:endParaRPr lang="en-US" sz="1250" dirty="0"/>
          </a:p>
        </p:txBody>
      </p:sp>
      <p:sp>
        <p:nvSpPr>
          <p:cNvPr id="26" name="Shape 24"/>
          <p:cNvSpPr/>
          <p:nvPr/>
        </p:nvSpPr>
        <p:spPr>
          <a:xfrm>
            <a:off x="4544568" y="1801368"/>
            <a:ext cx="109728" cy="109728"/>
          </a:xfrm>
          <a:prstGeom prst="ellipse">
            <a:avLst/>
          </a:prstGeom>
          <a:solidFill>
            <a:srgbClr val="4FC3F7"/>
          </a:solidFill>
          <a:ln w="12700">
            <a:solidFill>
              <a:srgbClr val="4FC3F7"/>
            </a:solidFill>
            <a:prstDash val="solid"/>
          </a:ln>
        </p:spPr>
      </p:sp>
      <p:sp>
        <p:nvSpPr>
          <p:cNvPr id="27" name="Text 25"/>
          <p:cNvSpPr/>
          <p:nvPr/>
        </p:nvSpPr>
        <p:spPr>
          <a:xfrm>
            <a:off x="4727448" y="1728216"/>
            <a:ext cx="3127248" cy="310896"/>
          </a:xfrm>
          <a:prstGeom prst="rect">
            <a:avLst/>
          </a:prstGeom>
          <a:noFill/>
          <a:ln/>
        </p:spPr>
        <p:txBody>
          <a:bodyPr wrap="square" rtlCol="0" anchor="ctr"/>
          <a:lstStyle/>
          <a:p>
            <a:pPr indent="0" marL="0">
              <a:buNone/>
            </a:pPr>
            <a:r>
              <a:rPr lang="en-US" sz="900" dirty="0">
                <a:solidFill>
                  <a:srgbClr val="6B8CAE"/>
                </a:solidFill>
              </a:rPr>
              <a:t>Anthropic Claude API  —  Bio generation</a:t>
            </a:r>
            <a:endParaRPr lang="en-US" sz="900" dirty="0"/>
          </a:p>
        </p:txBody>
      </p:sp>
      <p:sp>
        <p:nvSpPr>
          <p:cNvPr id="28" name="Shape 26"/>
          <p:cNvSpPr/>
          <p:nvPr/>
        </p:nvSpPr>
        <p:spPr>
          <a:xfrm>
            <a:off x="4544568" y="2139696"/>
            <a:ext cx="109728" cy="109728"/>
          </a:xfrm>
          <a:prstGeom prst="ellipse">
            <a:avLst/>
          </a:prstGeom>
          <a:solidFill>
            <a:srgbClr val="4FC3F7"/>
          </a:solidFill>
          <a:ln w="12700">
            <a:solidFill>
              <a:srgbClr val="4FC3F7"/>
            </a:solidFill>
            <a:prstDash val="solid"/>
          </a:ln>
        </p:spPr>
      </p:sp>
      <p:sp>
        <p:nvSpPr>
          <p:cNvPr id="29" name="Text 27"/>
          <p:cNvSpPr/>
          <p:nvPr/>
        </p:nvSpPr>
        <p:spPr>
          <a:xfrm>
            <a:off x="4727448" y="2066544"/>
            <a:ext cx="3127248" cy="310896"/>
          </a:xfrm>
          <a:prstGeom prst="rect">
            <a:avLst/>
          </a:prstGeom>
          <a:noFill/>
          <a:ln/>
        </p:spPr>
        <p:txBody>
          <a:bodyPr wrap="square" rtlCol="0" anchor="ctr"/>
          <a:lstStyle/>
          <a:p>
            <a:pPr indent="0" marL="0">
              <a:buNone/>
            </a:pPr>
            <a:r>
              <a:rPr lang="en-US" sz="900" dirty="0">
                <a:solidFill>
                  <a:srgbClr val="6B8CAE"/>
                </a:solidFill>
              </a:rPr>
              <a:t>claude-sonnet-4 model</a:t>
            </a:r>
            <a:endParaRPr lang="en-US" sz="900" dirty="0"/>
          </a:p>
        </p:txBody>
      </p:sp>
      <p:sp>
        <p:nvSpPr>
          <p:cNvPr id="30" name="Shape 28"/>
          <p:cNvSpPr/>
          <p:nvPr/>
        </p:nvSpPr>
        <p:spPr>
          <a:xfrm>
            <a:off x="4544568" y="2478024"/>
            <a:ext cx="109728" cy="109728"/>
          </a:xfrm>
          <a:prstGeom prst="ellipse">
            <a:avLst/>
          </a:prstGeom>
          <a:solidFill>
            <a:srgbClr val="4FC3F7"/>
          </a:solidFill>
          <a:ln w="12700">
            <a:solidFill>
              <a:srgbClr val="4FC3F7"/>
            </a:solidFill>
            <a:prstDash val="solid"/>
          </a:ln>
        </p:spPr>
      </p:sp>
      <p:sp>
        <p:nvSpPr>
          <p:cNvPr id="31" name="Text 29"/>
          <p:cNvSpPr/>
          <p:nvPr/>
        </p:nvSpPr>
        <p:spPr>
          <a:xfrm>
            <a:off x="4727448" y="2404872"/>
            <a:ext cx="3127248" cy="310896"/>
          </a:xfrm>
          <a:prstGeom prst="rect">
            <a:avLst/>
          </a:prstGeom>
          <a:noFill/>
          <a:ln/>
        </p:spPr>
        <p:txBody>
          <a:bodyPr wrap="square" rtlCol="0" anchor="ctr"/>
          <a:lstStyle/>
          <a:p>
            <a:pPr indent="0" marL="0">
              <a:buNone/>
            </a:pPr>
            <a:r>
              <a:rPr lang="en-US" sz="900" dirty="0">
                <a:solidFill>
                  <a:srgbClr val="6B8CAE"/>
                </a:solidFill>
              </a:rPr>
              <a:t>Real-time fetch() API calls</a:t>
            </a:r>
            <a:endParaRPr lang="en-US" sz="900" dirty="0"/>
          </a:p>
        </p:txBody>
      </p:sp>
      <p:sp>
        <p:nvSpPr>
          <p:cNvPr id="32" name="Shape 30"/>
          <p:cNvSpPr/>
          <p:nvPr/>
        </p:nvSpPr>
        <p:spPr>
          <a:xfrm>
            <a:off x="4544568" y="2816352"/>
            <a:ext cx="109728" cy="109728"/>
          </a:xfrm>
          <a:prstGeom prst="ellipse">
            <a:avLst/>
          </a:prstGeom>
          <a:solidFill>
            <a:srgbClr val="4FC3F7"/>
          </a:solidFill>
          <a:ln w="12700">
            <a:solidFill>
              <a:srgbClr val="4FC3F7"/>
            </a:solidFill>
            <a:prstDash val="solid"/>
          </a:ln>
        </p:spPr>
      </p:sp>
      <p:sp>
        <p:nvSpPr>
          <p:cNvPr id="33" name="Text 31"/>
          <p:cNvSpPr/>
          <p:nvPr/>
        </p:nvSpPr>
        <p:spPr>
          <a:xfrm>
            <a:off x="4727448" y="2743200"/>
            <a:ext cx="3127248" cy="310896"/>
          </a:xfrm>
          <a:prstGeom prst="rect">
            <a:avLst/>
          </a:prstGeom>
          <a:noFill/>
          <a:ln/>
        </p:spPr>
        <p:txBody>
          <a:bodyPr wrap="square" rtlCol="0" anchor="ctr"/>
          <a:lstStyle/>
          <a:p>
            <a:pPr indent="0" marL="0">
              <a:buNone/>
            </a:pPr>
            <a:r>
              <a:rPr lang="en-US" sz="900" dirty="0">
                <a:solidFill>
                  <a:srgbClr val="6B8CAE"/>
                </a:solidFill>
              </a:rPr>
              <a:t>JSON response parsing</a:t>
            </a:r>
            <a:endParaRPr lang="en-US" sz="900" dirty="0"/>
          </a:p>
        </p:txBody>
      </p:sp>
      <p:sp>
        <p:nvSpPr>
          <p:cNvPr id="34" name="Shape 32"/>
          <p:cNvSpPr/>
          <p:nvPr/>
        </p:nvSpPr>
        <p:spPr>
          <a:xfrm>
            <a:off x="4544568" y="3154680"/>
            <a:ext cx="109728" cy="109728"/>
          </a:xfrm>
          <a:prstGeom prst="ellipse">
            <a:avLst/>
          </a:prstGeom>
          <a:solidFill>
            <a:srgbClr val="4FC3F7"/>
          </a:solidFill>
          <a:ln w="12700">
            <a:solidFill>
              <a:srgbClr val="4FC3F7"/>
            </a:solidFill>
            <a:prstDash val="solid"/>
          </a:ln>
        </p:spPr>
      </p:sp>
      <p:sp>
        <p:nvSpPr>
          <p:cNvPr id="35" name="Text 33"/>
          <p:cNvSpPr/>
          <p:nvPr/>
        </p:nvSpPr>
        <p:spPr>
          <a:xfrm>
            <a:off x="4727448" y="3081528"/>
            <a:ext cx="3127248" cy="310896"/>
          </a:xfrm>
          <a:prstGeom prst="rect">
            <a:avLst/>
          </a:prstGeom>
          <a:noFill/>
          <a:ln/>
        </p:spPr>
        <p:txBody>
          <a:bodyPr wrap="square" rtlCol="0" anchor="ctr"/>
          <a:lstStyle/>
          <a:p>
            <a:pPr indent="0" marL="0">
              <a:buNone/>
            </a:pPr>
            <a:r>
              <a:rPr lang="en-US" sz="900" dirty="0">
                <a:solidFill>
                  <a:srgbClr val="6B8CAE"/>
                </a:solidFill>
              </a:rPr>
              <a:t>Prompt engineering for bios</a:t>
            </a:r>
            <a:endParaRPr lang="en-US" sz="900" dirty="0"/>
          </a:p>
        </p:txBody>
      </p:sp>
      <p:sp>
        <p:nvSpPr>
          <p:cNvPr id="36" name="Shape 34"/>
          <p:cNvSpPr/>
          <p:nvPr/>
        </p:nvSpPr>
        <p:spPr>
          <a:xfrm>
            <a:off x="8220456" y="1207008"/>
            <a:ext cx="3584448" cy="2249424"/>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37" name="Shape 35"/>
          <p:cNvSpPr/>
          <p:nvPr/>
        </p:nvSpPr>
        <p:spPr>
          <a:xfrm>
            <a:off x="8220456" y="1207008"/>
            <a:ext cx="3584448" cy="45720"/>
          </a:xfrm>
          <a:prstGeom prst="rect">
            <a:avLst/>
          </a:prstGeom>
          <a:solidFill>
            <a:srgbClr val="00C9A7"/>
          </a:solidFill>
          <a:ln w="12700">
            <a:solidFill>
              <a:srgbClr val="00C9A7"/>
            </a:solidFill>
            <a:prstDash val="solid"/>
          </a:ln>
        </p:spPr>
      </p:sp>
      <p:sp>
        <p:nvSpPr>
          <p:cNvPr id="38" name="Text 36"/>
          <p:cNvSpPr/>
          <p:nvPr/>
        </p:nvSpPr>
        <p:spPr>
          <a:xfrm>
            <a:off x="8385048" y="1316736"/>
            <a:ext cx="3255264" cy="329184"/>
          </a:xfrm>
          <a:prstGeom prst="rect">
            <a:avLst/>
          </a:prstGeom>
          <a:noFill/>
          <a:ln/>
        </p:spPr>
        <p:txBody>
          <a:bodyPr wrap="square" rtlCol="0" anchor="ctr"/>
          <a:lstStyle/>
          <a:p>
            <a:pPr indent="0" marL="0">
              <a:buNone/>
            </a:pPr>
            <a:r>
              <a:rPr lang="en-US" sz="1250" b="1" dirty="0">
                <a:solidFill>
                  <a:srgbClr val="00C9A7"/>
                </a:solidFill>
                <a:latin typeface="Arial" pitchFamily="34" charset="0"/>
                <a:ea typeface="Arial" pitchFamily="34" charset="-122"/>
                <a:cs typeface="Arial" pitchFamily="34" charset="-120"/>
              </a:rPr>
              <a:t>Auth &amp; Storage</a:t>
            </a:r>
            <a:endParaRPr lang="en-US" sz="1250" dirty="0"/>
          </a:p>
        </p:txBody>
      </p:sp>
      <p:sp>
        <p:nvSpPr>
          <p:cNvPr id="39" name="Shape 37"/>
          <p:cNvSpPr/>
          <p:nvPr/>
        </p:nvSpPr>
        <p:spPr>
          <a:xfrm>
            <a:off x="8403336" y="1801368"/>
            <a:ext cx="109728" cy="109728"/>
          </a:xfrm>
          <a:prstGeom prst="ellipse">
            <a:avLst/>
          </a:prstGeom>
          <a:solidFill>
            <a:srgbClr val="00C9A7"/>
          </a:solidFill>
          <a:ln w="12700">
            <a:solidFill>
              <a:srgbClr val="00C9A7"/>
            </a:solidFill>
            <a:prstDash val="solid"/>
          </a:ln>
        </p:spPr>
      </p:sp>
      <p:sp>
        <p:nvSpPr>
          <p:cNvPr id="40" name="Text 38"/>
          <p:cNvSpPr/>
          <p:nvPr/>
        </p:nvSpPr>
        <p:spPr>
          <a:xfrm>
            <a:off x="8586216" y="1728216"/>
            <a:ext cx="3127248" cy="310896"/>
          </a:xfrm>
          <a:prstGeom prst="rect">
            <a:avLst/>
          </a:prstGeom>
          <a:noFill/>
          <a:ln/>
        </p:spPr>
        <p:txBody>
          <a:bodyPr wrap="square" rtlCol="0" anchor="ctr"/>
          <a:lstStyle/>
          <a:p>
            <a:pPr indent="0" marL="0">
              <a:buNone/>
            </a:pPr>
            <a:r>
              <a:rPr lang="en-US" sz="900" dirty="0">
                <a:solidFill>
                  <a:srgbClr val="6B8CAE"/>
                </a:solidFill>
              </a:rPr>
              <a:t>localStorage  —  User accounts &amp; sessions</a:t>
            </a:r>
            <a:endParaRPr lang="en-US" sz="900" dirty="0"/>
          </a:p>
        </p:txBody>
      </p:sp>
      <p:sp>
        <p:nvSpPr>
          <p:cNvPr id="41" name="Shape 39"/>
          <p:cNvSpPr/>
          <p:nvPr/>
        </p:nvSpPr>
        <p:spPr>
          <a:xfrm>
            <a:off x="8403336" y="2139696"/>
            <a:ext cx="109728" cy="109728"/>
          </a:xfrm>
          <a:prstGeom prst="ellipse">
            <a:avLst/>
          </a:prstGeom>
          <a:solidFill>
            <a:srgbClr val="00C9A7"/>
          </a:solidFill>
          <a:ln w="12700">
            <a:solidFill>
              <a:srgbClr val="00C9A7"/>
            </a:solidFill>
            <a:prstDash val="solid"/>
          </a:ln>
        </p:spPr>
      </p:sp>
      <p:sp>
        <p:nvSpPr>
          <p:cNvPr id="42" name="Text 40"/>
          <p:cNvSpPr/>
          <p:nvPr/>
        </p:nvSpPr>
        <p:spPr>
          <a:xfrm>
            <a:off x="8586216" y="2066544"/>
            <a:ext cx="3127248" cy="310896"/>
          </a:xfrm>
          <a:prstGeom prst="rect">
            <a:avLst/>
          </a:prstGeom>
          <a:noFill/>
          <a:ln/>
        </p:spPr>
        <p:txBody>
          <a:bodyPr wrap="square" rtlCol="0" anchor="ctr"/>
          <a:lstStyle/>
          <a:p>
            <a:pPr indent="0" marL="0">
              <a:buNone/>
            </a:pPr>
            <a:r>
              <a:rPr lang="en-US" sz="900" dirty="0">
                <a:solidFill>
                  <a:srgbClr val="6B8CAE"/>
                </a:solidFill>
              </a:rPr>
              <a:t>Session persistence across page loads</a:t>
            </a:r>
            <a:endParaRPr lang="en-US" sz="900" dirty="0"/>
          </a:p>
        </p:txBody>
      </p:sp>
      <p:sp>
        <p:nvSpPr>
          <p:cNvPr id="43" name="Shape 41"/>
          <p:cNvSpPr/>
          <p:nvPr/>
        </p:nvSpPr>
        <p:spPr>
          <a:xfrm>
            <a:off x="8403336" y="2478024"/>
            <a:ext cx="109728" cy="109728"/>
          </a:xfrm>
          <a:prstGeom prst="ellipse">
            <a:avLst/>
          </a:prstGeom>
          <a:solidFill>
            <a:srgbClr val="00C9A7"/>
          </a:solidFill>
          <a:ln w="12700">
            <a:solidFill>
              <a:srgbClr val="00C9A7"/>
            </a:solidFill>
            <a:prstDash val="solid"/>
          </a:ln>
        </p:spPr>
      </p:sp>
      <p:sp>
        <p:nvSpPr>
          <p:cNvPr id="44" name="Text 42"/>
          <p:cNvSpPr/>
          <p:nvPr/>
        </p:nvSpPr>
        <p:spPr>
          <a:xfrm>
            <a:off x="8586216" y="2404872"/>
            <a:ext cx="3127248" cy="310896"/>
          </a:xfrm>
          <a:prstGeom prst="rect">
            <a:avLst/>
          </a:prstGeom>
          <a:noFill/>
          <a:ln/>
        </p:spPr>
        <p:txBody>
          <a:bodyPr wrap="square" rtlCol="0" anchor="ctr"/>
          <a:lstStyle/>
          <a:p>
            <a:pPr indent="0" marL="0">
              <a:buNone/>
            </a:pPr>
            <a:r>
              <a:rPr lang="en-US" sz="900" dirty="0">
                <a:solidFill>
                  <a:srgbClr val="6B8CAE"/>
                </a:solidFill>
              </a:rPr>
              <a:t>Sign Up / Login / Password Reset flow</a:t>
            </a:r>
            <a:endParaRPr lang="en-US" sz="900" dirty="0"/>
          </a:p>
        </p:txBody>
      </p:sp>
      <p:sp>
        <p:nvSpPr>
          <p:cNvPr id="45" name="Shape 43"/>
          <p:cNvSpPr/>
          <p:nvPr/>
        </p:nvSpPr>
        <p:spPr>
          <a:xfrm>
            <a:off x="8403336" y="2816352"/>
            <a:ext cx="109728" cy="109728"/>
          </a:xfrm>
          <a:prstGeom prst="ellipse">
            <a:avLst/>
          </a:prstGeom>
          <a:solidFill>
            <a:srgbClr val="00C9A7"/>
          </a:solidFill>
          <a:ln w="12700">
            <a:solidFill>
              <a:srgbClr val="00C9A7"/>
            </a:solidFill>
            <a:prstDash val="solid"/>
          </a:ln>
        </p:spPr>
      </p:sp>
      <p:sp>
        <p:nvSpPr>
          <p:cNvPr id="46" name="Text 44"/>
          <p:cNvSpPr/>
          <p:nvPr/>
        </p:nvSpPr>
        <p:spPr>
          <a:xfrm>
            <a:off x="8586216" y="2743200"/>
            <a:ext cx="3127248" cy="310896"/>
          </a:xfrm>
          <a:prstGeom prst="rect">
            <a:avLst/>
          </a:prstGeom>
          <a:noFill/>
          <a:ln/>
        </p:spPr>
        <p:txBody>
          <a:bodyPr wrap="square" rtlCol="0" anchor="ctr"/>
          <a:lstStyle/>
          <a:p>
            <a:pPr indent="0" marL="0">
              <a:buNone/>
            </a:pPr>
            <a:r>
              <a:rPr lang="en-US" sz="900" dirty="0">
                <a:solidFill>
                  <a:srgbClr val="6B8CAE"/>
                </a:solidFill>
              </a:rPr>
              <a:t>Tab-toggle UI between auth modes</a:t>
            </a:r>
            <a:endParaRPr lang="en-US" sz="900" dirty="0"/>
          </a:p>
        </p:txBody>
      </p:sp>
      <p:sp>
        <p:nvSpPr>
          <p:cNvPr id="47" name="Shape 45"/>
          <p:cNvSpPr/>
          <p:nvPr/>
        </p:nvSpPr>
        <p:spPr>
          <a:xfrm>
            <a:off x="8403336" y="3154680"/>
            <a:ext cx="109728" cy="109728"/>
          </a:xfrm>
          <a:prstGeom prst="ellipse">
            <a:avLst/>
          </a:prstGeom>
          <a:solidFill>
            <a:srgbClr val="00C9A7"/>
          </a:solidFill>
          <a:ln w="12700">
            <a:solidFill>
              <a:srgbClr val="00C9A7"/>
            </a:solidFill>
            <a:prstDash val="solid"/>
          </a:ln>
        </p:spPr>
      </p:sp>
      <p:sp>
        <p:nvSpPr>
          <p:cNvPr id="48" name="Text 46"/>
          <p:cNvSpPr/>
          <p:nvPr/>
        </p:nvSpPr>
        <p:spPr>
          <a:xfrm>
            <a:off x="8586216" y="3081528"/>
            <a:ext cx="3127248" cy="310896"/>
          </a:xfrm>
          <a:prstGeom prst="rect">
            <a:avLst/>
          </a:prstGeom>
          <a:noFill/>
          <a:ln/>
        </p:spPr>
        <p:txBody>
          <a:bodyPr wrap="square" rtlCol="0" anchor="ctr"/>
          <a:lstStyle/>
          <a:p>
            <a:pPr indent="0" marL="0">
              <a:buNone/>
            </a:pPr>
            <a:r>
              <a:rPr lang="en-US" sz="900" dirty="0">
                <a:solidFill>
                  <a:srgbClr val="6B8CAE"/>
                </a:solidFill>
              </a:rPr>
              <a:t>Email + Password validation</a:t>
            </a:r>
            <a:endParaRPr lang="en-US" sz="900" dirty="0"/>
          </a:p>
        </p:txBody>
      </p:sp>
      <p:sp>
        <p:nvSpPr>
          <p:cNvPr id="49" name="Shape 47"/>
          <p:cNvSpPr/>
          <p:nvPr/>
        </p:nvSpPr>
        <p:spPr>
          <a:xfrm>
            <a:off x="502920" y="3657600"/>
            <a:ext cx="3584448" cy="2249424"/>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50" name="Shape 48"/>
          <p:cNvSpPr/>
          <p:nvPr/>
        </p:nvSpPr>
        <p:spPr>
          <a:xfrm>
            <a:off x="502920" y="3657600"/>
            <a:ext cx="3584448" cy="45720"/>
          </a:xfrm>
          <a:prstGeom prst="rect">
            <a:avLst/>
          </a:prstGeom>
          <a:solidFill>
            <a:srgbClr val="F5C842"/>
          </a:solidFill>
          <a:ln w="12700">
            <a:solidFill>
              <a:srgbClr val="F5C842"/>
            </a:solidFill>
            <a:prstDash val="solid"/>
          </a:ln>
        </p:spPr>
      </p:sp>
      <p:sp>
        <p:nvSpPr>
          <p:cNvPr id="51" name="Text 49"/>
          <p:cNvSpPr/>
          <p:nvPr/>
        </p:nvSpPr>
        <p:spPr>
          <a:xfrm>
            <a:off x="667512" y="3767328"/>
            <a:ext cx="3255264" cy="329184"/>
          </a:xfrm>
          <a:prstGeom prst="rect">
            <a:avLst/>
          </a:prstGeom>
          <a:noFill/>
          <a:ln/>
        </p:spPr>
        <p:txBody>
          <a:bodyPr wrap="square" rtlCol="0" anchor="ctr"/>
          <a:lstStyle/>
          <a:p>
            <a:pPr indent="0" marL="0">
              <a:buNone/>
            </a:pPr>
            <a:r>
              <a:rPr lang="en-US" sz="1250" b="1" dirty="0">
                <a:solidFill>
                  <a:srgbClr val="F5C842"/>
                </a:solidFill>
                <a:latin typeface="Arial" pitchFamily="34" charset="0"/>
                <a:ea typeface="Arial" pitchFamily="34" charset="-122"/>
                <a:cs typeface="Arial" pitchFamily="34" charset="-120"/>
              </a:rPr>
              <a:t>Portfolio Engine</a:t>
            </a:r>
            <a:endParaRPr lang="en-US" sz="1250" dirty="0"/>
          </a:p>
        </p:txBody>
      </p:sp>
      <p:sp>
        <p:nvSpPr>
          <p:cNvPr id="52" name="Shape 50"/>
          <p:cNvSpPr/>
          <p:nvPr/>
        </p:nvSpPr>
        <p:spPr>
          <a:xfrm>
            <a:off x="685800" y="4251960"/>
            <a:ext cx="109728" cy="109728"/>
          </a:xfrm>
          <a:prstGeom prst="ellipse">
            <a:avLst/>
          </a:prstGeom>
          <a:solidFill>
            <a:srgbClr val="F5C842"/>
          </a:solidFill>
          <a:ln w="12700">
            <a:solidFill>
              <a:srgbClr val="F5C842"/>
            </a:solidFill>
            <a:prstDash val="solid"/>
          </a:ln>
        </p:spPr>
      </p:sp>
      <p:sp>
        <p:nvSpPr>
          <p:cNvPr id="53" name="Text 51"/>
          <p:cNvSpPr/>
          <p:nvPr/>
        </p:nvSpPr>
        <p:spPr>
          <a:xfrm>
            <a:off x="868680" y="4178808"/>
            <a:ext cx="3127248" cy="310896"/>
          </a:xfrm>
          <a:prstGeom prst="rect">
            <a:avLst/>
          </a:prstGeom>
          <a:noFill/>
          <a:ln/>
        </p:spPr>
        <p:txBody>
          <a:bodyPr wrap="square" rtlCol="0" anchor="ctr"/>
          <a:lstStyle/>
          <a:p>
            <a:pPr indent="0" marL="0">
              <a:buNone/>
            </a:pPr>
            <a:r>
              <a:rPr lang="en-US" sz="900" dirty="0">
                <a:solidFill>
                  <a:srgbClr val="6B8CAE"/>
                </a:solidFill>
              </a:rPr>
              <a:t>20 template renderers (dark + light)</a:t>
            </a:r>
            <a:endParaRPr lang="en-US" sz="900" dirty="0"/>
          </a:p>
        </p:txBody>
      </p:sp>
      <p:sp>
        <p:nvSpPr>
          <p:cNvPr id="54" name="Shape 52"/>
          <p:cNvSpPr/>
          <p:nvPr/>
        </p:nvSpPr>
        <p:spPr>
          <a:xfrm>
            <a:off x="685800" y="4590288"/>
            <a:ext cx="109728" cy="109728"/>
          </a:xfrm>
          <a:prstGeom prst="ellipse">
            <a:avLst/>
          </a:prstGeom>
          <a:solidFill>
            <a:srgbClr val="F5C842"/>
          </a:solidFill>
          <a:ln w="12700">
            <a:solidFill>
              <a:srgbClr val="F5C842"/>
            </a:solidFill>
            <a:prstDash val="solid"/>
          </a:ln>
        </p:spPr>
      </p:sp>
      <p:sp>
        <p:nvSpPr>
          <p:cNvPr id="55" name="Text 53"/>
          <p:cNvSpPr/>
          <p:nvPr/>
        </p:nvSpPr>
        <p:spPr>
          <a:xfrm>
            <a:off x="868680" y="4517136"/>
            <a:ext cx="3127248" cy="310896"/>
          </a:xfrm>
          <a:prstGeom prst="rect">
            <a:avLst/>
          </a:prstGeom>
          <a:noFill/>
          <a:ln/>
        </p:spPr>
        <p:txBody>
          <a:bodyPr wrap="square" rtlCol="0" anchor="ctr"/>
          <a:lstStyle/>
          <a:p>
            <a:pPr indent="0" marL="0">
              <a:buNone/>
            </a:pPr>
            <a:r>
              <a:rPr lang="en-US" sz="900" dirty="0">
                <a:solidFill>
                  <a:srgbClr val="6B8CAE"/>
                </a:solidFill>
              </a:rPr>
              <a:t>Dynamic HTML string generation</a:t>
            </a:r>
            <a:endParaRPr lang="en-US" sz="900" dirty="0"/>
          </a:p>
        </p:txBody>
      </p:sp>
      <p:sp>
        <p:nvSpPr>
          <p:cNvPr id="56" name="Shape 54"/>
          <p:cNvSpPr/>
          <p:nvPr/>
        </p:nvSpPr>
        <p:spPr>
          <a:xfrm>
            <a:off x="685800" y="4928616"/>
            <a:ext cx="109728" cy="109728"/>
          </a:xfrm>
          <a:prstGeom prst="ellipse">
            <a:avLst/>
          </a:prstGeom>
          <a:solidFill>
            <a:srgbClr val="F5C842"/>
          </a:solidFill>
          <a:ln w="12700">
            <a:solidFill>
              <a:srgbClr val="F5C842"/>
            </a:solidFill>
            <a:prstDash val="solid"/>
          </a:ln>
        </p:spPr>
      </p:sp>
      <p:sp>
        <p:nvSpPr>
          <p:cNvPr id="57" name="Text 55"/>
          <p:cNvSpPr/>
          <p:nvPr/>
        </p:nvSpPr>
        <p:spPr>
          <a:xfrm>
            <a:off x="868680" y="4855464"/>
            <a:ext cx="3127248" cy="310896"/>
          </a:xfrm>
          <a:prstGeom prst="rect">
            <a:avLst/>
          </a:prstGeom>
          <a:noFill/>
          <a:ln/>
        </p:spPr>
        <p:txBody>
          <a:bodyPr wrap="square" rtlCol="0" anchor="ctr"/>
          <a:lstStyle/>
          <a:p>
            <a:pPr indent="0" marL="0">
              <a:buNone/>
            </a:pPr>
            <a:r>
              <a:rPr lang="en-US" sz="900" dirty="0">
                <a:solidFill>
                  <a:srgbClr val="6B8CAE"/>
                </a:solidFill>
              </a:rPr>
              <a:t>Base64 photo &amp; resume embedding</a:t>
            </a:r>
            <a:endParaRPr lang="en-US" sz="900" dirty="0"/>
          </a:p>
        </p:txBody>
      </p:sp>
      <p:sp>
        <p:nvSpPr>
          <p:cNvPr id="58" name="Shape 56"/>
          <p:cNvSpPr/>
          <p:nvPr/>
        </p:nvSpPr>
        <p:spPr>
          <a:xfrm>
            <a:off x="685800" y="5266944"/>
            <a:ext cx="109728" cy="109728"/>
          </a:xfrm>
          <a:prstGeom prst="ellipse">
            <a:avLst/>
          </a:prstGeom>
          <a:solidFill>
            <a:srgbClr val="F5C842"/>
          </a:solidFill>
          <a:ln w="12700">
            <a:solidFill>
              <a:srgbClr val="F5C842"/>
            </a:solidFill>
            <a:prstDash val="solid"/>
          </a:ln>
        </p:spPr>
      </p:sp>
      <p:sp>
        <p:nvSpPr>
          <p:cNvPr id="59" name="Text 57"/>
          <p:cNvSpPr/>
          <p:nvPr/>
        </p:nvSpPr>
        <p:spPr>
          <a:xfrm>
            <a:off x="868680" y="5193792"/>
            <a:ext cx="3127248" cy="310896"/>
          </a:xfrm>
          <a:prstGeom prst="rect">
            <a:avLst/>
          </a:prstGeom>
          <a:noFill/>
          <a:ln/>
        </p:spPr>
        <p:txBody>
          <a:bodyPr wrap="square" rtlCol="0" anchor="ctr"/>
          <a:lstStyle/>
          <a:p>
            <a:pPr indent="0" marL="0">
              <a:buNone/>
            </a:pPr>
            <a:r>
              <a:rPr lang="en-US" sz="900" dirty="0">
                <a:solidFill>
                  <a:srgbClr val="6B8CAE"/>
                </a:solidFill>
              </a:rPr>
              <a:t>One-click HTML download via Blob</a:t>
            </a:r>
            <a:endParaRPr lang="en-US" sz="900" dirty="0"/>
          </a:p>
        </p:txBody>
      </p:sp>
      <p:sp>
        <p:nvSpPr>
          <p:cNvPr id="60" name="Shape 58"/>
          <p:cNvSpPr/>
          <p:nvPr/>
        </p:nvSpPr>
        <p:spPr>
          <a:xfrm>
            <a:off x="685800" y="5605272"/>
            <a:ext cx="109728" cy="109728"/>
          </a:xfrm>
          <a:prstGeom prst="ellipse">
            <a:avLst/>
          </a:prstGeom>
          <a:solidFill>
            <a:srgbClr val="F5C842"/>
          </a:solidFill>
          <a:ln w="12700">
            <a:solidFill>
              <a:srgbClr val="F5C842"/>
            </a:solidFill>
            <a:prstDash val="solid"/>
          </a:ln>
        </p:spPr>
      </p:sp>
      <p:sp>
        <p:nvSpPr>
          <p:cNvPr id="61" name="Text 59"/>
          <p:cNvSpPr/>
          <p:nvPr/>
        </p:nvSpPr>
        <p:spPr>
          <a:xfrm>
            <a:off x="868680" y="5532120"/>
            <a:ext cx="3127248" cy="310896"/>
          </a:xfrm>
          <a:prstGeom prst="rect">
            <a:avLst/>
          </a:prstGeom>
          <a:noFill/>
          <a:ln/>
        </p:spPr>
        <p:txBody>
          <a:bodyPr wrap="square" rtlCol="0" anchor="ctr"/>
          <a:lstStyle/>
          <a:p>
            <a:pPr indent="0" marL="0">
              <a:buNone/>
            </a:pPr>
            <a:r>
              <a:rPr lang="en-US" sz="900" dirty="0">
                <a:solidFill>
                  <a:srgbClr val="6B8CAE"/>
                </a:solidFill>
              </a:rPr>
              <a:t>Accent color picker + presets</a:t>
            </a:r>
            <a:endParaRPr lang="en-US" sz="900" dirty="0"/>
          </a:p>
        </p:txBody>
      </p:sp>
      <p:sp>
        <p:nvSpPr>
          <p:cNvPr id="62" name="Shape 60"/>
          <p:cNvSpPr/>
          <p:nvPr/>
        </p:nvSpPr>
        <p:spPr>
          <a:xfrm>
            <a:off x="4361688" y="3657600"/>
            <a:ext cx="3584448" cy="2249424"/>
          </a:xfrm>
          <a:prstGeom prst="rect">
            <a:avLst/>
          </a:prstGeom>
          <a:solidFill>
            <a:srgbClr val="152542"/>
          </a:solidFill>
          <a:ln w="12700">
            <a:solidFill>
              <a:srgbClr val="FF8C42">
                <a:alpha val="50000"/>
              </a:srgbClr>
            </a:solidFill>
            <a:prstDash val="solid"/>
          </a:ln>
          <a:effectLst>
            <a:outerShdw sx="100000" sy="100000" kx="0" ky="0" algn="bl" rotWithShape="0" blurRad="127000" dist="38100" dir="8100000">
              <a:srgbClr val="000000">
                <a:alpha val="25000"/>
              </a:srgbClr>
            </a:outerShdw>
          </a:effectLst>
        </p:spPr>
      </p:sp>
      <p:sp>
        <p:nvSpPr>
          <p:cNvPr id="63" name="Shape 61"/>
          <p:cNvSpPr/>
          <p:nvPr/>
        </p:nvSpPr>
        <p:spPr>
          <a:xfrm>
            <a:off x="4361688" y="3657600"/>
            <a:ext cx="3584448" cy="45720"/>
          </a:xfrm>
          <a:prstGeom prst="rect">
            <a:avLst/>
          </a:prstGeom>
          <a:solidFill>
            <a:srgbClr val="FF8C42"/>
          </a:solidFill>
          <a:ln w="12700">
            <a:solidFill>
              <a:srgbClr val="FF8C42"/>
            </a:solidFill>
            <a:prstDash val="solid"/>
          </a:ln>
        </p:spPr>
      </p:sp>
      <p:sp>
        <p:nvSpPr>
          <p:cNvPr id="64" name="Text 62"/>
          <p:cNvSpPr/>
          <p:nvPr/>
        </p:nvSpPr>
        <p:spPr>
          <a:xfrm>
            <a:off x="4526280" y="3767328"/>
            <a:ext cx="3255264" cy="329184"/>
          </a:xfrm>
          <a:prstGeom prst="rect">
            <a:avLst/>
          </a:prstGeom>
          <a:noFill/>
          <a:ln/>
        </p:spPr>
        <p:txBody>
          <a:bodyPr wrap="square" rtlCol="0" anchor="ctr"/>
          <a:lstStyle/>
          <a:p>
            <a:pPr indent="0" marL="0">
              <a:buNone/>
            </a:pPr>
            <a:r>
              <a:rPr lang="en-US" sz="1250" b="1" dirty="0">
                <a:solidFill>
                  <a:srgbClr val="FF8C42"/>
                </a:solidFill>
                <a:latin typeface="Arial" pitchFamily="34" charset="0"/>
                <a:ea typeface="Arial" pitchFamily="34" charset="-122"/>
                <a:cs typeface="Arial" pitchFamily="34" charset="-120"/>
              </a:rPr>
              <a:t>Tools &amp; Software</a:t>
            </a:r>
            <a:endParaRPr lang="en-US" sz="1250" dirty="0"/>
          </a:p>
        </p:txBody>
      </p:sp>
      <p:sp>
        <p:nvSpPr>
          <p:cNvPr id="65" name="Shape 63"/>
          <p:cNvSpPr/>
          <p:nvPr/>
        </p:nvSpPr>
        <p:spPr>
          <a:xfrm>
            <a:off x="4544568" y="4251960"/>
            <a:ext cx="109728" cy="109728"/>
          </a:xfrm>
          <a:prstGeom prst="ellipse">
            <a:avLst/>
          </a:prstGeom>
          <a:solidFill>
            <a:srgbClr val="FF8C42"/>
          </a:solidFill>
          <a:ln w="12700">
            <a:solidFill>
              <a:srgbClr val="FF8C42"/>
            </a:solidFill>
            <a:prstDash val="solid"/>
          </a:ln>
        </p:spPr>
      </p:sp>
      <p:sp>
        <p:nvSpPr>
          <p:cNvPr id="66" name="Text 64"/>
          <p:cNvSpPr/>
          <p:nvPr/>
        </p:nvSpPr>
        <p:spPr>
          <a:xfrm>
            <a:off x="4727448" y="4178808"/>
            <a:ext cx="3127248" cy="310896"/>
          </a:xfrm>
          <a:prstGeom prst="rect">
            <a:avLst/>
          </a:prstGeom>
          <a:noFill/>
          <a:ln/>
        </p:spPr>
        <p:txBody>
          <a:bodyPr wrap="square" rtlCol="0" anchor="ctr"/>
          <a:lstStyle/>
          <a:p>
            <a:pPr indent="0" marL="0">
              <a:buNone/>
            </a:pPr>
            <a:r>
              <a:rPr lang="en-US" sz="900" dirty="0">
                <a:solidFill>
                  <a:srgbClr val="6B8CAE"/>
                </a:solidFill>
              </a:rPr>
              <a:t>VS Code  —  Code editor</a:t>
            </a:r>
            <a:endParaRPr lang="en-US" sz="900" dirty="0"/>
          </a:p>
        </p:txBody>
      </p:sp>
      <p:sp>
        <p:nvSpPr>
          <p:cNvPr id="67" name="Shape 65"/>
          <p:cNvSpPr/>
          <p:nvPr/>
        </p:nvSpPr>
        <p:spPr>
          <a:xfrm>
            <a:off x="4544568" y="4590288"/>
            <a:ext cx="109728" cy="109728"/>
          </a:xfrm>
          <a:prstGeom prst="ellipse">
            <a:avLst/>
          </a:prstGeom>
          <a:solidFill>
            <a:srgbClr val="FF8C42"/>
          </a:solidFill>
          <a:ln w="12700">
            <a:solidFill>
              <a:srgbClr val="FF8C42"/>
            </a:solidFill>
            <a:prstDash val="solid"/>
          </a:ln>
        </p:spPr>
      </p:sp>
      <p:sp>
        <p:nvSpPr>
          <p:cNvPr id="68" name="Text 66"/>
          <p:cNvSpPr/>
          <p:nvPr/>
        </p:nvSpPr>
        <p:spPr>
          <a:xfrm>
            <a:off x="4727448" y="4517136"/>
            <a:ext cx="3127248" cy="310896"/>
          </a:xfrm>
          <a:prstGeom prst="rect">
            <a:avLst/>
          </a:prstGeom>
          <a:noFill/>
          <a:ln/>
        </p:spPr>
        <p:txBody>
          <a:bodyPr wrap="square" rtlCol="0" anchor="ctr"/>
          <a:lstStyle/>
          <a:p>
            <a:pPr indent="0" marL="0">
              <a:buNone/>
            </a:pPr>
            <a:r>
              <a:rPr lang="en-US" sz="900" dirty="0">
                <a:solidFill>
                  <a:srgbClr val="6B8CAE"/>
                </a:solidFill>
              </a:rPr>
              <a:t>GitHub  —  Version control</a:t>
            </a:r>
            <a:endParaRPr lang="en-US" sz="900" dirty="0"/>
          </a:p>
        </p:txBody>
      </p:sp>
      <p:sp>
        <p:nvSpPr>
          <p:cNvPr id="69" name="Shape 67"/>
          <p:cNvSpPr/>
          <p:nvPr/>
        </p:nvSpPr>
        <p:spPr>
          <a:xfrm>
            <a:off x="4544568" y="4928616"/>
            <a:ext cx="109728" cy="109728"/>
          </a:xfrm>
          <a:prstGeom prst="ellipse">
            <a:avLst/>
          </a:prstGeom>
          <a:solidFill>
            <a:srgbClr val="FF8C42"/>
          </a:solidFill>
          <a:ln w="12700">
            <a:solidFill>
              <a:srgbClr val="FF8C42"/>
            </a:solidFill>
            <a:prstDash val="solid"/>
          </a:ln>
        </p:spPr>
      </p:sp>
      <p:sp>
        <p:nvSpPr>
          <p:cNvPr id="70" name="Text 68"/>
          <p:cNvSpPr/>
          <p:nvPr/>
        </p:nvSpPr>
        <p:spPr>
          <a:xfrm>
            <a:off x="4727448" y="4855464"/>
            <a:ext cx="3127248" cy="310896"/>
          </a:xfrm>
          <a:prstGeom prst="rect">
            <a:avLst/>
          </a:prstGeom>
          <a:noFill/>
          <a:ln/>
        </p:spPr>
        <p:txBody>
          <a:bodyPr wrap="square" rtlCol="0" anchor="ctr"/>
          <a:lstStyle/>
          <a:p>
            <a:pPr indent="0" marL="0">
              <a:buNone/>
            </a:pPr>
            <a:r>
              <a:rPr lang="en-US" sz="900" dirty="0">
                <a:solidFill>
                  <a:srgbClr val="6B8CAE"/>
                </a:solidFill>
              </a:rPr>
              <a:t>Google Chrome DevTools  —  Debugging</a:t>
            </a:r>
            <a:endParaRPr lang="en-US" sz="900" dirty="0"/>
          </a:p>
        </p:txBody>
      </p:sp>
      <p:sp>
        <p:nvSpPr>
          <p:cNvPr id="71" name="Shape 69"/>
          <p:cNvSpPr/>
          <p:nvPr/>
        </p:nvSpPr>
        <p:spPr>
          <a:xfrm>
            <a:off x="4544568" y="5266944"/>
            <a:ext cx="109728" cy="109728"/>
          </a:xfrm>
          <a:prstGeom prst="ellipse">
            <a:avLst/>
          </a:prstGeom>
          <a:solidFill>
            <a:srgbClr val="FF8C42"/>
          </a:solidFill>
          <a:ln w="12700">
            <a:solidFill>
              <a:srgbClr val="FF8C42"/>
            </a:solidFill>
            <a:prstDash val="solid"/>
          </a:ln>
        </p:spPr>
      </p:sp>
      <p:sp>
        <p:nvSpPr>
          <p:cNvPr id="72" name="Text 70"/>
          <p:cNvSpPr/>
          <p:nvPr/>
        </p:nvSpPr>
        <p:spPr>
          <a:xfrm>
            <a:off x="4727448" y="5193792"/>
            <a:ext cx="3127248" cy="310896"/>
          </a:xfrm>
          <a:prstGeom prst="rect">
            <a:avLst/>
          </a:prstGeom>
          <a:noFill/>
          <a:ln/>
        </p:spPr>
        <p:txBody>
          <a:bodyPr wrap="square" rtlCol="0" anchor="ctr"/>
          <a:lstStyle/>
          <a:p>
            <a:pPr indent="0" marL="0">
              <a:buNone/>
            </a:pPr>
            <a:r>
              <a:rPr lang="en-US" sz="900" dirty="0">
                <a:solidFill>
                  <a:srgbClr val="6B8CAE"/>
                </a:solidFill>
              </a:rPr>
              <a:t>Claude AI  —  Code generation</a:t>
            </a:r>
            <a:endParaRPr lang="en-US" sz="900" dirty="0"/>
          </a:p>
        </p:txBody>
      </p:sp>
      <p:sp>
        <p:nvSpPr>
          <p:cNvPr id="73" name="Shape 71"/>
          <p:cNvSpPr/>
          <p:nvPr/>
        </p:nvSpPr>
        <p:spPr>
          <a:xfrm>
            <a:off x="4544568" y="5605272"/>
            <a:ext cx="109728" cy="109728"/>
          </a:xfrm>
          <a:prstGeom prst="ellipse">
            <a:avLst/>
          </a:prstGeom>
          <a:solidFill>
            <a:srgbClr val="FF8C42"/>
          </a:solidFill>
          <a:ln w="12700">
            <a:solidFill>
              <a:srgbClr val="FF8C42"/>
            </a:solidFill>
            <a:prstDash val="solid"/>
          </a:ln>
        </p:spPr>
      </p:sp>
      <p:sp>
        <p:nvSpPr>
          <p:cNvPr id="74" name="Text 72"/>
          <p:cNvSpPr/>
          <p:nvPr/>
        </p:nvSpPr>
        <p:spPr>
          <a:xfrm>
            <a:off x="4727448" y="5532120"/>
            <a:ext cx="3127248" cy="310896"/>
          </a:xfrm>
          <a:prstGeom prst="rect">
            <a:avLst/>
          </a:prstGeom>
          <a:noFill/>
          <a:ln/>
        </p:spPr>
        <p:txBody>
          <a:bodyPr wrap="square" rtlCol="0" anchor="ctr"/>
          <a:lstStyle/>
          <a:p>
            <a:pPr indent="0" marL="0">
              <a:buNone/>
            </a:pPr>
            <a:r>
              <a:rPr lang="en-US" sz="900" dirty="0">
                <a:solidFill>
                  <a:srgbClr val="6B8CAE"/>
                </a:solidFill>
              </a:rPr>
              <a:t>Google Gemini  —  Reference &amp; research</a:t>
            </a:r>
            <a:endParaRPr lang="en-US" sz="900" dirty="0"/>
          </a:p>
        </p:txBody>
      </p:sp>
      <p:sp>
        <p:nvSpPr>
          <p:cNvPr id="75" name="Shape 73"/>
          <p:cNvSpPr/>
          <p:nvPr/>
        </p:nvSpPr>
        <p:spPr>
          <a:xfrm>
            <a:off x="8220456" y="3657600"/>
            <a:ext cx="3584448" cy="2249424"/>
          </a:xfrm>
          <a:prstGeom prst="rect">
            <a:avLst/>
          </a:prstGeom>
          <a:solidFill>
            <a:srgbClr val="152542"/>
          </a:solidFill>
          <a:ln w="12700">
            <a:solidFill>
              <a:srgbClr val="00E5CC">
                <a:alpha val="50000"/>
              </a:srgbClr>
            </a:solidFill>
            <a:prstDash val="solid"/>
          </a:ln>
          <a:effectLst>
            <a:outerShdw sx="100000" sy="100000" kx="0" ky="0" algn="bl" rotWithShape="0" blurRad="127000" dist="38100" dir="8100000">
              <a:srgbClr val="000000">
                <a:alpha val="25000"/>
              </a:srgbClr>
            </a:outerShdw>
          </a:effectLst>
        </p:spPr>
      </p:sp>
      <p:sp>
        <p:nvSpPr>
          <p:cNvPr id="76" name="Shape 74"/>
          <p:cNvSpPr/>
          <p:nvPr/>
        </p:nvSpPr>
        <p:spPr>
          <a:xfrm>
            <a:off x="8220456" y="3657600"/>
            <a:ext cx="3584448" cy="45720"/>
          </a:xfrm>
          <a:prstGeom prst="rect">
            <a:avLst/>
          </a:prstGeom>
          <a:solidFill>
            <a:srgbClr val="00E5CC"/>
          </a:solidFill>
          <a:ln w="12700">
            <a:solidFill>
              <a:srgbClr val="00E5CC"/>
            </a:solidFill>
            <a:prstDash val="solid"/>
          </a:ln>
        </p:spPr>
      </p:sp>
      <p:sp>
        <p:nvSpPr>
          <p:cNvPr id="77" name="Text 75"/>
          <p:cNvSpPr/>
          <p:nvPr/>
        </p:nvSpPr>
        <p:spPr>
          <a:xfrm>
            <a:off x="8385048" y="3767328"/>
            <a:ext cx="3255264" cy="329184"/>
          </a:xfrm>
          <a:prstGeom prst="rect">
            <a:avLst/>
          </a:prstGeom>
          <a:noFill/>
          <a:ln/>
        </p:spPr>
        <p:txBody>
          <a:bodyPr wrap="square" rtlCol="0" anchor="ctr"/>
          <a:lstStyle/>
          <a:p>
            <a:pPr indent="0" marL="0">
              <a:buNone/>
            </a:pPr>
            <a:r>
              <a:rPr lang="en-US" sz="1250" b="1" dirty="0">
                <a:solidFill>
                  <a:srgbClr val="00E5CC"/>
                </a:solidFill>
                <a:latin typeface="Arial" pitchFamily="34" charset="0"/>
                <a:ea typeface="Arial" pitchFamily="34" charset="-122"/>
                <a:cs typeface="Arial" pitchFamily="34" charset="-120"/>
              </a:rPr>
              <a:t>Design System</a:t>
            </a:r>
            <a:endParaRPr lang="en-US" sz="1250" dirty="0"/>
          </a:p>
        </p:txBody>
      </p:sp>
      <p:sp>
        <p:nvSpPr>
          <p:cNvPr id="78" name="Shape 76"/>
          <p:cNvSpPr/>
          <p:nvPr/>
        </p:nvSpPr>
        <p:spPr>
          <a:xfrm>
            <a:off x="8403336" y="4251960"/>
            <a:ext cx="109728" cy="109728"/>
          </a:xfrm>
          <a:prstGeom prst="ellipse">
            <a:avLst/>
          </a:prstGeom>
          <a:solidFill>
            <a:srgbClr val="00E5CC"/>
          </a:solidFill>
          <a:ln w="12700">
            <a:solidFill>
              <a:srgbClr val="00E5CC"/>
            </a:solidFill>
            <a:prstDash val="solid"/>
          </a:ln>
        </p:spPr>
      </p:sp>
      <p:sp>
        <p:nvSpPr>
          <p:cNvPr id="79" name="Text 77"/>
          <p:cNvSpPr/>
          <p:nvPr/>
        </p:nvSpPr>
        <p:spPr>
          <a:xfrm>
            <a:off x="8586216" y="4178808"/>
            <a:ext cx="3127248" cy="310896"/>
          </a:xfrm>
          <a:prstGeom prst="rect">
            <a:avLst/>
          </a:prstGeom>
          <a:noFill/>
          <a:ln/>
        </p:spPr>
        <p:txBody>
          <a:bodyPr wrap="square" rtlCol="0" anchor="ctr"/>
          <a:lstStyle/>
          <a:p>
            <a:pPr indent="0" marL="0">
              <a:buNone/>
            </a:pPr>
            <a:r>
              <a:rPr lang="en-US" sz="900" dirty="0">
                <a:solidFill>
                  <a:srgbClr val="6B8CAE"/>
                </a:solidFill>
              </a:rPr>
              <a:t>CSS Custom Properties (theming)</a:t>
            </a:r>
            <a:endParaRPr lang="en-US" sz="900" dirty="0"/>
          </a:p>
        </p:txBody>
      </p:sp>
      <p:sp>
        <p:nvSpPr>
          <p:cNvPr id="80" name="Shape 78"/>
          <p:cNvSpPr/>
          <p:nvPr/>
        </p:nvSpPr>
        <p:spPr>
          <a:xfrm>
            <a:off x="8403336" y="4590288"/>
            <a:ext cx="109728" cy="109728"/>
          </a:xfrm>
          <a:prstGeom prst="ellipse">
            <a:avLst/>
          </a:prstGeom>
          <a:solidFill>
            <a:srgbClr val="00E5CC"/>
          </a:solidFill>
          <a:ln w="12700">
            <a:solidFill>
              <a:srgbClr val="00E5CC"/>
            </a:solidFill>
            <a:prstDash val="solid"/>
          </a:ln>
        </p:spPr>
      </p:sp>
      <p:sp>
        <p:nvSpPr>
          <p:cNvPr id="81" name="Text 79"/>
          <p:cNvSpPr/>
          <p:nvPr/>
        </p:nvSpPr>
        <p:spPr>
          <a:xfrm>
            <a:off x="8586216" y="4517136"/>
            <a:ext cx="3127248" cy="310896"/>
          </a:xfrm>
          <a:prstGeom prst="rect">
            <a:avLst/>
          </a:prstGeom>
          <a:noFill/>
          <a:ln/>
        </p:spPr>
        <p:txBody>
          <a:bodyPr wrap="square" rtlCol="0" anchor="ctr"/>
          <a:lstStyle/>
          <a:p>
            <a:pPr indent="0" marL="0">
              <a:buNone/>
            </a:pPr>
            <a:r>
              <a:rPr lang="en-US" sz="900" dirty="0">
                <a:solidFill>
                  <a:srgbClr val="6B8CAE"/>
                </a:solidFill>
              </a:rPr>
              <a:t>Dark / Light mode toggle</a:t>
            </a:r>
            <a:endParaRPr lang="en-US" sz="900" dirty="0"/>
          </a:p>
        </p:txBody>
      </p:sp>
      <p:sp>
        <p:nvSpPr>
          <p:cNvPr id="82" name="Shape 80"/>
          <p:cNvSpPr/>
          <p:nvPr/>
        </p:nvSpPr>
        <p:spPr>
          <a:xfrm>
            <a:off x="8403336" y="4928616"/>
            <a:ext cx="109728" cy="109728"/>
          </a:xfrm>
          <a:prstGeom prst="ellipse">
            <a:avLst/>
          </a:prstGeom>
          <a:solidFill>
            <a:srgbClr val="00E5CC"/>
          </a:solidFill>
          <a:ln w="12700">
            <a:solidFill>
              <a:srgbClr val="00E5CC"/>
            </a:solidFill>
            <a:prstDash val="solid"/>
          </a:ln>
        </p:spPr>
      </p:sp>
      <p:sp>
        <p:nvSpPr>
          <p:cNvPr id="83" name="Text 81"/>
          <p:cNvSpPr/>
          <p:nvPr/>
        </p:nvSpPr>
        <p:spPr>
          <a:xfrm>
            <a:off x="8586216" y="4855464"/>
            <a:ext cx="3127248" cy="310896"/>
          </a:xfrm>
          <a:prstGeom prst="rect">
            <a:avLst/>
          </a:prstGeom>
          <a:noFill/>
          <a:ln/>
        </p:spPr>
        <p:txBody>
          <a:bodyPr wrap="square" rtlCol="0" anchor="ctr"/>
          <a:lstStyle/>
          <a:p>
            <a:pPr indent="0" marL="0">
              <a:buNone/>
            </a:pPr>
            <a:r>
              <a:rPr lang="en-US" sz="900" dirty="0">
                <a:solidFill>
                  <a:srgbClr val="6B8CAE"/>
                </a:solidFill>
              </a:rPr>
              <a:t>Responsive grid &amp; flexbox layouts</a:t>
            </a:r>
            <a:endParaRPr lang="en-US" sz="900" dirty="0"/>
          </a:p>
        </p:txBody>
      </p:sp>
      <p:sp>
        <p:nvSpPr>
          <p:cNvPr id="84" name="Shape 82"/>
          <p:cNvSpPr/>
          <p:nvPr/>
        </p:nvSpPr>
        <p:spPr>
          <a:xfrm>
            <a:off x="8403336" y="5266944"/>
            <a:ext cx="109728" cy="109728"/>
          </a:xfrm>
          <a:prstGeom prst="ellipse">
            <a:avLst/>
          </a:prstGeom>
          <a:solidFill>
            <a:srgbClr val="00E5CC"/>
          </a:solidFill>
          <a:ln w="12700">
            <a:solidFill>
              <a:srgbClr val="00E5CC"/>
            </a:solidFill>
            <a:prstDash val="solid"/>
          </a:ln>
        </p:spPr>
      </p:sp>
      <p:sp>
        <p:nvSpPr>
          <p:cNvPr id="85" name="Text 83"/>
          <p:cNvSpPr/>
          <p:nvPr/>
        </p:nvSpPr>
        <p:spPr>
          <a:xfrm>
            <a:off x="8586216" y="5193792"/>
            <a:ext cx="3127248" cy="310896"/>
          </a:xfrm>
          <a:prstGeom prst="rect">
            <a:avLst/>
          </a:prstGeom>
          <a:noFill/>
          <a:ln/>
        </p:spPr>
        <p:txBody>
          <a:bodyPr wrap="square" rtlCol="0" anchor="ctr"/>
          <a:lstStyle/>
          <a:p>
            <a:pPr indent="0" marL="0">
              <a:buNone/>
            </a:pPr>
            <a:r>
              <a:rPr lang="en-US" sz="900" dirty="0">
                <a:solidFill>
                  <a:srgbClr val="6B8CAE"/>
                </a:solidFill>
              </a:rPr>
              <a:t>Toast notification system</a:t>
            </a:r>
            <a:endParaRPr lang="en-US" sz="900" dirty="0"/>
          </a:p>
        </p:txBody>
      </p:sp>
      <p:sp>
        <p:nvSpPr>
          <p:cNvPr id="86" name="Shape 84"/>
          <p:cNvSpPr/>
          <p:nvPr/>
        </p:nvSpPr>
        <p:spPr>
          <a:xfrm>
            <a:off x="8403336" y="5605272"/>
            <a:ext cx="109728" cy="109728"/>
          </a:xfrm>
          <a:prstGeom prst="ellipse">
            <a:avLst/>
          </a:prstGeom>
          <a:solidFill>
            <a:srgbClr val="00E5CC"/>
          </a:solidFill>
          <a:ln w="12700">
            <a:solidFill>
              <a:srgbClr val="00E5CC"/>
            </a:solidFill>
            <a:prstDash val="solid"/>
          </a:ln>
        </p:spPr>
      </p:sp>
      <p:sp>
        <p:nvSpPr>
          <p:cNvPr id="87" name="Text 85"/>
          <p:cNvSpPr/>
          <p:nvPr/>
        </p:nvSpPr>
        <p:spPr>
          <a:xfrm>
            <a:off x="8586216" y="5532120"/>
            <a:ext cx="3127248" cy="310896"/>
          </a:xfrm>
          <a:prstGeom prst="rect">
            <a:avLst/>
          </a:prstGeom>
          <a:noFill/>
          <a:ln/>
        </p:spPr>
        <p:txBody>
          <a:bodyPr wrap="square" rtlCol="0" anchor="ctr"/>
          <a:lstStyle/>
          <a:p>
            <a:pPr indent="0" marL="0">
              <a:buNone/>
            </a:pPr>
            <a:r>
              <a:rPr lang="en-US" sz="900" dirty="0">
                <a:solidFill>
                  <a:srgbClr val="6B8CAE"/>
                </a:solidFill>
              </a:rPr>
              <a:t>Multi-step wizard with progress dots</a:t>
            </a:r>
            <a:endParaRPr lang="en-US" sz="900" dirty="0"/>
          </a:p>
        </p:txBody>
      </p:sp>
      <p:sp>
        <p:nvSpPr>
          <p:cNvPr id="88" name="Shape 86"/>
          <p:cNvSpPr/>
          <p:nvPr/>
        </p:nvSpPr>
        <p:spPr>
          <a:xfrm>
            <a:off x="0" y="6547104"/>
            <a:ext cx="12161520" cy="310896"/>
          </a:xfrm>
          <a:prstGeom prst="rect">
            <a:avLst/>
          </a:prstGeom>
          <a:solidFill>
            <a:srgbClr val="071020"/>
          </a:solidFill>
          <a:ln w="12700">
            <a:solidFill>
              <a:srgbClr val="071020"/>
            </a:solidFill>
            <a:prstDash val="solid"/>
          </a:ln>
        </p:spPr>
      </p:sp>
      <p:sp>
        <p:nvSpPr>
          <p:cNvPr id="89" name="Shape 87"/>
          <p:cNvSpPr/>
          <p:nvPr/>
        </p:nvSpPr>
        <p:spPr>
          <a:xfrm>
            <a:off x="0" y="6547104"/>
            <a:ext cx="12161520" cy="27432"/>
          </a:xfrm>
          <a:prstGeom prst="rect">
            <a:avLst/>
          </a:prstGeom>
          <a:solidFill>
            <a:srgbClr val="E8A020"/>
          </a:solidFill>
          <a:ln w="12700">
            <a:solidFill>
              <a:srgbClr val="E8A020"/>
            </a:solidFill>
            <a:prstDash val="solid"/>
          </a:ln>
        </p:spPr>
      </p:sp>
      <p:sp>
        <p:nvSpPr>
          <p:cNvPr id="90" name="Text 88"/>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FF8C42"/>
          </a:solidFill>
          <a:ln w="12700">
            <a:solidFill>
              <a:srgbClr val="FF8C42"/>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FF8C42">
              <a:alpha val="18000"/>
            </a:srgbClr>
          </a:solidFill>
          <a:ln w="12700">
            <a:solidFill>
              <a:srgbClr val="FF8C42"/>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FF8C42"/>
                </a:solidFill>
                <a:latin typeface="Courier New" pitchFamily="34" charset="0"/>
                <a:ea typeface="Courier New" pitchFamily="34" charset="-122"/>
                <a:cs typeface="Courier New" pitchFamily="34" charset="-120"/>
              </a:rPr>
              <a:t>/ 05</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Prompts Used to Generate Code</a:t>
            </a:r>
            <a:endParaRPr lang="en-US" sz="3400" dirty="0"/>
          </a:p>
        </p:txBody>
      </p:sp>
      <p:sp>
        <p:nvSpPr>
          <p:cNvPr id="7" name="Shape 5"/>
          <p:cNvSpPr/>
          <p:nvPr/>
        </p:nvSpPr>
        <p:spPr>
          <a:xfrm>
            <a:off x="502920" y="1024128"/>
            <a:ext cx="548640" cy="45720"/>
          </a:xfrm>
          <a:prstGeom prst="rect">
            <a:avLst/>
          </a:prstGeom>
          <a:solidFill>
            <a:srgbClr val="FF8C42"/>
          </a:solidFill>
          <a:ln w="12700">
            <a:solidFill>
              <a:srgbClr val="FF8C42"/>
            </a:solidFill>
            <a:prstDash val="solid"/>
          </a:ln>
        </p:spPr>
      </p:sp>
      <p:sp>
        <p:nvSpPr>
          <p:cNvPr id="8" name="Text 6"/>
          <p:cNvSpPr/>
          <p:nvPr/>
        </p:nvSpPr>
        <p:spPr>
          <a:xfrm>
            <a:off x="10515600" y="201168"/>
            <a:ext cx="1371600" cy="237744"/>
          </a:xfrm>
          <a:prstGeom prst="rect">
            <a:avLst/>
          </a:prstGeom>
          <a:noFill/>
          <a:ln/>
        </p:spPr>
        <p:txBody>
          <a:bodyPr wrap="square" rtlCol="0" anchor="ctr"/>
          <a:lstStyle/>
          <a:p>
            <a:pPr algn="r" indent="0" marL="0">
              <a:buNone/>
            </a:pPr>
            <a:r>
              <a:rPr lang="en-US" sz="800" dirty="0">
                <a:solidFill>
                  <a:srgbClr val="6B8CAE"/>
                </a:solidFill>
                <a:latin typeface="Courier New" pitchFamily="34" charset="0"/>
                <a:ea typeface="Courier New" pitchFamily="34" charset="-122"/>
                <a:cs typeface="Courier New" pitchFamily="34" charset="-120"/>
              </a:rPr>
              <a:t>Part 1 / 2</a:t>
            </a:r>
            <a:endParaRPr lang="en-US" sz="800" dirty="0"/>
          </a:p>
        </p:txBody>
      </p:sp>
      <p:sp>
        <p:nvSpPr>
          <p:cNvPr id="9" name="Shape 7"/>
          <p:cNvSpPr/>
          <p:nvPr/>
        </p:nvSpPr>
        <p:spPr>
          <a:xfrm>
            <a:off x="-1828800" y="3200400"/>
            <a:ext cx="5486400" cy="5486400"/>
          </a:xfrm>
          <a:prstGeom prst="ellipse">
            <a:avLst/>
          </a:prstGeom>
          <a:solidFill>
            <a:srgbClr val="FF8C42">
              <a:alpha val="8000"/>
            </a:srgbClr>
          </a:solidFill>
          <a:ln w="12700">
            <a:solidFill>
              <a:srgbClr val="FF8C42">
                <a:alpha val="0"/>
              </a:srgbClr>
            </a:solidFill>
            <a:prstDash val="solid"/>
          </a:ln>
        </p:spPr>
      </p:sp>
      <p:sp>
        <p:nvSpPr>
          <p:cNvPr id="10" name="Shape 8"/>
          <p:cNvSpPr/>
          <p:nvPr/>
        </p:nvSpPr>
        <p:spPr>
          <a:xfrm>
            <a:off x="502920" y="1207008"/>
            <a:ext cx="11155680" cy="1554480"/>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207008"/>
            <a:ext cx="50292" cy="1554480"/>
          </a:xfrm>
          <a:prstGeom prst="rect">
            <a:avLst/>
          </a:prstGeom>
          <a:solidFill>
            <a:srgbClr val="E8A020"/>
          </a:solidFill>
          <a:ln w="12700">
            <a:solidFill>
              <a:srgbClr val="E8A020"/>
            </a:solidFill>
            <a:prstDash val="solid"/>
          </a:ln>
        </p:spPr>
      </p:sp>
      <p:sp>
        <p:nvSpPr>
          <p:cNvPr id="12" name="Shape 10"/>
          <p:cNvSpPr/>
          <p:nvPr/>
        </p:nvSpPr>
        <p:spPr>
          <a:xfrm>
            <a:off x="685800" y="1316736"/>
            <a:ext cx="1188720" cy="237744"/>
          </a:xfrm>
          <a:prstGeom prst="roundRect">
            <a:avLst>
              <a:gd name="adj" fmla="val 50000"/>
            </a:avLst>
          </a:prstGeom>
          <a:solidFill>
            <a:srgbClr val="E8A020">
              <a:alpha val="22000"/>
            </a:srgbClr>
          </a:solidFill>
          <a:ln w="12700">
            <a:solidFill>
              <a:srgbClr val="E8A020"/>
            </a:solidFill>
            <a:prstDash val="solid"/>
          </a:ln>
        </p:spPr>
      </p:sp>
      <p:sp>
        <p:nvSpPr>
          <p:cNvPr id="13" name="Text 11"/>
          <p:cNvSpPr/>
          <p:nvPr/>
        </p:nvSpPr>
        <p:spPr>
          <a:xfrm>
            <a:off x="685800" y="1316736"/>
            <a:ext cx="1188720" cy="237744"/>
          </a:xfrm>
          <a:prstGeom prst="rect">
            <a:avLst/>
          </a:prstGeom>
          <a:noFill/>
          <a:ln/>
        </p:spPr>
        <p:txBody>
          <a:bodyPr wrap="square" rtlCol="0" anchor="ctr"/>
          <a:lstStyle/>
          <a:p>
            <a:pPr algn="ctr" indent="0" marL="0">
              <a:buNone/>
            </a:pPr>
            <a:r>
              <a:rPr lang="en-US" sz="800" b="1" dirty="0">
                <a:solidFill>
                  <a:srgbClr val="E8A020"/>
                </a:solidFill>
                <a:latin typeface="Courier New" pitchFamily="34" charset="0"/>
                <a:ea typeface="Courier New" pitchFamily="34" charset="-122"/>
                <a:cs typeface="Courier New" pitchFamily="34" charset="-120"/>
              </a:rPr>
              <a:t>Microsoft Copilot</a:t>
            </a:r>
            <a:endParaRPr lang="en-US" sz="800" dirty="0"/>
          </a:p>
        </p:txBody>
      </p:sp>
      <p:sp>
        <p:nvSpPr>
          <p:cNvPr id="14" name="Text 12"/>
          <p:cNvSpPr/>
          <p:nvPr/>
        </p:nvSpPr>
        <p:spPr>
          <a:xfrm>
            <a:off x="685800" y="1618488"/>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15" name="Text 13"/>
          <p:cNvSpPr/>
          <p:nvPr/>
        </p:nvSpPr>
        <p:spPr>
          <a:xfrm>
            <a:off x="685800" y="1801368"/>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"Build a complete single-file portfolio generator web app in HTML/CSS/JS with a multi-step form wizard (Profile, Skills, Projects, Experience, Style). Include PDF.js resume parsing, 20 portfolio templates, auth system with localStorage, and a Generate button that builds a standalone HTML portfolio."</a:t>
            </a:r>
            <a:endParaRPr lang="en-US" sz="850" dirty="0"/>
          </a:p>
        </p:txBody>
      </p:sp>
      <p:sp>
        <p:nvSpPr>
          <p:cNvPr id="16" name="Text 14"/>
          <p:cNvSpPr/>
          <p:nvPr/>
        </p:nvSpPr>
        <p:spPr>
          <a:xfrm>
            <a:off x="6492240" y="1618488"/>
            <a:ext cx="4937760" cy="182880"/>
          </a:xfrm>
          <a:prstGeom prst="rect">
            <a:avLst/>
          </a:prstGeom>
          <a:noFill/>
          <a:ln/>
        </p:spPr>
        <p:txBody>
          <a:bodyPr wrap="square" rtlCol="0" anchor="ctr"/>
          <a:lstStyle/>
          <a:p>
            <a:pPr indent="0" marL="0">
              <a:buNone/>
            </a:pPr>
            <a:r>
              <a:rPr lang="en-US" sz="650" spc="200" kern="0" dirty="0">
                <a:solidFill>
                  <a:srgbClr val="E8A020"/>
                </a:solidFill>
                <a:latin typeface="Courier New" pitchFamily="34" charset="0"/>
                <a:ea typeface="Courier New" pitchFamily="34" charset="-122"/>
                <a:cs typeface="Courier New" pitchFamily="34" charset="-120"/>
              </a:rPr>
              <a:t>OUTPUT</a:t>
            </a:r>
            <a:endParaRPr lang="en-US" sz="650" dirty="0"/>
          </a:p>
        </p:txBody>
      </p:sp>
      <p:sp>
        <p:nvSpPr>
          <p:cNvPr id="17" name="Text 15"/>
          <p:cNvSpPr/>
          <p:nvPr/>
        </p:nvSpPr>
        <p:spPr>
          <a:xfrm>
            <a:off x="6492240" y="1801368"/>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the complete DevFolio application — all HTML structure, CSS variables, JS logic for the 5-step form wizard, template routing, and the buildPortfolio() function.</a:t>
            </a:r>
            <a:endParaRPr lang="en-US" sz="850" dirty="0"/>
          </a:p>
        </p:txBody>
      </p:sp>
      <p:sp>
        <p:nvSpPr>
          <p:cNvPr id="18" name="Shape 16"/>
          <p:cNvSpPr/>
          <p:nvPr/>
        </p:nvSpPr>
        <p:spPr>
          <a:xfrm>
            <a:off x="6263640" y="1591056"/>
            <a:ext cx="0" cy="1078992"/>
          </a:xfrm>
          <a:prstGeom prst="line">
            <a:avLst/>
          </a:prstGeom>
          <a:noFill/>
          <a:ln w="12700">
            <a:solidFill>
              <a:srgbClr val="6B8CAE">
                <a:alpha val="35000"/>
              </a:srgbClr>
            </a:solidFill>
            <a:prstDash val="solid"/>
          </a:ln>
        </p:spPr>
      </p:sp>
      <p:sp>
        <p:nvSpPr>
          <p:cNvPr id="19" name="Shape 17"/>
          <p:cNvSpPr/>
          <p:nvPr/>
        </p:nvSpPr>
        <p:spPr>
          <a:xfrm>
            <a:off x="502920" y="2926080"/>
            <a:ext cx="11155680" cy="1554480"/>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20" name="Shape 18"/>
          <p:cNvSpPr/>
          <p:nvPr/>
        </p:nvSpPr>
        <p:spPr>
          <a:xfrm>
            <a:off x="502920" y="2926080"/>
            <a:ext cx="50292" cy="1554480"/>
          </a:xfrm>
          <a:prstGeom prst="rect">
            <a:avLst/>
          </a:prstGeom>
          <a:solidFill>
            <a:srgbClr val="00C9A7"/>
          </a:solidFill>
          <a:ln w="12700">
            <a:solidFill>
              <a:srgbClr val="00C9A7"/>
            </a:solidFill>
            <a:prstDash val="solid"/>
          </a:ln>
        </p:spPr>
      </p:sp>
      <p:sp>
        <p:nvSpPr>
          <p:cNvPr id="21" name="Shape 19"/>
          <p:cNvSpPr/>
          <p:nvPr/>
        </p:nvSpPr>
        <p:spPr>
          <a:xfrm>
            <a:off x="685800" y="3035808"/>
            <a:ext cx="1188720" cy="237744"/>
          </a:xfrm>
          <a:prstGeom prst="roundRect">
            <a:avLst>
              <a:gd name="adj" fmla="val 50000"/>
            </a:avLst>
          </a:prstGeom>
          <a:solidFill>
            <a:srgbClr val="00C9A7">
              <a:alpha val="22000"/>
            </a:srgbClr>
          </a:solidFill>
          <a:ln w="12700">
            <a:solidFill>
              <a:srgbClr val="00C9A7"/>
            </a:solidFill>
            <a:prstDash val="solid"/>
          </a:ln>
        </p:spPr>
      </p:sp>
      <p:sp>
        <p:nvSpPr>
          <p:cNvPr id="22" name="Text 20"/>
          <p:cNvSpPr/>
          <p:nvPr/>
        </p:nvSpPr>
        <p:spPr>
          <a:xfrm>
            <a:off x="685800" y="3035808"/>
            <a:ext cx="1188720" cy="237744"/>
          </a:xfrm>
          <a:prstGeom prst="rect">
            <a:avLst/>
          </a:prstGeom>
          <a:noFill/>
          <a:ln/>
        </p:spPr>
        <p:txBody>
          <a:bodyPr wrap="square" rtlCol="0" anchor="ctr"/>
          <a:lstStyle/>
          <a:p>
            <a:pPr algn="ctr" indent="0" marL="0">
              <a:buNone/>
            </a:pPr>
            <a:r>
              <a:rPr lang="en-US" sz="800" b="1" dirty="0">
                <a:solidFill>
                  <a:srgbClr val="00C9A7"/>
                </a:solidFill>
                <a:latin typeface="Courier New" pitchFamily="34" charset="0"/>
                <a:ea typeface="Courier New" pitchFamily="34" charset="-122"/>
                <a:cs typeface="Courier New" pitchFamily="34" charset="-120"/>
              </a:rPr>
              <a:t>Google Gemini</a:t>
            </a:r>
            <a:endParaRPr lang="en-US" sz="800" dirty="0"/>
          </a:p>
        </p:txBody>
      </p:sp>
      <p:sp>
        <p:nvSpPr>
          <p:cNvPr id="23" name="Text 21"/>
          <p:cNvSpPr/>
          <p:nvPr/>
        </p:nvSpPr>
        <p:spPr>
          <a:xfrm>
            <a:off x="685800" y="3337560"/>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24" name="Text 22"/>
          <p:cNvSpPr/>
          <p:nvPr/>
        </p:nvSpPr>
        <p:spPr>
          <a:xfrm>
            <a:off x="685800" y="3520440"/>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"Add an AI bio generation feature to the portfolio generator. When the user clicks AI Suggest, call the AI API with the user's name, title and skills, and fill the bio textarea with a professional 2-sentence bio in first person. Handle errors gracefully."</a:t>
            </a:r>
            <a:endParaRPr lang="en-US" sz="850" dirty="0"/>
          </a:p>
        </p:txBody>
      </p:sp>
      <p:sp>
        <p:nvSpPr>
          <p:cNvPr id="25" name="Text 23"/>
          <p:cNvSpPr/>
          <p:nvPr/>
        </p:nvSpPr>
        <p:spPr>
          <a:xfrm>
            <a:off x="6492240" y="3337560"/>
            <a:ext cx="4937760" cy="182880"/>
          </a:xfrm>
          <a:prstGeom prst="rect">
            <a:avLst/>
          </a:prstGeom>
          <a:noFill/>
          <a:ln/>
        </p:spPr>
        <p:txBody>
          <a:bodyPr wrap="square" rtlCol="0" anchor="ctr"/>
          <a:lstStyle/>
          <a:p>
            <a:pPr indent="0" marL="0">
              <a:buNone/>
            </a:pPr>
            <a:r>
              <a:rPr lang="en-US" sz="650" spc="200" kern="0" dirty="0">
                <a:solidFill>
                  <a:srgbClr val="00C9A7"/>
                </a:solidFill>
                <a:latin typeface="Courier New" pitchFamily="34" charset="0"/>
                <a:ea typeface="Courier New" pitchFamily="34" charset="-122"/>
                <a:cs typeface="Courier New" pitchFamily="34" charset="-120"/>
              </a:rPr>
              <a:t>OUTPUT</a:t>
            </a:r>
            <a:endParaRPr lang="en-US" sz="650" dirty="0"/>
          </a:p>
        </p:txBody>
      </p:sp>
      <p:sp>
        <p:nvSpPr>
          <p:cNvPr id="26" name="Text 24"/>
          <p:cNvSpPr/>
          <p:nvPr/>
        </p:nvSpPr>
        <p:spPr>
          <a:xfrm>
            <a:off x="6492240" y="3520440"/>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the aiBio() function with fetch() to the AI API endpoint, dynamic prompt construction, JSON response parsing, and textarea fill logic with toast notifications.</a:t>
            </a:r>
            <a:endParaRPr lang="en-US" sz="850" dirty="0"/>
          </a:p>
        </p:txBody>
      </p:sp>
      <p:sp>
        <p:nvSpPr>
          <p:cNvPr id="27" name="Shape 25"/>
          <p:cNvSpPr/>
          <p:nvPr/>
        </p:nvSpPr>
        <p:spPr>
          <a:xfrm>
            <a:off x="6263640" y="3310128"/>
            <a:ext cx="0" cy="1078992"/>
          </a:xfrm>
          <a:prstGeom prst="line">
            <a:avLst/>
          </a:prstGeom>
          <a:noFill/>
          <a:ln w="12700">
            <a:solidFill>
              <a:srgbClr val="6B8CAE">
                <a:alpha val="35000"/>
              </a:srgbClr>
            </a:solidFill>
            <a:prstDash val="solid"/>
          </a:ln>
        </p:spPr>
      </p:sp>
      <p:sp>
        <p:nvSpPr>
          <p:cNvPr id="28" name="Shape 26"/>
          <p:cNvSpPr/>
          <p:nvPr/>
        </p:nvSpPr>
        <p:spPr>
          <a:xfrm>
            <a:off x="502920" y="4645152"/>
            <a:ext cx="11155680" cy="1554480"/>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9" name="Shape 27"/>
          <p:cNvSpPr/>
          <p:nvPr/>
        </p:nvSpPr>
        <p:spPr>
          <a:xfrm>
            <a:off x="502920" y="4645152"/>
            <a:ext cx="50292" cy="1554480"/>
          </a:xfrm>
          <a:prstGeom prst="rect">
            <a:avLst/>
          </a:prstGeom>
          <a:solidFill>
            <a:srgbClr val="4FC3F7"/>
          </a:solidFill>
          <a:ln w="12700">
            <a:solidFill>
              <a:srgbClr val="4FC3F7"/>
            </a:solidFill>
            <a:prstDash val="solid"/>
          </a:ln>
        </p:spPr>
      </p:sp>
      <p:sp>
        <p:nvSpPr>
          <p:cNvPr id="30" name="Shape 28"/>
          <p:cNvSpPr/>
          <p:nvPr/>
        </p:nvSpPr>
        <p:spPr>
          <a:xfrm>
            <a:off x="685800" y="4754880"/>
            <a:ext cx="1188720" cy="237744"/>
          </a:xfrm>
          <a:prstGeom prst="roundRect">
            <a:avLst>
              <a:gd name="adj" fmla="val 50000"/>
            </a:avLst>
          </a:prstGeom>
          <a:solidFill>
            <a:srgbClr val="4FC3F7">
              <a:alpha val="22000"/>
            </a:srgbClr>
          </a:solidFill>
          <a:ln w="12700">
            <a:solidFill>
              <a:srgbClr val="4FC3F7"/>
            </a:solidFill>
            <a:prstDash val="solid"/>
          </a:ln>
        </p:spPr>
      </p:sp>
      <p:sp>
        <p:nvSpPr>
          <p:cNvPr id="31" name="Text 29"/>
          <p:cNvSpPr/>
          <p:nvPr/>
        </p:nvSpPr>
        <p:spPr>
          <a:xfrm>
            <a:off x="685800" y="4754880"/>
            <a:ext cx="1188720" cy="237744"/>
          </a:xfrm>
          <a:prstGeom prst="rect">
            <a:avLst/>
          </a:prstGeom>
          <a:noFill/>
          <a:ln/>
        </p:spPr>
        <p:txBody>
          <a:bodyPr wrap="square" rtlCol="0" anchor="ctr"/>
          <a:lstStyle/>
          <a:p>
            <a:pPr algn="ctr" indent="0" marL="0">
              <a:buNone/>
            </a:pPr>
            <a:r>
              <a:rPr lang="en-US" sz="800" b="1" dirty="0">
                <a:solidFill>
                  <a:srgbClr val="4FC3F7"/>
                </a:solidFill>
                <a:latin typeface="Courier New" pitchFamily="34" charset="0"/>
                <a:ea typeface="Courier New" pitchFamily="34" charset="-122"/>
                <a:cs typeface="Courier New" pitchFamily="34" charset="-120"/>
              </a:rPr>
              <a:t>Microsoft Copilot</a:t>
            </a:r>
            <a:endParaRPr lang="en-US" sz="800" dirty="0"/>
          </a:p>
        </p:txBody>
      </p:sp>
      <p:sp>
        <p:nvSpPr>
          <p:cNvPr id="32" name="Text 30"/>
          <p:cNvSpPr/>
          <p:nvPr/>
        </p:nvSpPr>
        <p:spPr>
          <a:xfrm>
            <a:off x="685800" y="5056632"/>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33" name="Text 31"/>
          <p:cNvSpPr/>
          <p:nvPr/>
        </p:nvSpPr>
        <p:spPr>
          <a:xfrm>
            <a:off x="685800" y="5239512"/>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"Write a resume PDF parser in JavaScript using PDF.js that extracts: full name (from first 5 lines, 2-4 capitalized words), email, GitHub/LinkedIn URLs, job title, location, skills (match against 38 tech keywords), education (degree/university/year), certifications, work experience with date ranges, and projects."</a:t>
            </a:r>
            <a:endParaRPr lang="en-US" sz="850" dirty="0"/>
          </a:p>
        </p:txBody>
      </p:sp>
      <p:sp>
        <p:nvSpPr>
          <p:cNvPr id="34" name="Text 32"/>
          <p:cNvSpPr/>
          <p:nvPr/>
        </p:nvSpPr>
        <p:spPr>
          <a:xfrm>
            <a:off x="6492240" y="5056632"/>
            <a:ext cx="4937760" cy="182880"/>
          </a:xfrm>
          <a:prstGeom prst="rect">
            <a:avLst/>
          </a:prstGeom>
          <a:noFill/>
          <a:ln/>
        </p:spPr>
        <p:txBody>
          <a:bodyPr wrap="square" rtlCol="0" anchor="ctr"/>
          <a:lstStyle/>
          <a:p>
            <a:pPr indent="0" marL="0">
              <a:buNone/>
            </a:pPr>
            <a:r>
              <a:rPr lang="en-US" sz="650" spc="200" kern="0" dirty="0">
                <a:solidFill>
                  <a:srgbClr val="4FC3F7"/>
                </a:solidFill>
                <a:latin typeface="Courier New" pitchFamily="34" charset="0"/>
                <a:ea typeface="Courier New" pitchFamily="34" charset="-122"/>
                <a:cs typeface="Courier New" pitchFamily="34" charset="-120"/>
              </a:rPr>
              <a:t>OUTPUT</a:t>
            </a:r>
            <a:endParaRPr lang="en-US" sz="650" dirty="0"/>
          </a:p>
        </p:txBody>
      </p:sp>
      <p:sp>
        <p:nvSpPr>
          <p:cNvPr id="35" name="Text 33"/>
          <p:cNvSpPr/>
          <p:nvPr/>
        </p:nvSpPr>
        <p:spPr>
          <a:xfrm>
            <a:off x="6492240" y="5239512"/>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the complete parseResume() and applyResume() functions with regex patterns, positional text sorting, smart name detection, and cert filtering logic.</a:t>
            </a:r>
            <a:endParaRPr lang="en-US" sz="850" dirty="0"/>
          </a:p>
        </p:txBody>
      </p:sp>
      <p:sp>
        <p:nvSpPr>
          <p:cNvPr id="36" name="Shape 34"/>
          <p:cNvSpPr/>
          <p:nvPr/>
        </p:nvSpPr>
        <p:spPr>
          <a:xfrm>
            <a:off x="6263640" y="5029200"/>
            <a:ext cx="0" cy="1078992"/>
          </a:xfrm>
          <a:prstGeom prst="line">
            <a:avLst/>
          </a:prstGeom>
          <a:noFill/>
          <a:ln w="12700">
            <a:solidFill>
              <a:srgbClr val="6B8CAE">
                <a:alpha val="35000"/>
              </a:srgbClr>
            </a:solidFill>
            <a:prstDash val="solid"/>
          </a:ln>
        </p:spPr>
      </p:sp>
      <p:sp>
        <p:nvSpPr>
          <p:cNvPr id="37" name="Shape 35"/>
          <p:cNvSpPr/>
          <p:nvPr/>
        </p:nvSpPr>
        <p:spPr>
          <a:xfrm>
            <a:off x="0" y="6547104"/>
            <a:ext cx="12161520" cy="310896"/>
          </a:xfrm>
          <a:prstGeom prst="rect">
            <a:avLst/>
          </a:prstGeom>
          <a:solidFill>
            <a:srgbClr val="071020"/>
          </a:solidFill>
          <a:ln w="12700">
            <a:solidFill>
              <a:srgbClr val="071020"/>
            </a:solidFill>
            <a:prstDash val="solid"/>
          </a:ln>
        </p:spPr>
      </p:sp>
      <p:sp>
        <p:nvSpPr>
          <p:cNvPr id="38" name="Shape 36"/>
          <p:cNvSpPr/>
          <p:nvPr/>
        </p:nvSpPr>
        <p:spPr>
          <a:xfrm>
            <a:off x="0" y="6547104"/>
            <a:ext cx="12161520" cy="27432"/>
          </a:xfrm>
          <a:prstGeom prst="rect">
            <a:avLst/>
          </a:prstGeom>
          <a:solidFill>
            <a:srgbClr val="E8A020"/>
          </a:solidFill>
          <a:ln w="12700">
            <a:solidFill>
              <a:srgbClr val="E8A020"/>
            </a:solidFill>
            <a:prstDash val="solid"/>
          </a:ln>
        </p:spPr>
      </p:sp>
      <p:sp>
        <p:nvSpPr>
          <p:cNvPr id="39" name="Text 37"/>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FF8C42"/>
          </a:solidFill>
          <a:ln w="12700">
            <a:solidFill>
              <a:srgbClr val="FF8C42"/>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FF8C42">
              <a:alpha val="18000"/>
            </a:srgbClr>
          </a:solidFill>
          <a:ln w="12700">
            <a:solidFill>
              <a:srgbClr val="FF8C42"/>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FF8C42"/>
                </a:solidFill>
                <a:latin typeface="Courier New" pitchFamily="34" charset="0"/>
                <a:ea typeface="Courier New" pitchFamily="34" charset="-122"/>
                <a:cs typeface="Courier New" pitchFamily="34" charset="-120"/>
              </a:rPr>
              <a:t>/ 05</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Prompts Used to Generate Code</a:t>
            </a:r>
            <a:endParaRPr lang="en-US" sz="3400" dirty="0"/>
          </a:p>
        </p:txBody>
      </p:sp>
      <p:sp>
        <p:nvSpPr>
          <p:cNvPr id="7" name="Shape 5"/>
          <p:cNvSpPr/>
          <p:nvPr/>
        </p:nvSpPr>
        <p:spPr>
          <a:xfrm>
            <a:off x="502920" y="1024128"/>
            <a:ext cx="548640" cy="45720"/>
          </a:xfrm>
          <a:prstGeom prst="rect">
            <a:avLst/>
          </a:prstGeom>
          <a:solidFill>
            <a:srgbClr val="FF8C42"/>
          </a:solidFill>
          <a:ln w="12700">
            <a:solidFill>
              <a:srgbClr val="FF8C42"/>
            </a:solidFill>
            <a:prstDash val="solid"/>
          </a:ln>
        </p:spPr>
      </p:sp>
      <p:sp>
        <p:nvSpPr>
          <p:cNvPr id="8" name="Text 6"/>
          <p:cNvSpPr/>
          <p:nvPr/>
        </p:nvSpPr>
        <p:spPr>
          <a:xfrm>
            <a:off x="10515600" y="201168"/>
            <a:ext cx="1371600" cy="237744"/>
          </a:xfrm>
          <a:prstGeom prst="rect">
            <a:avLst/>
          </a:prstGeom>
          <a:noFill/>
          <a:ln/>
        </p:spPr>
        <p:txBody>
          <a:bodyPr wrap="square" rtlCol="0" anchor="ctr"/>
          <a:lstStyle/>
          <a:p>
            <a:pPr algn="r" indent="0" marL="0">
              <a:buNone/>
            </a:pPr>
            <a:r>
              <a:rPr lang="en-US" sz="800" dirty="0">
                <a:solidFill>
                  <a:srgbClr val="6B8CAE"/>
                </a:solidFill>
                <a:latin typeface="Courier New" pitchFamily="34" charset="0"/>
                <a:ea typeface="Courier New" pitchFamily="34" charset="-122"/>
                <a:cs typeface="Courier New" pitchFamily="34" charset="-120"/>
              </a:rPr>
              <a:t>Part 2 / 2</a:t>
            </a:r>
            <a:endParaRPr lang="en-US" sz="800" dirty="0"/>
          </a:p>
        </p:txBody>
      </p:sp>
      <p:sp>
        <p:nvSpPr>
          <p:cNvPr id="9" name="Shape 7"/>
          <p:cNvSpPr/>
          <p:nvPr/>
        </p:nvSpPr>
        <p:spPr>
          <a:xfrm>
            <a:off x="8686800" y="1828800"/>
            <a:ext cx="5486400" cy="5486400"/>
          </a:xfrm>
          <a:prstGeom prst="ellipse">
            <a:avLst/>
          </a:prstGeom>
          <a:solidFill>
            <a:srgbClr val="4FC3F7">
              <a:alpha val="8000"/>
            </a:srgbClr>
          </a:solidFill>
          <a:ln w="12700">
            <a:solidFill>
              <a:srgbClr val="4FC3F7">
                <a:alpha val="0"/>
              </a:srgbClr>
            </a:solidFill>
            <a:prstDash val="solid"/>
          </a:ln>
        </p:spPr>
      </p:sp>
      <p:sp>
        <p:nvSpPr>
          <p:cNvPr id="10" name="Shape 8"/>
          <p:cNvSpPr/>
          <p:nvPr/>
        </p:nvSpPr>
        <p:spPr>
          <a:xfrm>
            <a:off x="502920" y="1207008"/>
            <a:ext cx="11155680" cy="1554480"/>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207008"/>
            <a:ext cx="50292" cy="1554480"/>
          </a:xfrm>
          <a:prstGeom prst="rect">
            <a:avLst/>
          </a:prstGeom>
          <a:solidFill>
            <a:srgbClr val="F5C842"/>
          </a:solidFill>
          <a:ln w="12700">
            <a:solidFill>
              <a:srgbClr val="F5C842"/>
            </a:solidFill>
            <a:prstDash val="solid"/>
          </a:ln>
        </p:spPr>
      </p:sp>
      <p:sp>
        <p:nvSpPr>
          <p:cNvPr id="12" name="Shape 10"/>
          <p:cNvSpPr/>
          <p:nvPr/>
        </p:nvSpPr>
        <p:spPr>
          <a:xfrm>
            <a:off x="685800" y="1316736"/>
            <a:ext cx="1188720" cy="237744"/>
          </a:xfrm>
          <a:prstGeom prst="roundRect">
            <a:avLst>
              <a:gd name="adj" fmla="val 50000"/>
            </a:avLst>
          </a:prstGeom>
          <a:solidFill>
            <a:srgbClr val="F5C842">
              <a:alpha val="22000"/>
            </a:srgbClr>
          </a:solidFill>
          <a:ln w="12700">
            <a:solidFill>
              <a:srgbClr val="F5C842"/>
            </a:solidFill>
            <a:prstDash val="solid"/>
          </a:ln>
        </p:spPr>
      </p:sp>
      <p:sp>
        <p:nvSpPr>
          <p:cNvPr id="13" name="Text 11"/>
          <p:cNvSpPr/>
          <p:nvPr/>
        </p:nvSpPr>
        <p:spPr>
          <a:xfrm>
            <a:off x="685800" y="1316736"/>
            <a:ext cx="1188720" cy="237744"/>
          </a:xfrm>
          <a:prstGeom prst="rect">
            <a:avLst/>
          </a:prstGeom>
          <a:noFill/>
          <a:ln/>
        </p:spPr>
        <p:txBody>
          <a:bodyPr wrap="square" rtlCol="0" anchor="ctr"/>
          <a:lstStyle/>
          <a:p>
            <a:pPr algn="ctr" indent="0" marL="0">
              <a:buNone/>
            </a:pPr>
            <a:r>
              <a:rPr lang="en-US" sz="800" b="1" dirty="0">
                <a:solidFill>
                  <a:srgbClr val="F5C842"/>
                </a:solidFill>
                <a:latin typeface="Courier New" pitchFamily="34" charset="0"/>
                <a:ea typeface="Courier New" pitchFamily="34" charset="-122"/>
                <a:cs typeface="Courier New" pitchFamily="34" charset="-120"/>
              </a:rPr>
              <a:t>Google Gemini</a:t>
            </a:r>
            <a:endParaRPr lang="en-US" sz="800" dirty="0"/>
          </a:p>
        </p:txBody>
      </p:sp>
      <p:sp>
        <p:nvSpPr>
          <p:cNvPr id="14" name="Text 12"/>
          <p:cNvSpPr/>
          <p:nvPr/>
        </p:nvSpPr>
        <p:spPr>
          <a:xfrm>
            <a:off x="685800" y="1618488"/>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15" name="Text 13"/>
          <p:cNvSpPr/>
          <p:nvPr/>
        </p:nvSpPr>
        <p:spPr>
          <a:xfrm>
            <a:off x="685800" y="1801368"/>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"Create a complete auth system in JavaScript using localStorage. Include: sign up (name/email/password), login (validate credentials), logout, session persistence, password reset, and a tab-toggle UI between login and signup. Wrap in a full-screen overlay with a split-panel design (left: features list, right: form)."</a:t>
            </a:r>
            <a:endParaRPr lang="en-US" sz="850" dirty="0"/>
          </a:p>
        </p:txBody>
      </p:sp>
      <p:sp>
        <p:nvSpPr>
          <p:cNvPr id="16" name="Text 14"/>
          <p:cNvSpPr/>
          <p:nvPr/>
        </p:nvSpPr>
        <p:spPr>
          <a:xfrm>
            <a:off x="6492240" y="1618488"/>
            <a:ext cx="4937760" cy="182880"/>
          </a:xfrm>
          <a:prstGeom prst="rect">
            <a:avLst/>
          </a:prstGeom>
          <a:noFill/>
          <a:ln/>
        </p:spPr>
        <p:txBody>
          <a:bodyPr wrap="square" rtlCol="0" anchor="ctr"/>
          <a:lstStyle/>
          <a:p>
            <a:pPr indent="0" marL="0">
              <a:buNone/>
            </a:pPr>
            <a:r>
              <a:rPr lang="en-US" sz="650" spc="200" kern="0" dirty="0">
                <a:solidFill>
                  <a:srgbClr val="F5C842"/>
                </a:solidFill>
                <a:latin typeface="Courier New" pitchFamily="34" charset="0"/>
                <a:ea typeface="Courier New" pitchFamily="34" charset="-122"/>
                <a:cs typeface="Courier New" pitchFamily="34" charset="-120"/>
              </a:rPr>
              <a:t>OUTPUT</a:t>
            </a:r>
            <a:endParaRPr lang="en-US" sz="650" dirty="0"/>
          </a:p>
        </p:txBody>
      </p:sp>
      <p:sp>
        <p:nvSpPr>
          <p:cNvPr id="17" name="Text 15"/>
          <p:cNvSpPr/>
          <p:nvPr/>
        </p:nvSpPr>
        <p:spPr>
          <a:xfrm>
            <a:off x="6492240" y="1801368"/>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the full auth overlay HTML, authTab(), doLogin(), doSignup(), doReset(), checkAndInit() functions plus getUsers()/saveUsers()/getSession() localStorage helpers.</a:t>
            </a:r>
            <a:endParaRPr lang="en-US" sz="850" dirty="0"/>
          </a:p>
        </p:txBody>
      </p:sp>
      <p:sp>
        <p:nvSpPr>
          <p:cNvPr id="18" name="Shape 16"/>
          <p:cNvSpPr/>
          <p:nvPr/>
        </p:nvSpPr>
        <p:spPr>
          <a:xfrm>
            <a:off x="6263640" y="1591056"/>
            <a:ext cx="0" cy="1078992"/>
          </a:xfrm>
          <a:prstGeom prst="line">
            <a:avLst/>
          </a:prstGeom>
          <a:noFill/>
          <a:ln w="12700">
            <a:solidFill>
              <a:srgbClr val="6B8CAE">
                <a:alpha val="35000"/>
              </a:srgbClr>
            </a:solidFill>
            <a:prstDash val="solid"/>
          </a:ln>
        </p:spPr>
      </p:sp>
      <p:sp>
        <p:nvSpPr>
          <p:cNvPr id="19" name="Shape 17"/>
          <p:cNvSpPr/>
          <p:nvPr/>
        </p:nvSpPr>
        <p:spPr>
          <a:xfrm>
            <a:off x="502920" y="2926080"/>
            <a:ext cx="11155680" cy="1554480"/>
          </a:xfrm>
          <a:prstGeom prst="rect">
            <a:avLst/>
          </a:prstGeom>
          <a:solidFill>
            <a:srgbClr val="152542"/>
          </a:solidFill>
          <a:ln w="12700">
            <a:solidFill>
              <a:srgbClr val="00E5CC">
                <a:alpha val="50000"/>
              </a:srgbClr>
            </a:solidFill>
            <a:prstDash val="solid"/>
          </a:ln>
          <a:effectLst>
            <a:outerShdw sx="100000" sy="100000" kx="0" ky="0" algn="bl" rotWithShape="0" blurRad="127000" dist="38100" dir="8100000">
              <a:srgbClr val="000000">
                <a:alpha val="25000"/>
              </a:srgbClr>
            </a:outerShdw>
          </a:effectLst>
        </p:spPr>
      </p:sp>
      <p:sp>
        <p:nvSpPr>
          <p:cNvPr id="20" name="Shape 18"/>
          <p:cNvSpPr/>
          <p:nvPr/>
        </p:nvSpPr>
        <p:spPr>
          <a:xfrm>
            <a:off x="502920" y="2926080"/>
            <a:ext cx="50292" cy="1554480"/>
          </a:xfrm>
          <a:prstGeom prst="rect">
            <a:avLst/>
          </a:prstGeom>
          <a:solidFill>
            <a:srgbClr val="00E5CC"/>
          </a:solidFill>
          <a:ln w="12700">
            <a:solidFill>
              <a:srgbClr val="00E5CC"/>
            </a:solidFill>
            <a:prstDash val="solid"/>
          </a:ln>
        </p:spPr>
      </p:sp>
      <p:sp>
        <p:nvSpPr>
          <p:cNvPr id="21" name="Shape 19"/>
          <p:cNvSpPr/>
          <p:nvPr/>
        </p:nvSpPr>
        <p:spPr>
          <a:xfrm>
            <a:off x="685800" y="3035808"/>
            <a:ext cx="1188720" cy="237744"/>
          </a:xfrm>
          <a:prstGeom prst="roundRect">
            <a:avLst>
              <a:gd name="adj" fmla="val 50000"/>
            </a:avLst>
          </a:prstGeom>
          <a:solidFill>
            <a:srgbClr val="00E5CC">
              <a:alpha val="22000"/>
            </a:srgbClr>
          </a:solidFill>
          <a:ln w="12700">
            <a:solidFill>
              <a:srgbClr val="00E5CC"/>
            </a:solidFill>
            <a:prstDash val="solid"/>
          </a:ln>
        </p:spPr>
      </p:sp>
      <p:sp>
        <p:nvSpPr>
          <p:cNvPr id="22" name="Text 20"/>
          <p:cNvSpPr/>
          <p:nvPr/>
        </p:nvSpPr>
        <p:spPr>
          <a:xfrm>
            <a:off x="685800" y="3035808"/>
            <a:ext cx="1188720" cy="237744"/>
          </a:xfrm>
          <a:prstGeom prst="rect">
            <a:avLst/>
          </a:prstGeom>
          <a:noFill/>
          <a:ln/>
        </p:spPr>
        <p:txBody>
          <a:bodyPr wrap="square" rtlCol="0" anchor="ctr"/>
          <a:lstStyle/>
          <a:p>
            <a:pPr algn="ctr" indent="0" marL="0">
              <a:buNone/>
            </a:pPr>
            <a:r>
              <a:rPr lang="en-US" sz="800" b="1" dirty="0">
                <a:solidFill>
                  <a:srgbClr val="00E5CC"/>
                </a:solidFill>
                <a:latin typeface="Courier New" pitchFamily="34" charset="0"/>
                <a:ea typeface="Courier New" pitchFamily="34" charset="-122"/>
                <a:cs typeface="Courier New" pitchFamily="34" charset="-120"/>
              </a:rPr>
              <a:t>Microsoft Copilot</a:t>
            </a:r>
            <a:endParaRPr lang="en-US" sz="800" dirty="0"/>
          </a:p>
        </p:txBody>
      </p:sp>
      <p:sp>
        <p:nvSpPr>
          <p:cNvPr id="23" name="Text 21"/>
          <p:cNvSpPr/>
          <p:nvPr/>
        </p:nvSpPr>
        <p:spPr>
          <a:xfrm>
            <a:off x="685800" y="3337560"/>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24" name="Text 22"/>
          <p:cNvSpPr/>
          <p:nvPr/>
        </p:nvSpPr>
        <p:spPr>
          <a:xfrm>
            <a:off x="685800" y="3520440"/>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"Generate 20 portfolio template renderers in JavaScript. Each takes a data object and returns a complete HTML string. Include: Midnight (dark radial), Carbon, Aurora, Terminal (monospace CLI style), Paper (print resume), Editorial, Minimal, Designer, Cyber, Brutalist, Glass, and more. Use Google Fonts and professional typography."</a:t>
            </a:r>
            <a:endParaRPr lang="en-US" sz="850" dirty="0"/>
          </a:p>
        </p:txBody>
      </p:sp>
      <p:sp>
        <p:nvSpPr>
          <p:cNvPr id="25" name="Text 23"/>
          <p:cNvSpPr/>
          <p:nvPr/>
        </p:nvSpPr>
        <p:spPr>
          <a:xfrm>
            <a:off x="6492240" y="3337560"/>
            <a:ext cx="4937760" cy="182880"/>
          </a:xfrm>
          <a:prstGeom prst="rect">
            <a:avLst/>
          </a:prstGeom>
          <a:noFill/>
          <a:ln/>
        </p:spPr>
        <p:txBody>
          <a:bodyPr wrap="square" rtlCol="0" anchor="ctr"/>
          <a:lstStyle/>
          <a:p>
            <a:pPr indent="0" marL="0">
              <a:buNone/>
            </a:pPr>
            <a:r>
              <a:rPr lang="en-US" sz="650" spc="200" kern="0" dirty="0">
                <a:solidFill>
                  <a:srgbClr val="00E5CC"/>
                </a:solidFill>
                <a:latin typeface="Courier New" pitchFamily="34" charset="0"/>
                <a:ea typeface="Courier New" pitchFamily="34" charset="-122"/>
                <a:cs typeface="Courier New" pitchFamily="34" charset="-120"/>
              </a:rPr>
              <a:t>OUTPUT</a:t>
            </a:r>
            <a:endParaRPr lang="en-US" sz="650" dirty="0"/>
          </a:p>
        </p:txBody>
      </p:sp>
      <p:sp>
        <p:nvSpPr>
          <p:cNvPr id="26" name="Text 24"/>
          <p:cNvSpPr/>
          <p:nvPr/>
        </p:nvSpPr>
        <p:spPr>
          <a:xfrm>
            <a:off x="6492240" y="3520440"/>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all 20 template functions including darkPortfolio(), lightPortfolio(), and the terminal/paper special-layout renderers with full CSS, stats bars, and section layouts.</a:t>
            </a:r>
            <a:endParaRPr lang="en-US" sz="850" dirty="0"/>
          </a:p>
        </p:txBody>
      </p:sp>
      <p:sp>
        <p:nvSpPr>
          <p:cNvPr id="27" name="Shape 25"/>
          <p:cNvSpPr/>
          <p:nvPr/>
        </p:nvSpPr>
        <p:spPr>
          <a:xfrm>
            <a:off x="6263640" y="3310128"/>
            <a:ext cx="0" cy="1078992"/>
          </a:xfrm>
          <a:prstGeom prst="line">
            <a:avLst/>
          </a:prstGeom>
          <a:noFill/>
          <a:ln w="12700">
            <a:solidFill>
              <a:srgbClr val="6B8CAE">
                <a:alpha val="35000"/>
              </a:srgbClr>
            </a:solidFill>
            <a:prstDash val="solid"/>
          </a:ln>
        </p:spPr>
      </p:sp>
      <p:sp>
        <p:nvSpPr>
          <p:cNvPr id="28" name="Shape 26"/>
          <p:cNvSpPr/>
          <p:nvPr/>
        </p:nvSpPr>
        <p:spPr>
          <a:xfrm>
            <a:off x="502920" y="4645152"/>
            <a:ext cx="11155680" cy="1554480"/>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29" name="Shape 27"/>
          <p:cNvSpPr/>
          <p:nvPr/>
        </p:nvSpPr>
        <p:spPr>
          <a:xfrm>
            <a:off x="502920" y="4645152"/>
            <a:ext cx="50292" cy="1554480"/>
          </a:xfrm>
          <a:prstGeom prst="rect">
            <a:avLst/>
          </a:prstGeom>
          <a:solidFill>
            <a:srgbClr val="00C9A7"/>
          </a:solidFill>
          <a:ln w="12700">
            <a:solidFill>
              <a:srgbClr val="00C9A7"/>
            </a:solidFill>
            <a:prstDash val="solid"/>
          </a:ln>
        </p:spPr>
      </p:sp>
      <p:sp>
        <p:nvSpPr>
          <p:cNvPr id="30" name="Shape 28"/>
          <p:cNvSpPr/>
          <p:nvPr/>
        </p:nvSpPr>
        <p:spPr>
          <a:xfrm>
            <a:off x="685800" y="4754880"/>
            <a:ext cx="1188720" cy="237744"/>
          </a:xfrm>
          <a:prstGeom prst="roundRect">
            <a:avLst>
              <a:gd name="adj" fmla="val 50000"/>
            </a:avLst>
          </a:prstGeom>
          <a:solidFill>
            <a:srgbClr val="00C9A7">
              <a:alpha val="22000"/>
            </a:srgbClr>
          </a:solidFill>
          <a:ln w="12700">
            <a:solidFill>
              <a:srgbClr val="00C9A7"/>
            </a:solidFill>
            <a:prstDash val="solid"/>
          </a:ln>
        </p:spPr>
      </p:sp>
      <p:sp>
        <p:nvSpPr>
          <p:cNvPr id="31" name="Text 29"/>
          <p:cNvSpPr/>
          <p:nvPr/>
        </p:nvSpPr>
        <p:spPr>
          <a:xfrm>
            <a:off x="685800" y="4754880"/>
            <a:ext cx="1188720" cy="237744"/>
          </a:xfrm>
          <a:prstGeom prst="rect">
            <a:avLst/>
          </a:prstGeom>
          <a:noFill/>
          <a:ln/>
        </p:spPr>
        <p:txBody>
          <a:bodyPr wrap="square" rtlCol="0" anchor="ctr"/>
          <a:lstStyle/>
          <a:p>
            <a:pPr algn="ctr" indent="0" marL="0">
              <a:buNone/>
            </a:pPr>
            <a:r>
              <a:rPr lang="en-US" sz="800" b="1" dirty="0">
                <a:solidFill>
                  <a:srgbClr val="00C9A7"/>
                </a:solidFill>
                <a:latin typeface="Courier New" pitchFamily="34" charset="0"/>
                <a:ea typeface="Courier New" pitchFamily="34" charset="-122"/>
                <a:cs typeface="Courier New" pitchFamily="34" charset="-120"/>
              </a:rPr>
              <a:t>Copilot + Gemini</a:t>
            </a:r>
            <a:endParaRPr lang="en-US" sz="800" dirty="0"/>
          </a:p>
        </p:txBody>
      </p:sp>
      <p:sp>
        <p:nvSpPr>
          <p:cNvPr id="32" name="Text 30"/>
          <p:cNvSpPr/>
          <p:nvPr/>
        </p:nvSpPr>
        <p:spPr>
          <a:xfrm>
            <a:off x="685800" y="5056632"/>
            <a:ext cx="914400" cy="182880"/>
          </a:xfrm>
          <a:prstGeom prst="rect">
            <a:avLst/>
          </a:prstGeom>
          <a:noFill/>
          <a:ln/>
        </p:spPr>
        <p:txBody>
          <a:bodyPr wrap="square" rtlCol="0" anchor="ctr"/>
          <a:lstStyle/>
          <a:p>
            <a:pPr indent="0" marL="0">
              <a:buNone/>
            </a:pPr>
            <a:r>
              <a:rPr lang="en-US" sz="650" spc="200" kern="0" dirty="0">
                <a:solidFill>
                  <a:srgbClr val="6B8CAE"/>
                </a:solidFill>
                <a:latin typeface="Courier New" pitchFamily="34" charset="0"/>
                <a:ea typeface="Courier New" pitchFamily="34" charset="-122"/>
                <a:cs typeface="Courier New" pitchFamily="34" charset="-120"/>
              </a:rPr>
              <a:t>PROMPT</a:t>
            </a:r>
            <a:endParaRPr lang="en-US" sz="650" dirty="0"/>
          </a:p>
        </p:txBody>
      </p:sp>
      <p:sp>
        <p:nvSpPr>
          <p:cNvPr id="33" name="Text 31"/>
          <p:cNvSpPr/>
          <p:nvPr/>
        </p:nvSpPr>
        <p:spPr>
          <a:xfrm>
            <a:off x="685800" y="5239512"/>
            <a:ext cx="5577840" cy="841248"/>
          </a:xfrm>
          <a:prstGeom prst="rect">
            <a:avLst/>
          </a:prstGeom>
          <a:noFill/>
          <a:ln/>
        </p:spPr>
        <p:txBody>
          <a:bodyPr wrap="square" rtlCol="0" anchor="ctr"/>
          <a:lstStyle/>
          <a:p>
            <a:pPr indent="0" marL="0">
              <a:lnSpc>
                <a:spcPct val="140000"/>
              </a:lnSpc>
              <a:buNone/>
            </a:pPr>
            <a:r>
              <a:rPr lang="en-US" sz="850" i="1" dirty="0">
                <a:solidFill>
                  <a:srgbClr val="B8D4E8"/>
                </a:solidFill>
              </a:rPr>
              <a:t>"Style the entire DevFolio app with a dark theme using CSS custom properties. Use --bg:#050508, --accent:#6c63ff, --accent2:#ff6584. Add glassmorphism nav, animated gradient text, skill chip toggles, dynamic form steps with progress dots, color presets with hover animations, and a responsive mobile layout."</a:t>
            </a:r>
            <a:endParaRPr lang="en-US" sz="850" dirty="0"/>
          </a:p>
        </p:txBody>
      </p:sp>
      <p:sp>
        <p:nvSpPr>
          <p:cNvPr id="34" name="Text 32"/>
          <p:cNvSpPr/>
          <p:nvPr/>
        </p:nvSpPr>
        <p:spPr>
          <a:xfrm>
            <a:off x="6492240" y="5056632"/>
            <a:ext cx="4937760" cy="182880"/>
          </a:xfrm>
          <a:prstGeom prst="rect">
            <a:avLst/>
          </a:prstGeom>
          <a:noFill/>
          <a:ln/>
        </p:spPr>
        <p:txBody>
          <a:bodyPr wrap="square" rtlCol="0" anchor="ctr"/>
          <a:lstStyle/>
          <a:p>
            <a:pPr indent="0" marL="0">
              <a:buNone/>
            </a:pPr>
            <a:r>
              <a:rPr lang="en-US" sz="650" spc="200" kern="0" dirty="0">
                <a:solidFill>
                  <a:srgbClr val="00C9A7"/>
                </a:solidFill>
                <a:latin typeface="Courier New" pitchFamily="34" charset="0"/>
                <a:ea typeface="Courier New" pitchFamily="34" charset="-122"/>
                <a:cs typeface="Courier New" pitchFamily="34" charset="-120"/>
              </a:rPr>
              <a:t>OUTPUT</a:t>
            </a:r>
            <a:endParaRPr lang="en-US" sz="650" dirty="0"/>
          </a:p>
        </p:txBody>
      </p:sp>
      <p:sp>
        <p:nvSpPr>
          <p:cNvPr id="35" name="Text 33"/>
          <p:cNvSpPr/>
          <p:nvPr/>
        </p:nvSpPr>
        <p:spPr>
          <a:xfrm>
            <a:off x="6492240" y="5239512"/>
            <a:ext cx="5029200" cy="868680"/>
          </a:xfrm>
          <a:prstGeom prst="rect">
            <a:avLst/>
          </a:prstGeom>
          <a:noFill/>
          <a:ln/>
        </p:spPr>
        <p:txBody>
          <a:bodyPr wrap="square" rtlCol="0" anchor="ctr"/>
          <a:lstStyle/>
          <a:p>
            <a:pPr indent="0" marL="0">
              <a:lnSpc>
                <a:spcPct val="140000"/>
              </a:lnSpc>
              <a:buNone/>
            </a:pPr>
            <a:r>
              <a:rPr lang="en-US" sz="850" dirty="0">
                <a:solidFill>
                  <a:srgbClr val="6B8CAE"/>
                </a:solidFill>
              </a:rPr>
              <a:t>Generated all CSS variables, nav styles, auth overlay styles, card components, skill chips, step progress indicator, upload zones, and toggle switch — 450+ lines of CSS.</a:t>
            </a:r>
            <a:endParaRPr lang="en-US" sz="850" dirty="0"/>
          </a:p>
        </p:txBody>
      </p:sp>
      <p:sp>
        <p:nvSpPr>
          <p:cNvPr id="36" name="Shape 34"/>
          <p:cNvSpPr/>
          <p:nvPr/>
        </p:nvSpPr>
        <p:spPr>
          <a:xfrm>
            <a:off x="6263640" y="5029200"/>
            <a:ext cx="0" cy="1078992"/>
          </a:xfrm>
          <a:prstGeom prst="line">
            <a:avLst/>
          </a:prstGeom>
          <a:noFill/>
          <a:ln w="12700">
            <a:solidFill>
              <a:srgbClr val="6B8CAE">
                <a:alpha val="35000"/>
              </a:srgbClr>
            </a:solidFill>
            <a:prstDash val="solid"/>
          </a:ln>
        </p:spPr>
      </p:sp>
      <p:sp>
        <p:nvSpPr>
          <p:cNvPr id="37" name="Shape 35"/>
          <p:cNvSpPr/>
          <p:nvPr/>
        </p:nvSpPr>
        <p:spPr>
          <a:xfrm>
            <a:off x="0" y="6547104"/>
            <a:ext cx="12161520" cy="310896"/>
          </a:xfrm>
          <a:prstGeom prst="rect">
            <a:avLst/>
          </a:prstGeom>
          <a:solidFill>
            <a:srgbClr val="071020"/>
          </a:solidFill>
          <a:ln w="12700">
            <a:solidFill>
              <a:srgbClr val="071020"/>
            </a:solidFill>
            <a:prstDash val="solid"/>
          </a:ln>
        </p:spPr>
      </p:sp>
      <p:sp>
        <p:nvSpPr>
          <p:cNvPr id="38" name="Shape 36"/>
          <p:cNvSpPr/>
          <p:nvPr/>
        </p:nvSpPr>
        <p:spPr>
          <a:xfrm>
            <a:off x="0" y="6547104"/>
            <a:ext cx="12161520" cy="27432"/>
          </a:xfrm>
          <a:prstGeom prst="rect">
            <a:avLst/>
          </a:prstGeom>
          <a:solidFill>
            <a:srgbClr val="E8A020"/>
          </a:solidFill>
          <a:ln w="12700">
            <a:solidFill>
              <a:srgbClr val="E8A020"/>
            </a:solidFill>
            <a:prstDash val="solid"/>
          </a:ln>
        </p:spPr>
      </p:sp>
      <p:sp>
        <p:nvSpPr>
          <p:cNvPr id="39" name="Text 37"/>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00E5CC"/>
          </a:solidFill>
          <a:ln w="12700">
            <a:solidFill>
              <a:srgbClr val="00E5CC"/>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00E5CC">
              <a:alpha val="18000"/>
            </a:srgbClr>
          </a:solidFill>
          <a:ln w="12700">
            <a:solidFill>
              <a:srgbClr val="00E5CC"/>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00E5CC"/>
                </a:solidFill>
                <a:latin typeface="Courier New" pitchFamily="34" charset="0"/>
                <a:ea typeface="Courier New" pitchFamily="34" charset="-122"/>
                <a:cs typeface="Courier New" pitchFamily="34" charset="-120"/>
              </a:rPr>
              <a:t>/ 06</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Workflow Flowchart</a:t>
            </a:r>
            <a:endParaRPr lang="en-US" sz="3400" dirty="0"/>
          </a:p>
        </p:txBody>
      </p:sp>
      <p:sp>
        <p:nvSpPr>
          <p:cNvPr id="7" name="Shape 5"/>
          <p:cNvSpPr/>
          <p:nvPr/>
        </p:nvSpPr>
        <p:spPr>
          <a:xfrm>
            <a:off x="502920" y="1024128"/>
            <a:ext cx="548640" cy="45720"/>
          </a:xfrm>
          <a:prstGeom prst="rect">
            <a:avLst/>
          </a:prstGeom>
          <a:solidFill>
            <a:srgbClr val="00E5CC"/>
          </a:solidFill>
          <a:ln w="12700">
            <a:solidFill>
              <a:srgbClr val="00E5CC"/>
            </a:solidFill>
            <a:prstDash val="solid"/>
          </a:ln>
        </p:spPr>
      </p:sp>
      <p:sp>
        <p:nvSpPr>
          <p:cNvPr id="8" name="Shape 6"/>
          <p:cNvSpPr/>
          <p:nvPr/>
        </p:nvSpPr>
        <p:spPr>
          <a:xfrm>
            <a:off x="2880360" y="1188720"/>
            <a:ext cx="6400800" cy="6400800"/>
          </a:xfrm>
          <a:prstGeom prst="ellipse">
            <a:avLst/>
          </a:prstGeom>
          <a:solidFill>
            <a:srgbClr val="00E5CC">
              <a:alpha val="7000"/>
            </a:srgbClr>
          </a:solidFill>
          <a:ln w="12700">
            <a:solidFill>
              <a:srgbClr val="00E5CC">
                <a:alpha val="0"/>
              </a:srgbClr>
            </a:solidFill>
            <a:prstDash val="solid"/>
          </a:ln>
        </p:spPr>
      </p:sp>
      <p:sp>
        <p:nvSpPr>
          <p:cNvPr id="9" name="Shape 7"/>
          <p:cNvSpPr/>
          <p:nvPr/>
        </p:nvSpPr>
        <p:spPr>
          <a:xfrm>
            <a:off x="502920" y="1207008"/>
            <a:ext cx="1444752" cy="621792"/>
          </a:xfrm>
          <a:prstGeom prst="roundRect">
            <a:avLst>
              <a:gd name="adj" fmla="val 22059"/>
            </a:avLst>
          </a:prstGeom>
          <a:solidFill>
            <a:srgbClr val="E8A020">
              <a:alpha val="20000"/>
            </a:srgbClr>
          </a:solidFill>
          <a:ln w="19050">
            <a:solidFill>
              <a:srgbClr val="E8A020"/>
            </a:solidFill>
            <a:prstDash val="solid"/>
          </a:ln>
          <a:effectLst>
            <a:outerShdw sx="100000" sy="100000" kx="0" ky="0" algn="bl" rotWithShape="0" blurRad="127000" dist="38100" dir="8100000">
              <a:srgbClr val="000000">
                <a:alpha val="25000"/>
              </a:srgbClr>
            </a:outerShdw>
          </a:effectLst>
        </p:spPr>
      </p:sp>
      <p:sp>
        <p:nvSpPr>
          <p:cNvPr id="10" name="Text 8"/>
          <p:cNvSpPr/>
          <p:nvPr/>
        </p:nvSpPr>
        <p:spPr>
          <a:xfrm>
            <a:off x="502920" y="1371600"/>
            <a:ext cx="1444752" cy="292608"/>
          </a:xfrm>
          <a:prstGeom prst="rect">
            <a:avLst/>
          </a:prstGeom>
          <a:noFill/>
          <a:ln/>
        </p:spPr>
        <p:txBody>
          <a:bodyPr wrap="square" rtlCol="0" anchor="ctr"/>
          <a:lstStyle/>
          <a:p>
            <a:pPr algn="ctr" indent="0" marL="0">
              <a:buNone/>
            </a:pPr>
            <a:r>
              <a:rPr lang="en-US" sz="950" b="1" dirty="0">
                <a:solidFill>
                  <a:srgbClr val="FFFFFF"/>
                </a:solidFill>
              </a:rPr>
              <a:t>User Visits</a:t>
            </a:r>
            <a:endParaRPr lang="en-US" sz="950" dirty="0"/>
          </a:p>
        </p:txBody>
      </p:sp>
      <p:sp>
        <p:nvSpPr>
          <p:cNvPr id="11" name="Text 9"/>
          <p:cNvSpPr/>
          <p:nvPr/>
        </p:nvSpPr>
        <p:spPr>
          <a:xfrm>
            <a:off x="502920" y="1609344"/>
            <a:ext cx="1444752" cy="201168"/>
          </a:xfrm>
          <a:prstGeom prst="rect">
            <a:avLst/>
          </a:prstGeom>
          <a:noFill/>
          <a:ln/>
        </p:spPr>
        <p:txBody>
          <a:bodyPr wrap="square" rtlCol="0" anchor="ctr"/>
          <a:lstStyle/>
          <a:p>
            <a:pPr algn="ctr" indent="0" marL="0">
              <a:buNone/>
            </a:pPr>
            <a:r>
              <a:rPr lang="en-US" sz="700" dirty="0">
                <a:solidFill>
                  <a:srgbClr val="E8A020"/>
                </a:solidFill>
              </a:rPr>
              <a:t>Browser</a:t>
            </a:r>
            <a:endParaRPr lang="en-US" sz="700" dirty="0"/>
          </a:p>
        </p:txBody>
      </p:sp>
      <p:sp>
        <p:nvSpPr>
          <p:cNvPr id="12" name="Shape 10"/>
          <p:cNvSpPr/>
          <p:nvPr/>
        </p:nvSpPr>
        <p:spPr>
          <a:xfrm>
            <a:off x="1947672" y="1517904"/>
            <a:ext cx="347472" cy="9144"/>
          </a:xfrm>
          <a:prstGeom prst="line">
            <a:avLst/>
          </a:prstGeom>
          <a:noFill/>
          <a:ln w="19050">
            <a:solidFill>
              <a:srgbClr val="E8A020"/>
            </a:solidFill>
            <a:prstDash val="solid"/>
            <a:tailEnd type="arrow"/>
          </a:ln>
        </p:spPr>
      </p:sp>
      <p:sp>
        <p:nvSpPr>
          <p:cNvPr id="13" name="Shape 11"/>
          <p:cNvSpPr/>
          <p:nvPr/>
        </p:nvSpPr>
        <p:spPr>
          <a:xfrm>
            <a:off x="2295144" y="1207008"/>
            <a:ext cx="1444752" cy="621792"/>
          </a:xfrm>
          <a:prstGeom prst="roundRect">
            <a:avLst>
              <a:gd name="adj" fmla="val 22059"/>
            </a:avLst>
          </a:prstGeom>
          <a:solidFill>
            <a:srgbClr val="00C9A7">
              <a:alpha val="20000"/>
            </a:srgbClr>
          </a:solidFill>
          <a:ln w="19050">
            <a:solidFill>
              <a:srgbClr val="00C9A7"/>
            </a:solidFill>
            <a:prstDash val="solid"/>
          </a:ln>
          <a:effectLst>
            <a:outerShdw sx="100000" sy="100000" kx="0" ky="0" algn="bl" rotWithShape="0" blurRad="127000" dist="38100" dir="8100000">
              <a:srgbClr val="000000">
                <a:alpha val="25000"/>
              </a:srgbClr>
            </a:outerShdw>
          </a:effectLst>
        </p:spPr>
      </p:sp>
      <p:sp>
        <p:nvSpPr>
          <p:cNvPr id="14" name="Text 12"/>
          <p:cNvSpPr/>
          <p:nvPr/>
        </p:nvSpPr>
        <p:spPr>
          <a:xfrm>
            <a:off x="2295144" y="1371600"/>
            <a:ext cx="1444752" cy="292608"/>
          </a:xfrm>
          <a:prstGeom prst="rect">
            <a:avLst/>
          </a:prstGeom>
          <a:noFill/>
          <a:ln/>
        </p:spPr>
        <p:txBody>
          <a:bodyPr wrap="square" rtlCol="0" anchor="ctr"/>
          <a:lstStyle/>
          <a:p>
            <a:pPr algn="ctr" indent="0" marL="0">
              <a:buNone/>
            </a:pPr>
            <a:r>
              <a:rPr lang="en-US" sz="950" b="1" dirty="0">
                <a:solidFill>
                  <a:srgbClr val="FFFFFF"/>
                </a:solidFill>
              </a:rPr>
              <a:t>Auth Check</a:t>
            </a:r>
            <a:endParaRPr lang="en-US" sz="950" dirty="0"/>
          </a:p>
        </p:txBody>
      </p:sp>
      <p:sp>
        <p:nvSpPr>
          <p:cNvPr id="15" name="Text 13"/>
          <p:cNvSpPr/>
          <p:nvPr/>
        </p:nvSpPr>
        <p:spPr>
          <a:xfrm>
            <a:off x="2295144" y="1609344"/>
            <a:ext cx="1444752" cy="201168"/>
          </a:xfrm>
          <a:prstGeom prst="rect">
            <a:avLst/>
          </a:prstGeom>
          <a:noFill/>
          <a:ln/>
        </p:spPr>
        <p:txBody>
          <a:bodyPr wrap="square" rtlCol="0" anchor="ctr"/>
          <a:lstStyle/>
          <a:p>
            <a:pPr algn="ctr" indent="0" marL="0">
              <a:buNone/>
            </a:pPr>
            <a:r>
              <a:rPr lang="en-US" sz="700" dirty="0">
                <a:solidFill>
                  <a:srgbClr val="00C9A7"/>
                </a:solidFill>
              </a:rPr>
              <a:t>Login/Signup</a:t>
            </a:r>
            <a:endParaRPr lang="en-US" sz="700" dirty="0"/>
          </a:p>
        </p:txBody>
      </p:sp>
      <p:sp>
        <p:nvSpPr>
          <p:cNvPr id="16" name="Shape 14"/>
          <p:cNvSpPr/>
          <p:nvPr/>
        </p:nvSpPr>
        <p:spPr>
          <a:xfrm>
            <a:off x="3739896" y="1517904"/>
            <a:ext cx="347472" cy="9144"/>
          </a:xfrm>
          <a:prstGeom prst="line">
            <a:avLst/>
          </a:prstGeom>
          <a:noFill/>
          <a:ln w="19050">
            <a:solidFill>
              <a:srgbClr val="00C9A7"/>
            </a:solidFill>
            <a:prstDash val="solid"/>
            <a:tailEnd type="arrow"/>
          </a:ln>
        </p:spPr>
      </p:sp>
      <p:sp>
        <p:nvSpPr>
          <p:cNvPr id="17" name="Shape 15"/>
          <p:cNvSpPr/>
          <p:nvPr/>
        </p:nvSpPr>
        <p:spPr>
          <a:xfrm>
            <a:off x="4087368" y="1207008"/>
            <a:ext cx="1444752" cy="621792"/>
          </a:xfrm>
          <a:prstGeom prst="roundRect">
            <a:avLst>
              <a:gd name="adj" fmla="val 22059"/>
            </a:avLst>
          </a:prstGeom>
          <a:solidFill>
            <a:srgbClr val="4FC3F7">
              <a:alpha val="20000"/>
            </a:srgbClr>
          </a:solidFill>
          <a:ln w="19050">
            <a:solidFill>
              <a:srgbClr val="4FC3F7"/>
            </a:solidFill>
            <a:prstDash val="solid"/>
          </a:ln>
          <a:effectLst>
            <a:outerShdw sx="100000" sy="100000" kx="0" ky="0" algn="bl" rotWithShape="0" blurRad="127000" dist="38100" dir="8100000">
              <a:srgbClr val="000000">
                <a:alpha val="25000"/>
              </a:srgbClr>
            </a:outerShdw>
          </a:effectLst>
        </p:spPr>
      </p:sp>
      <p:sp>
        <p:nvSpPr>
          <p:cNvPr id="18" name="Text 16"/>
          <p:cNvSpPr/>
          <p:nvPr/>
        </p:nvSpPr>
        <p:spPr>
          <a:xfrm>
            <a:off x="4087368" y="1371600"/>
            <a:ext cx="1444752" cy="292608"/>
          </a:xfrm>
          <a:prstGeom prst="rect">
            <a:avLst/>
          </a:prstGeom>
          <a:noFill/>
          <a:ln/>
        </p:spPr>
        <p:txBody>
          <a:bodyPr wrap="square" rtlCol="0" anchor="ctr"/>
          <a:lstStyle/>
          <a:p>
            <a:pPr algn="ctr" indent="0" marL="0">
              <a:buNone/>
            </a:pPr>
            <a:r>
              <a:rPr lang="en-US" sz="950" b="1" dirty="0">
                <a:solidFill>
                  <a:srgbClr val="FFFFFF"/>
                </a:solidFill>
              </a:rPr>
              <a:t>Home Page</a:t>
            </a:r>
            <a:endParaRPr lang="en-US" sz="950" dirty="0"/>
          </a:p>
        </p:txBody>
      </p:sp>
      <p:sp>
        <p:nvSpPr>
          <p:cNvPr id="19" name="Text 17"/>
          <p:cNvSpPr/>
          <p:nvPr/>
        </p:nvSpPr>
        <p:spPr>
          <a:xfrm>
            <a:off x="4087368" y="1609344"/>
            <a:ext cx="1444752" cy="201168"/>
          </a:xfrm>
          <a:prstGeom prst="rect">
            <a:avLst/>
          </a:prstGeom>
          <a:noFill/>
          <a:ln/>
        </p:spPr>
        <p:txBody>
          <a:bodyPr wrap="square" rtlCol="0" anchor="ctr"/>
          <a:lstStyle/>
          <a:p>
            <a:pPr algn="ctr" indent="0" marL="0">
              <a:buNone/>
            </a:pPr>
            <a:r>
              <a:rPr lang="en-US" sz="700" dirty="0">
                <a:solidFill>
                  <a:srgbClr val="4FC3F7"/>
                </a:solidFill>
              </a:rPr>
              <a:t>Dashboard</a:t>
            </a:r>
            <a:endParaRPr lang="en-US" sz="700" dirty="0"/>
          </a:p>
        </p:txBody>
      </p:sp>
      <p:sp>
        <p:nvSpPr>
          <p:cNvPr id="20" name="Shape 18"/>
          <p:cNvSpPr/>
          <p:nvPr/>
        </p:nvSpPr>
        <p:spPr>
          <a:xfrm>
            <a:off x="5532120" y="1517904"/>
            <a:ext cx="347472" cy="9144"/>
          </a:xfrm>
          <a:prstGeom prst="line">
            <a:avLst/>
          </a:prstGeom>
          <a:noFill/>
          <a:ln w="19050">
            <a:solidFill>
              <a:srgbClr val="4FC3F7"/>
            </a:solidFill>
            <a:prstDash val="solid"/>
            <a:tailEnd type="arrow"/>
          </a:ln>
        </p:spPr>
      </p:sp>
      <p:sp>
        <p:nvSpPr>
          <p:cNvPr id="21" name="Shape 19"/>
          <p:cNvSpPr/>
          <p:nvPr/>
        </p:nvSpPr>
        <p:spPr>
          <a:xfrm>
            <a:off x="5879592" y="1207008"/>
            <a:ext cx="1444752" cy="621792"/>
          </a:xfrm>
          <a:prstGeom prst="roundRect">
            <a:avLst>
              <a:gd name="adj" fmla="val 22059"/>
            </a:avLst>
          </a:prstGeom>
          <a:solidFill>
            <a:srgbClr val="F5C842">
              <a:alpha val="20000"/>
            </a:srgbClr>
          </a:solidFill>
          <a:ln w="19050">
            <a:solidFill>
              <a:srgbClr val="F5C842"/>
            </a:solidFill>
            <a:prstDash val="solid"/>
          </a:ln>
          <a:effectLst>
            <a:outerShdw sx="100000" sy="100000" kx="0" ky="0" algn="bl" rotWithShape="0" blurRad="127000" dist="38100" dir="8100000">
              <a:srgbClr val="000000">
                <a:alpha val="25000"/>
              </a:srgbClr>
            </a:outerShdw>
          </a:effectLst>
        </p:spPr>
      </p:sp>
      <p:sp>
        <p:nvSpPr>
          <p:cNvPr id="22" name="Text 20"/>
          <p:cNvSpPr/>
          <p:nvPr/>
        </p:nvSpPr>
        <p:spPr>
          <a:xfrm>
            <a:off x="5879592" y="1371600"/>
            <a:ext cx="1444752" cy="292608"/>
          </a:xfrm>
          <a:prstGeom prst="rect">
            <a:avLst/>
          </a:prstGeom>
          <a:noFill/>
          <a:ln/>
        </p:spPr>
        <p:txBody>
          <a:bodyPr wrap="square" rtlCol="0" anchor="ctr"/>
          <a:lstStyle/>
          <a:p>
            <a:pPr algn="ctr" indent="0" marL="0">
              <a:buNone/>
            </a:pPr>
            <a:r>
              <a:rPr lang="en-US" sz="950" b="1" dirty="0">
                <a:solidFill>
                  <a:srgbClr val="FFFFFF"/>
                </a:solidFill>
              </a:rPr>
              <a:t>Upload Resume</a:t>
            </a:r>
            <a:endParaRPr lang="en-US" sz="950" dirty="0"/>
          </a:p>
        </p:txBody>
      </p:sp>
      <p:sp>
        <p:nvSpPr>
          <p:cNvPr id="23" name="Text 21"/>
          <p:cNvSpPr/>
          <p:nvPr/>
        </p:nvSpPr>
        <p:spPr>
          <a:xfrm>
            <a:off x="5879592" y="1609344"/>
            <a:ext cx="1444752" cy="201168"/>
          </a:xfrm>
          <a:prstGeom prst="rect">
            <a:avLst/>
          </a:prstGeom>
          <a:noFill/>
          <a:ln/>
        </p:spPr>
        <p:txBody>
          <a:bodyPr wrap="square" rtlCol="0" anchor="ctr"/>
          <a:lstStyle/>
          <a:p>
            <a:pPr algn="ctr" indent="0" marL="0">
              <a:buNone/>
            </a:pPr>
            <a:r>
              <a:rPr lang="en-US" sz="700" dirty="0">
                <a:solidFill>
                  <a:srgbClr val="F5C842"/>
                </a:solidFill>
              </a:rPr>
              <a:t>PDF/DOC/DOCX</a:t>
            </a:r>
            <a:endParaRPr lang="en-US" sz="700" dirty="0"/>
          </a:p>
        </p:txBody>
      </p:sp>
      <p:sp>
        <p:nvSpPr>
          <p:cNvPr id="24" name="Shape 22"/>
          <p:cNvSpPr/>
          <p:nvPr/>
        </p:nvSpPr>
        <p:spPr>
          <a:xfrm>
            <a:off x="7324344" y="1517904"/>
            <a:ext cx="347472" cy="9144"/>
          </a:xfrm>
          <a:prstGeom prst="line">
            <a:avLst/>
          </a:prstGeom>
          <a:noFill/>
          <a:ln w="19050">
            <a:solidFill>
              <a:srgbClr val="F5C842"/>
            </a:solidFill>
            <a:prstDash val="solid"/>
            <a:tailEnd type="arrow"/>
          </a:ln>
        </p:spPr>
      </p:sp>
      <p:sp>
        <p:nvSpPr>
          <p:cNvPr id="25" name="Shape 23"/>
          <p:cNvSpPr/>
          <p:nvPr/>
        </p:nvSpPr>
        <p:spPr>
          <a:xfrm>
            <a:off x="7671816" y="1207008"/>
            <a:ext cx="1444752" cy="621792"/>
          </a:xfrm>
          <a:prstGeom prst="roundRect">
            <a:avLst>
              <a:gd name="adj" fmla="val 22059"/>
            </a:avLst>
          </a:prstGeom>
          <a:solidFill>
            <a:srgbClr val="FF8C42">
              <a:alpha val="20000"/>
            </a:srgbClr>
          </a:solidFill>
          <a:ln w="19050">
            <a:solidFill>
              <a:srgbClr val="FF8C42"/>
            </a:solidFill>
            <a:prstDash val="solid"/>
          </a:ln>
          <a:effectLst>
            <a:outerShdw sx="100000" sy="100000" kx="0" ky="0" algn="bl" rotWithShape="0" blurRad="127000" dist="38100" dir="8100000">
              <a:srgbClr val="000000">
                <a:alpha val="25000"/>
              </a:srgbClr>
            </a:outerShdw>
          </a:effectLst>
        </p:spPr>
      </p:sp>
      <p:sp>
        <p:nvSpPr>
          <p:cNvPr id="26" name="Text 24"/>
          <p:cNvSpPr/>
          <p:nvPr/>
        </p:nvSpPr>
        <p:spPr>
          <a:xfrm>
            <a:off x="7671816" y="1371600"/>
            <a:ext cx="1444752" cy="292608"/>
          </a:xfrm>
          <a:prstGeom prst="rect">
            <a:avLst/>
          </a:prstGeom>
          <a:noFill/>
          <a:ln/>
        </p:spPr>
        <p:txBody>
          <a:bodyPr wrap="square" rtlCol="0" anchor="ctr"/>
          <a:lstStyle/>
          <a:p>
            <a:pPr algn="ctr" indent="0" marL="0">
              <a:buNone/>
            </a:pPr>
            <a:r>
              <a:rPr lang="en-US" sz="950" b="1" dirty="0">
                <a:solidFill>
                  <a:srgbClr val="FFFFFF"/>
                </a:solidFill>
              </a:rPr>
              <a:t>Parse PDF</a:t>
            </a:r>
            <a:endParaRPr lang="en-US" sz="950" dirty="0"/>
          </a:p>
        </p:txBody>
      </p:sp>
      <p:sp>
        <p:nvSpPr>
          <p:cNvPr id="27" name="Text 25"/>
          <p:cNvSpPr/>
          <p:nvPr/>
        </p:nvSpPr>
        <p:spPr>
          <a:xfrm>
            <a:off x="7671816" y="1609344"/>
            <a:ext cx="1444752" cy="201168"/>
          </a:xfrm>
          <a:prstGeom prst="rect">
            <a:avLst/>
          </a:prstGeom>
          <a:noFill/>
          <a:ln/>
        </p:spPr>
        <p:txBody>
          <a:bodyPr wrap="square" rtlCol="0" anchor="ctr"/>
          <a:lstStyle/>
          <a:p>
            <a:pPr algn="ctr" indent="0" marL="0">
              <a:buNone/>
            </a:pPr>
            <a:r>
              <a:rPr lang="en-US" sz="700" dirty="0">
                <a:solidFill>
                  <a:srgbClr val="FF8C42"/>
                </a:solidFill>
              </a:rPr>
              <a:t>PDF.js engine</a:t>
            </a:r>
            <a:endParaRPr lang="en-US" sz="700" dirty="0"/>
          </a:p>
        </p:txBody>
      </p:sp>
      <p:sp>
        <p:nvSpPr>
          <p:cNvPr id="28" name="Shape 26"/>
          <p:cNvSpPr/>
          <p:nvPr/>
        </p:nvSpPr>
        <p:spPr>
          <a:xfrm>
            <a:off x="9116568" y="1517904"/>
            <a:ext cx="347472" cy="9144"/>
          </a:xfrm>
          <a:prstGeom prst="line">
            <a:avLst/>
          </a:prstGeom>
          <a:noFill/>
          <a:ln w="19050">
            <a:solidFill>
              <a:srgbClr val="FF8C42"/>
            </a:solidFill>
            <a:prstDash val="solid"/>
            <a:tailEnd type="arrow"/>
          </a:ln>
        </p:spPr>
      </p:sp>
      <p:sp>
        <p:nvSpPr>
          <p:cNvPr id="29" name="Shape 27"/>
          <p:cNvSpPr/>
          <p:nvPr/>
        </p:nvSpPr>
        <p:spPr>
          <a:xfrm>
            <a:off x="9464040" y="1207008"/>
            <a:ext cx="1444752" cy="621792"/>
          </a:xfrm>
          <a:prstGeom prst="roundRect">
            <a:avLst>
              <a:gd name="adj" fmla="val 22059"/>
            </a:avLst>
          </a:prstGeom>
          <a:solidFill>
            <a:srgbClr val="00E5CC">
              <a:alpha val="20000"/>
            </a:srgbClr>
          </a:solidFill>
          <a:ln w="19050">
            <a:solidFill>
              <a:srgbClr val="00E5CC"/>
            </a:solidFill>
            <a:prstDash val="solid"/>
          </a:ln>
          <a:effectLst>
            <a:outerShdw sx="100000" sy="100000" kx="0" ky="0" algn="bl" rotWithShape="0" blurRad="127000" dist="38100" dir="8100000">
              <a:srgbClr val="000000">
                <a:alpha val="25000"/>
              </a:srgbClr>
            </a:outerShdw>
          </a:effectLst>
        </p:spPr>
      </p:sp>
      <p:sp>
        <p:nvSpPr>
          <p:cNvPr id="30" name="Text 28"/>
          <p:cNvSpPr/>
          <p:nvPr/>
        </p:nvSpPr>
        <p:spPr>
          <a:xfrm>
            <a:off x="9464040" y="1371600"/>
            <a:ext cx="1444752" cy="292608"/>
          </a:xfrm>
          <a:prstGeom prst="rect">
            <a:avLst/>
          </a:prstGeom>
          <a:noFill/>
          <a:ln/>
        </p:spPr>
        <p:txBody>
          <a:bodyPr wrap="square" rtlCol="0" anchor="ctr"/>
          <a:lstStyle/>
          <a:p>
            <a:pPr algn="ctr" indent="0" marL="0">
              <a:buNone/>
            </a:pPr>
            <a:r>
              <a:rPr lang="en-US" sz="950" b="1" dirty="0">
                <a:solidFill>
                  <a:srgbClr val="FFFFFF"/>
                </a:solidFill>
              </a:rPr>
              <a:t>Auto-Fill Form</a:t>
            </a:r>
            <a:endParaRPr lang="en-US" sz="950" dirty="0"/>
          </a:p>
        </p:txBody>
      </p:sp>
      <p:sp>
        <p:nvSpPr>
          <p:cNvPr id="31" name="Text 29"/>
          <p:cNvSpPr/>
          <p:nvPr/>
        </p:nvSpPr>
        <p:spPr>
          <a:xfrm>
            <a:off x="9464040" y="1609344"/>
            <a:ext cx="1444752" cy="201168"/>
          </a:xfrm>
          <a:prstGeom prst="rect">
            <a:avLst/>
          </a:prstGeom>
          <a:noFill/>
          <a:ln/>
        </p:spPr>
        <p:txBody>
          <a:bodyPr wrap="square" rtlCol="0" anchor="ctr"/>
          <a:lstStyle/>
          <a:p>
            <a:pPr algn="ctr" indent="0" marL="0">
              <a:buNone/>
            </a:pPr>
            <a:r>
              <a:rPr lang="en-US" sz="700" dirty="0">
                <a:solidFill>
                  <a:srgbClr val="00E5CC"/>
                </a:solidFill>
              </a:rPr>
              <a:t>5-step wizard</a:t>
            </a:r>
            <a:endParaRPr lang="en-US" sz="700" dirty="0"/>
          </a:p>
        </p:txBody>
      </p:sp>
      <p:sp>
        <p:nvSpPr>
          <p:cNvPr id="32" name="Shape 30"/>
          <p:cNvSpPr/>
          <p:nvPr/>
        </p:nvSpPr>
        <p:spPr>
          <a:xfrm>
            <a:off x="10186416" y="1828800"/>
            <a:ext cx="9144" cy="347472"/>
          </a:xfrm>
          <a:prstGeom prst="line">
            <a:avLst/>
          </a:prstGeom>
          <a:noFill/>
          <a:ln w="19050">
            <a:solidFill>
              <a:srgbClr val="00E5CC"/>
            </a:solidFill>
            <a:prstDash val="solid"/>
            <a:tailEnd type="arrow"/>
          </a:ln>
        </p:spPr>
      </p:sp>
      <p:sp>
        <p:nvSpPr>
          <p:cNvPr id="33" name="Shape 31"/>
          <p:cNvSpPr/>
          <p:nvPr/>
        </p:nvSpPr>
        <p:spPr>
          <a:xfrm>
            <a:off x="502920" y="2542032"/>
            <a:ext cx="1444752" cy="621792"/>
          </a:xfrm>
          <a:prstGeom prst="roundRect">
            <a:avLst>
              <a:gd name="adj" fmla="val 22059"/>
            </a:avLst>
          </a:prstGeom>
          <a:solidFill>
            <a:srgbClr val="4FC3F7">
              <a:alpha val="20000"/>
            </a:srgbClr>
          </a:solidFill>
          <a:ln w="19050">
            <a:solidFill>
              <a:srgbClr val="4FC3F7"/>
            </a:solidFill>
            <a:prstDash val="solid"/>
          </a:ln>
          <a:effectLst>
            <a:outerShdw sx="100000" sy="100000" kx="0" ky="0" algn="bl" rotWithShape="0" blurRad="127000" dist="38100" dir="8100000">
              <a:srgbClr val="000000">
                <a:alpha val="25000"/>
              </a:srgbClr>
            </a:outerShdw>
          </a:effectLst>
        </p:spPr>
      </p:sp>
      <p:sp>
        <p:nvSpPr>
          <p:cNvPr id="34" name="Text 32"/>
          <p:cNvSpPr/>
          <p:nvPr/>
        </p:nvSpPr>
        <p:spPr>
          <a:xfrm>
            <a:off x="502920" y="2706624"/>
            <a:ext cx="1444752" cy="292608"/>
          </a:xfrm>
          <a:prstGeom prst="rect">
            <a:avLst/>
          </a:prstGeom>
          <a:noFill/>
          <a:ln/>
        </p:spPr>
        <p:txBody>
          <a:bodyPr wrap="square" rtlCol="0" anchor="ctr"/>
          <a:lstStyle/>
          <a:p>
            <a:pPr algn="ctr" indent="0" marL="0">
              <a:buNone/>
            </a:pPr>
            <a:r>
              <a:rPr lang="en-US" sz="950" b="1" dirty="0">
                <a:solidFill>
                  <a:srgbClr val="FFFFFF"/>
                </a:solidFill>
              </a:rPr>
              <a:t>Download HTML</a:t>
            </a:r>
            <a:endParaRPr lang="en-US" sz="950" dirty="0"/>
          </a:p>
        </p:txBody>
      </p:sp>
      <p:sp>
        <p:nvSpPr>
          <p:cNvPr id="35" name="Text 33"/>
          <p:cNvSpPr/>
          <p:nvPr/>
        </p:nvSpPr>
        <p:spPr>
          <a:xfrm>
            <a:off x="502920" y="2944368"/>
            <a:ext cx="1444752" cy="201168"/>
          </a:xfrm>
          <a:prstGeom prst="rect">
            <a:avLst/>
          </a:prstGeom>
          <a:noFill/>
          <a:ln/>
        </p:spPr>
        <p:txBody>
          <a:bodyPr wrap="square" rtlCol="0" anchor="ctr"/>
          <a:lstStyle/>
          <a:p>
            <a:pPr algn="ctr" indent="0" marL="0">
              <a:buNone/>
            </a:pPr>
            <a:r>
              <a:rPr lang="en-US" sz="700" dirty="0">
                <a:solidFill>
                  <a:srgbClr val="4FC3F7"/>
                </a:solidFill>
              </a:rPr>
              <a:t>Standalone file</a:t>
            </a:r>
            <a:endParaRPr lang="en-US" sz="700" dirty="0"/>
          </a:p>
        </p:txBody>
      </p:sp>
      <p:sp>
        <p:nvSpPr>
          <p:cNvPr id="36" name="Shape 34"/>
          <p:cNvSpPr/>
          <p:nvPr/>
        </p:nvSpPr>
        <p:spPr>
          <a:xfrm>
            <a:off x="1947672" y="2852928"/>
            <a:ext cx="347472" cy="9144"/>
          </a:xfrm>
          <a:prstGeom prst="line">
            <a:avLst/>
          </a:prstGeom>
          <a:noFill/>
          <a:ln w="19050">
            <a:solidFill>
              <a:srgbClr val="4FC3F7"/>
            </a:solidFill>
            <a:prstDash val="solid"/>
            <a:tailEnd type="arrow"/>
          </a:ln>
        </p:spPr>
      </p:sp>
      <p:sp>
        <p:nvSpPr>
          <p:cNvPr id="37" name="Shape 35"/>
          <p:cNvSpPr/>
          <p:nvPr/>
        </p:nvSpPr>
        <p:spPr>
          <a:xfrm>
            <a:off x="2295144" y="2542032"/>
            <a:ext cx="1444752" cy="621792"/>
          </a:xfrm>
          <a:prstGeom prst="roundRect">
            <a:avLst>
              <a:gd name="adj" fmla="val 22059"/>
            </a:avLst>
          </a:prstGeom>
          <a:solidFill>
            <a:srgbClr val="00C9A7">
              <a:alpha val="20000"/>
            </a:srgbClr>
          </a:solidFill>
          <a:ln w="19050">
            <a:solidFill>
              <a:srgbClr val="00C9A7"/>
            </a:solidFill>
            <a:prstDash val="solid"/>
          </a:ln>
          <a:effectLst>
            <a:outerShdw sx="100000" sy="100000" kx="0" ky="0" algn="bl" rotWithShape="0" blurRad="127000" dist="38100" dir="8100000">
              <a:srgbClr val="000000">
                <a:alpha val="25000"/>
              </a:srgbClr>
            </a:outerShdw>
          </a:effectLst>
        </p:spPr>
      </p:sp>
      <p:sp>
        <p:nvSpPr>
          <p:cNvPr id="38" name="Text 36"/>
          <p:cNvSpPr/>
          <p:nvPr/>
        </p:nvSpPr>
        <p:spPr>
          <a:xfrm>
            <a:off x="2295144" y="2706624"/>
            <a:ext cx="1444752" cy="292608"/>
          </a:xfrm>
          <a:prstGeom prst="rect">
            <a:avLst/>
          </a:prstGeom>
          <a:noFill/>
          <a:ln/>
        </p:spPr>
        <p:txBody>
          <a:bodyPr wrap="square" rtlCol="0" anchor="ctr"/>
          <a:lstStyle/>
          <a:p>
            <a:pPr algn="ctr" indent="0" marL="0">
              <a:buNone/>
            </a:pPr>
            <a:r>
              <a:rPr lang="en-US" sz="950" b="1" dirty="0">
                <a:solidFill>
                  <a:srgbClr val="FFFFFF"/>
                </a:solidFill>
              </a:rPr>
              <a:t>Preview</a:t>
            </a:r>
            <a:endParaRPr lang="en-US" sz="950" dirty="0"/>
          </a:p>
        </p:txBody>
      </p:sp>
      <p:sp>
        <p:nvSpPr>
          <p:cNvPr id="39" name="Text 37"/>
          <p:cNvSpPr/>
          <p:nvPr/>
        </p:nvSpPr>
        <p:spPr>
          <a:xfrm>
            <a:off x="2295144" y="2944368"/>
            <a:ext cx="1444752" cy="201168"/>
          </a:xfrm>
          <a:prstGeom prst="rect">
            <a:avLst/>
          </a:prstGeom>
          <a:noFill/>
          <a:ln/>
        </p:spPr>
        <p:txBody>
          <a:bodyPr wrap="square" rtlCol="0" anchor="ctr"/>
          <a:lstStyle/>
          <a:p>
            <a:pPr algn="ctr" indent="0" marL="0">
              <a:buNone/>
            </a:pPr>
            <a:r>
              <a:rPr lang="en-US" sz="700" dirty="0">
                <a:solidFill>
                  <a:srgbClr val="00C9A7"/>
                </a:solidFill>
              </a:rPr>
              <a:t>In-browser iframe</a:t>
            </a:r>
            <a:endParaRPr lang="en-US" sz="700" dirty="0"/>
          </a:p>
        </p:txBody>
      </p:sp>
      <p:sp>
        <p:nvSpPr>
          <p:cNvPr id="40" name="Shape 38"/>
          <p:cNvSpPr/>
          <p:nvPr/>
        </p:nvSpPr>
        <p:spPr>
          <a:xfrm>
            <a:off x="3739896" y="2852928"/>
            <a:ext cx="347472" cy="9144"/>
          </a:xfrm>
          <a:prstGeom prst="line">
            <a:avLst/>
          </a:prstGeom>
          <a:noFill/>
          <a:ln w="19050">
            <a:solidFill>
              <a:srgbClr val="00C9A7"/>
            </a:solidFill>
            <a:prstDash val="solid"/>
            <a:tailEnd type="arrow"/>
          </a:ln>
        </p:spPr>
      </p:sp>
      <p:sp>
        <p:nvSpPr>
          <p:cNvPr id="41" name="Shape 39"/>
          <p:cNvSpPr/>
          <p:nvPr/>
        </p:nvSpPr>
        <p:spPr>
          <a:xfrm>
            <a:off x="4087368" y="2542032"/>
            <a:ext cx="1444752" cy="621792"/>
          </a:xfrm>
          <a:prstGeom prst="roundRect">
            <a:avLst>
              <a:gd name="adj" fmla="val 22059"/>
            </a:avLst>
          </a:prstGeom>
          <a:solidFill>
            <a:srgbClr val="E8A020">
              <a:alpha val="20000"/>
            </a:srgbClr>
          </a:solidFill>
          <a:ln w="19050">
            <a:solidFill>
              <a:srgbClr val="E8A020"/>
            </a:solidFill>
            <a:prstDash val="solid"/>
          </a:ln>
          <a:effectLst>
            <a:outerShdw sx="100000" sy="100000" kx="0" ky="0" algn="bl" rotWithShape="0" blurRad="127000" dist="38100" dir="8100000">
              <a:srgbClr val="000000">
                <a:alpha val="25000"/>
              </a:srgbClr>
            </a:outerShdw>
          </a:effectLst>
        </p:spPr>
      </p:sp>
      <p:sp>
        <p:nvSpPr>
          <p:cNvPr id="42" name="Text 40"/>
          <p:cNvSpPr/>
          <p:nvPr/>
        </p:nvSpPr>
        <p:spPr>
          <a:xfrm>
            <a:off x="4087368" y="2706624"/>
            <a:ext cx="1444752" cy="292608"/>
          </a:xfrm>
          <a:prstGeom prst="rect">
            <a:avLst/>
          </a:prstGeom>
          <a:noFill/>
          <a:ln/>
        </p:spPr>
        <p:txBody>
          <a:bodyPr wrap="square" rtlCol="0" anchor="ctr"/>
          <a:lstStyle/>
          <a:p>
            <a:pPr algn="ctr" indent="0" marL="0">
              <a:buNone/>
            </a:pPr>
            <a:r>
              <a:rPr lang="en-US" sz="950" b="1" dirty="0">
                <a:solidFill>
                  <a:srgbClr val="FFFFFF"/>
                </a:solidFill>
              </a:rPr>
              <a:t>Generate</a:t>
            </a:r>
            <a:endParaRPr lang="en-US" sz="950" dirty="0"/>
          </a:p>
        </p:txBody>
      </p:sp>
      <p:sp>
        <p:nvSpPr>
          <p:cNvPr id="43" name="Text 41"/>
          <p:cNvSpPr/>
          <p:nvPr/>
        </p:nvSpPr>
        <p:spPr>
          <a:xfrm>
            <a:off x="4087368" y="2944368"/>
            <a:ext cx="1444752" cy="201168"/>
          </a:xfrm>
          <a:prstGeom prst="rect">
            <a:avLst/>
          </a:prstGeom>
          <a:noFill/>
          <a:ln/>
        </p:spPr>
        <p:txBody>
          <a:bodyPr wrap="square" rtlCol="0" anchor="ctr"/>
          <a:lstStyle/>
          <a:p>
            <a:pPr algn="ctr" indent="0" marL="0">
              <a:buNone/>
            </a:pPr>
            <a:r>
              <a:rPr lang="en-US" sz="700" dirty="0">
                <a:solidFill>
                  <a:srgbClr val="E8A020"/>
                </a:solidFill>
              </a:rPr>
              <a:t>buildPortfolio()</a:t>
            </a:r>
            <a:endParaRPr lang="en-US" sz="700" dirty="0"/>
          </a:p>
        </p:txBody>
      </p:sp>
      <p:sp>
        <p:nvSpPr>
          <p:cNvPr id="44" name="Shape 42"/>
          <p:cNvSpPr/>
          <p:nvPr/>
        </p:nvSpPr>
        <p:spPr>
          <a:xfrm>
            <a:off x="5532120" y="2852928"/>
            <a:ext cx="347472" cy="9144"/>
          </a:xfrm>
          <a:prstGeom prst="line">
            <a:avLst/>
          </a:prstGeom>
          <a:noFill/>
          <a:ln w="19050">
            <a:solidFill>
              <a:srgbClr val="E8A020"/>
            </a:solidFill>
            <a:prstDash val="solid"/>
            <a:tailEnd type="arrow"/>
          </a:ln>
        </p:spPr>
      </p:sp>
      <p:sp>
        <p:nvSpPr>
          <p:cNvPr id="45" name="Shape 43"/>
          <p:cNvSpPr/>
          <p:nvPr/>
        </p:nvSpPr>
        <p:spPr>
          <a:xfrm>
            <a:off x="5879592" y="2542032"/>
            <a:ext cx="1444752" cy="621792"/>
          </a:xfrm>
          <a:prstGeom prst="roundRect">
            <a:avLst>
              <a:gd name="adj" fmla="val 22059"/>
            </a:avLst>
          </a:prstGeom>
          <a:solidFill>
            <a:srgbClr val="F5C842">
              <a:alpha val="20000"/>
            </a:srgbClr>
          </a:solidFill>
          <a:ln w="19050">
            <a:solidFill>
              <a:srgbClr val="F5C842"/>
            </a:solidFill>
            <a:prstDash val="solid"/>
          </a:ln>
          <a:effectLst>
            <a:outerShdw sx="100000" sy="100000" kx="0" ky="0" algn="bl" rotWithShape="0" blurRad="127000" dist="38100" dir="8100000">
              <a:srgbClr val="000000">
                <a:alpha val="25000"/>
              </a:srgbClr>
            </a:outerShdw>
          </a:effectLst>
        </p:spPr>
      </p:sp>
      <p:sp>
        <p:nvSpPr>
          <p:cNvPr id="46" name="Text 44"/>
          <p:cNvSpPr/>
          <p:nvPr/>
        </p:nvSpPr>
        <p:spPr>
          <a:xfrm>
            <a:off x="5879592" y="2706624"/>
            <a:ext cx="1444752" cy="292608"/>
          </a:xfrm>
          <a:prstGeom prst="rect">
            <a:avLst/>
          </a:prstGeom>
          <a:noFill/>
          <a:ln/>
        </p:spPr>
        <p:txBody>
          <a:bodyPr wrap="square" rtlCol="0" anchor="ctr"/>
          <a:lstStyle/>
          <a:p>
            <a:pPr algn="ctr" indent="0" marL="0">
              <a:buNone/>
            </a:pPr>
            <a:r>
              <a:rPr lang="en-US" sz="950" b="1" dirty="0">
                <a:solidFill>
                  <a:srgbClr val="FFFFFF"/>
                </a:solidFill>
              </a:rPr>
              <a:t>Set Style</a:t>
            </a:r>
            <a:endParaRPr lang="en-US" sz="950" dirty="0"/>
          </a:p>
        </p:txBody>
      </p:sp>
      <p:sp>
        <p:nvSpPr>
          <p:cNvPr id="47" name="Text 45"/>
          <p:cNvSpPr/>
          <p:nvPr/>
        </p:nvSpPr>
        <p:spPr>
          <a:xfrm>
            <a:off x="5879592" y="2944368"/>
            <a:ext cx="1444752" cy="201168"/>
          </a:xfrm>
          <a:prstGeom prst="rect">
            <a:avLst/>
          </a:prstGeom>
          <a:noFill/>
          <a:ln/>
        </p:spPr>
        <p:txBody>
          <a:bodyPr wrap="square" rtlCol="0" anchor="ctr"/>
          <a:lstStyle/>
          <a:p>
            <a:pPr algn="ctr" indent="0" marL="0">
              <a:buNone/>
            </a:pPr>
            <a:r>
              <a:rPr lang="en-US" sz="700" dirty="0">
                <a:solidFill>
                  <a:srgbClr val="F5C842"/>
                </a:solidFill>
              </a:rPr>
              <a:t>Color + Template</a:t>
            </a:r>
            <a:endParaRPr lang="en-US" sz="700" dirty="0"/>
          </a:p>
        </p:txBody>
      </p:sp>
      <p:sp>
        <p:nvSpPr>
          <p:cNvPr id="48" name="Shape 46"/>
          <p:cNvSpPr/>
          <p:nvPr/>
        </p:nvSpPr>
        <p:spPr>
          <a:xfrm>
            <a:off x="7324344" y="2852928"/>
            <a:ext cx="347472" cy="9144"/>
          </a:xfrm>
          <a:prstGeom prst="line">
            <a:avLst/>
          </a:prstGeom>
          <a:noFill/>
          <a:ln w="19050">
            <a:solidFill>
              <a:srgbClr val="F5C842"/>
            </a:solidFill>
            <a:prstDash val="solid"/>
            <a:tailEnd type="arrow"/>
          </a:ln>
        </p:spPr>
      </p:sp>
      <p:sp>
        <p:nvSpPr>
          <p:cNvPr id="49" name="Shape 47"/>
          <p:cNvSpPr/>
          <p:nvPr/>
        </p:nvSpPr>
        <p:spPr>
          <a:xfrm>
            <a:off x="7671816" y="2542032"/>
            <a:ext cx="1444752" cy="621792"/>
          </a:xfrm>
          <a:prstGeom prst="roundRect">
            <a:avLst>
              <a:gd name="adj" fmla="val 22059"/>
            </a:avLst>
          </a:prstGeom>
          <a:solidFill>
            <a:srgbClr val="FF8C42">
              <a:alpha val="20000"/>
            </a:srgbClr>
          </a:solidFill>
          <a:ln w="19050">
            <a:solidFill>
              <a:srgbClr val="FF8C42"/>
            </a:solidFill>
            <a:prstDash val="solid"/>
          </a:ln>
          <a:effectLst>
            <a:outerShdw sx="100000" sy="100000" kx="0" ky="0" algn="bl" rotWithShape="0" blurRad="127000" dist="38100" dir="8100000">
              <a:srgbClr val="000000">
                <a:alpha val="25000"/>
              </a:srgbClr>
            </a:outerShdw>
          </a:effectLst>
        </p:spPr>
      </p:sp>
      <p:sp>
        <p:nvSpPr>
          <p:cNvPr id="50" name="Text 48"/>
          <p:cNvSpPr/>
          <p:nvPr/>
        </p:nvSpPr>
        <p:spPr>
          <a:xfrm>
            <a:off x="7671816" y="2706624"/>
            <a:ext cx="1444752" cy="292608"/>
          </a:xfrm>
          <a:prstGeom prst="rect">
            <a:avLst/>
          </a:prstGeom>
          <a:noFill/>
          <a:ln/>
        </p:spPr>
        <p:txBody>
          <a:bodyPr wrap="square" rtlCol="0" anchor="ctr"/>
          <a:lstStyle/>
          <a:p>
            <a:pPr algn="ctr" indent="0" marL="0">
              <a:buNone/>
            </a:pPr>
            <a:r>
              <a:rPr lang="en-US" sz="950" b="1" dirty="0">
                <a:solidFill>
                  <a:srgbClr val="FFFFFF"/>
                </a:solidFill>
              </a:rPr>
              <a:t>Add Projects</a:t>
            </a:r>
            <a:endParaRPr lang="en-US" sz="950" dirty="0"/>
          </a:p>
        </p:txBody>
      </p:sp>
      <p:sp>
        <p:nvSpPr>
          <p:cNvPr id="51" name="Text 49"/>
          <p:cNvSpPr/>
          <p:nvPr/>
        </p:nvSpPr>
        <p:spPr>
          <a:xfrm>
            <a:off x="7671816" y="2944368"/>
            <a:ext cx="1444752" cy="201168"/>
          </a:xfrm>
          <a:prstGeom prst="rect">
            <a:avLst/>
          </a:prstGeom>
          <a:noFill/>
          <a:ln/>
        </p:spPr>
        <p:txBody>
          <a:bodyPr wrap="square" rtlCol="0" anchor="ctr"/>
          <a:lstStyle/>
          <a:p>
            <a:pPr algn="ctr" indent="0" marL="0">
              <a:buNone/>
            </a:pPr>
            <a:r>
              <a:rPr lang="en-US" sz="700" dirty="0">
                <a:solidFill>
                  <a:srgbClr val="FF8C42"/>
                </a:solidFill>
              </a:rPr>
              <a:t>Step 3 + 4</a:t>
            </a:r>
            <a:endParaRPr lang="en-US" sz="700" dirty="0"/>
          </a:p>
        </p:txBody>
      </p:sp>
      <p:sp>
        <p:nvSpPr>
          <p:cNvPr id="52" name="Shape 50"/>
          <p:cNvSpPr/>
          <p:nvPr/>
        </p:nvSpPr>
        <p:spPr>
          <a:xfrm>
            <a:off x="9116568" y="2852928"/>
            <a:ext cx="347472" cy="9144"/>
          </a:xfrm>
          <a:prstGeom prst="line">
            <a:avLst/>
          </a:prstGeom>
          <a:noFill/>
          <a:ln w="19050">
            <a:solidFill>
              <a:srgbClr val="FF8C42"/>
            </a:solidFill>
            <a:prstDash val="solid"/>
            <a:tailEnd type="arrow"/>
          </a:ln>
        </p:spPr>
      </p:sp>
      <p:sp>
        <p:nvSpPr>
          <p:cNvPr id="53" name="Shape 51"/>
          <p:cNvSpPr/>
          <p:nvPr/>
        </p:nvSpPr>
        <p:spPr>
          <a:xfrm>
            <a:off x="9464040" y="2542032"/>
            <a:ext cx="1444752" cy="621792"/>
          </a:xfrm>
          <a:prstGeom prst="roundRect">
            <a:avLst>
              <a:gd name="adj" fmla="val 22059"/>
            </a:avLst>
          </a:prstGeom>
          <a:solidFill>
            <a:srgbClr val="00E5CC">
              <a:alpha val="20000"/>
            </a:srgbClr>
          </a:solidFill>
          <a:ln w="19050">
            <a:solidFill>
              <a:srgbClr val="00E5CC"/>
            </a:solidFill>
            <a:prstDash val="solid"/>
          </a:ln>
          <a:effectLst>
            <a:outerShdw sx="100000" sy="100000" kx="0" ky="0" algn="bl" rotWithShape="0" blurRad="127000" dist="38100" dir="8100000">
              <a:srgbClr val="000000">
                <a:alpha val="25000"/>
              </a:srgbClr>
            </a:outerShdw>
          </a:effectLst>
        </p:spPr>
      </p:sp>
      <p:sp>
        <p:nvSpPr>
          <p:cNvPr id="54" name="Text 52"/>
          <p:cNvSpPr/>
          <p:nvPr/>
        </p:nvSpPr>
        <p:spPr>
          <a:xfrm>
            <a:off x="9464040" y="2706624"/>
            <a:ext cx="1444752" cy="292608"/>
          </a:xfrm>
          <a:prstGeom prst="rect">
            <a:avLst/>
          </a:prstGeom>
          <a:noFill/>
          <a:ln/>
        </p:spPr>
        <p:txBody>
          <a:bodyPr wrap="square" rtlCol="0" anchor="ctr"/>
          <a:lstStyle/>
          <a:p>
            <a:pPr algn="ctr" indent="0" marL="0">
              <a:buNone/>
            </a:pPr>
            <a:r>
              <a:rPr lang="en-US" sz="950" b="1" dirty="0">
                <a:solidFill>
                  <a:srgbClr val="FFFFFF"/>
                </a:solidFill>
              </a:rPr>
              <a:t>Fill Profile</a:t>
            </a:r>
            <a:endParaRPr lang="en-US" sz="950" dirty="0"/>
          </a:p>
        </p:txBody>
      </p:sp>
      <p:sp>
        <p:nvSpPr>
          <p:cNvPr id="55" name="Text 53"/>
          <p:cNvSpPr/>
          <p:nvPr/>
        </p:nvSpPr>
        <p:spPr>
          <a:xfrm>
            <a:off x="9464040" y="2944368"/>
            <a:ext cx="1444752" cy="201168"/>
          </a:xfrm>
          <a:prstGeom prst="rect">
            <a:avLst/>
          </a:prstGeom>
          <a:noFill/>
          <a:ln/>
        </p:spPr>
        <p:txBody>
          <a:bodyPr wrap="square" rtlCol="0" anchor="ctr"/>
          <a:lstStyle/>
          <a:p>
            <a:pPr algn="ctr" indent="0" marL="0">
              <a:buNone/>
            </a:pPr>
            <a:r>
              <a:rPr lang="en-US" sz="700" dirty="0">
                <a:solidFill>
                  <a:srgbClr val="00E5CC"/>
                </a:solidFill>
              </a:rPr>
              <a:t>Step 1 + 2</a:t>
            </a:r>
            <a:endParaRPr lang="en-US" sz="700" dirty="0"/>
          </a:p>
        </p:txBody>
      </p:sp>
      <p:sp>
        <p:nvSpPr>
          <p:cNvPr id="56" name="Shape 54"/>
          <p:cNvSpPr/>
          <p:nvPr/>
        </p:nvSpPr>
        <p:spPr>
          <a:xfrm>
            <a:off x="10177272" y="2176272"/>
            <a:ext cx="9144" cy="365760"/>
          </a:xfrm>
          <a:prstGeom prst="line">
            <a:avLst/>
          </a:prstGeom>
          <a:noFill/>
          <a:ln w="19050">
            <a:solidFill>
              <a:srgbClr val="00E5CC"/>
            </a:solidFill>
            <a:prstDash val="solid"/>
            <a:tailEnd type="arrow"/>
          </a:ln>
        </p:spPr>
      </p:sp>
      <p:sp>
        <p:nvSpPr>
          <p:cNvPr id="57" name="Shape 55"/>
          <p:cNvSpPr/>
          <p:nvPr/>
        </p:nvSpPr>
        <p:spPr>
          <a:xfrm>
            <a:off x="4809744" y="2852928"/>
            <a:ext cx="9144" cy="630936"/>
          </a:xfrm>
          <a:prstGeom prst="line">
            <a:avLst/>
          </a:prstGeom>
          <a:noFill/>
          <a:ln w="19050">
            <a:solidFill>
              <a:srgbClr val="E8A020"/>
            </a:solidFill>
            <a:prstDash val="solid"/>
            <a:tailEnd type="arrow"/>
          </a:ln>
        </p:spPr>
      </p:sp>
      <p:sp>
        <p:nvSpPr>
          <p:cNvPr id="58" name="Shape 56"/>
          <p:cNvSpPr/>
          <p:nvPr/>
        </p:nvSpPr>
        <p:spPr>
          <a:xfrm>
            <a:off x="4215384" y="3483864"/>
            <a:ext cx="1188720" cy="502920"/>
          </a:xfrm>
          <a:prstGeom prst="rect">
            <a:avLst/>
          </a:prstGeom>
          <a:solidFill>
            <a:srgbClr val="1C2E4A"/>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59" name="Text 57"/>
          <p:cNvSpPr/>
          <p:nvPr/>
        </p:nvSpPr>
        <p:spPr>
          <a:xfrm>
            <a:off x="4215384" y="3483864"/>
            <a:ext cx="1188720" cy="502920"/>
          </a:xfrm>
          <a:prstGeom prst="rect">
            <a:avLst/>
          </a:prstGeom>
          <a:noFill/>
          <a:ln/>
        </p:spPr>
        <p:txBody>
          <a:bodyPr wrap="square" rtlCol="0" anchor="ctr"/>
          <a:lstStyle/>
          <a:p>
            <a:pPr algn="ctr" indent="0" marL="0">
              <a:lnSpc>
                <a:spcPct val="130000"/>
              </a:lnSpc>
              <a:buNone/>
            </a:pPr>
            <a:r>
              <a:rPr lang="en-US" sz="800" b="1" dirty="0">
                <a:solidFill>
                  <a:srgbClr val="E8A020"/>
                </a:solidFill>
              </a:rPr>
              <a:t>✦ AI Bio</a:t>
            </a:r>
            <a:endParaRPr lang="en-US" sz="800" dirty="0"/>
          </a:p>
          <a:p>
            <a:pPr algn="ctr" indent="0" marL="0">
              <a:lnSpc>
                <a:spcPct val="130000"/>
              </a:lnSpc>
              <a:buNone/>
            </a:pPr>
            <a:r>
              <a:rPr lang="en-US" sz="800" b="1" dirty="0">
                <a:solidFill>
                  <a:srgbClr val="E8A020"/>
                </a:solidFill>
              </a:rPr>
              <a:t>Gemini / Copilot</a:t>
            </a:r>
            <a:endParaRPr lang="en-US" sz="800" dirty="0"/>
          </a:p>
        </p:txBody>
      </p:sp>
      <p:sp>
        <p:nvSpPr>
          <p:cNvPr id="60" name="Shape 58"/>
          <p:cNvSpPr/>
          <p:nvPr/>
        </p:nvSpPr>
        <p:spPr>
          <a:xfrm>
            <a:off x="502920" y="5257800"/>
            <a:ext cx="11155680" cy="1234440"/>
          </a:xfrm>
          <a:prstGeom prst="rect">
            <a:avLst/>
          </a:prstGeom>
          <a:solidFill>
            <a:srgbClr val="1C2E4A"/>
          </a:solidFill>
          <a:ln w="12700">
            <a:solidFill>
              <a:srgbClr val="6B8CAE">
                <a:alpha val="50000"/>
              </a:srgbClr>
            </a:solidFill>
            <a:prstDash val="solid"/>
          </a:ln>
          <a:effectLst>
            <a:outerShdw sx="100000" sy="100000" kx="0" ky="0" algn="bl" rotWithShape="0" blurRad="127000" dist="38100" dir="8100000">
              <a:srgbClr val="000000">
                <a:alpha val="25000"/>
              </a:srgbClr>
            </a:outerShdw>
          </a:effectLst>
        </p:spPr>
      </p:sp>
      <p:sp>
        <p:nvSpPr>
          <p:cNvPr id="61" name="Text 59"/>
          <p:cNvSpPr/>
          <p:nvPr/>
        </p:nvSpPr>
        <p:spPr>
          <a:xfrm>
            <a:off x="640080" y="5349240"/>
            <a:ext cx="2743200" cy="25603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Flow Legend</a:t>
            </a:r>
            <a:endParaRPr lang="en-US" sz="1000" dirty="0"/>
          </a:p>
        </p:txBody>
      </p:sp>
      <p:sp>
        <p:nvSpPr>
          <p:cNvPr id="62" name="Shape 60"/>
          <p:cNvSpPr/>
          <p:nvPr/>
        </p:nvSpPr>
        <p:spPr>
          <a:xfrm>
            <a:off x="640080" y="5733288"/>
            <a:ext cx="256032" cy="146304"/>
          </a:xfrm>
          <a:prstGeom prst="rect">
            <a:avLst/>
          </a:prstGeom>
          <a:solidFill>
            <a:srgbClr val="E8A020">
              <a:alpha val="30000"/>
            </a:srgbClr>
          </a:solidFill>
          <a:ln w="12700">
            <a:solidFill>
              <a:srgbClr val="E8A020"/>
            </a:solidFill>
            <a:prstDash val="solid"/>
          </a:ln>
        </p:spPr>
      </p:sp>
      <p:sp>
        <p:nvSpPr>
          <p:cNvPr id="63" name="Text 61"/>
          <p:cNvSpPr/>
          <p:nvPr/>
        </p:nvSpPr>
        <p:spPr>
          <a:xfrm>
            <a:off x="960120" y="5687568"/>
            <a:ext cx="1463040" cy="237744"/>
          </a:xfrm>
          <a:prstGeom prst="rect">
            <a:avLst/>
          </a:prstGeom>
          <a:noFill/>
          <a:ln/>
        </p:spPr>
        <p:txBody>
          <a:bodyPr wrap="square" rtlCol="0" anchor="ctr"/>
          <a:lstStyle/>
          <a:p>
            <a:pPr indent="0" marL="0">
              <a:buNone/>
            </a:pPr>
            <a:r>
              <a:rPr lang="en-US" sz="850" dirty="0">
                <a:solidFill>
                  <a:srgbClr val="B8D4E8"/>
                </a:solidFill>
              </a:rPr>
              <a:t>Auth &amp; Navigation</a:t>
            </a:r>
            <a:endParaRPr lang="en-US" sz="850" dirty="0"/>
          </a:p>
        </p:txBody>
      </p:sp>
      <p:sp>
        <p:nvSpPr>
          <p:cNvPr id="64" name="Shape 62"/>
          <p:cNvSpPr/>
          <p:nvPr/>
        </p:nvSpPr>
        <p:spPr>
          <a:xfrm>
            <a:off x="2505456" y="5733288"/>
            <a:ext cx="256032" cy="146304"/>
          </a:xfrm>
          <a:prstGeom prst="rect">
            <a:avLst/>
          </a:prstGeom>
          <a:solidFill>
            <a:srgbClr val="00C9A7">
              <a:alpha val="30000"/>
            </a:srgbClr>
          </a:solidFill>
          <a:ln w="12700">
            <a:solidFill>
              <a:srgbClr val="00C9A7"/>
            </a:solidFill>
            <a:prstDash val="solid"/>
          </a:ln>
        </p:spPr>
      </p:sp>
      <p:sp>
        <p:nvSpPr>
          <p:cNvPr id="65" name="Text 63"/>
          <p:cNvSpPr/>
          <p:nvPr/>
        </p:nvSpPr>
        <p:spPr>
          <a:xfrm>
            <a:off x="2825496" y="5687568"/>
            <a:ext cx="1463040" cy="237744"/>
          </a:xfrm>
          <a:prstGeom prst="rect">
            <a:avLst/>
          </a:prstGeom>
          <a:noFill/>
          <a:ln/>
        </p:spPr>
        <p:txBody>
          <a:bodyPr wrap="square" rtlCol="0" anchor="ctr"/>
          <a:lstStyle/>
          <a:p>
            <a:pPr indent="0" marL="0">
              <a:buNone/>
            </a:pPr>
            <a:r>
              <a:rPr lang="en-US" sz="850" dirty="0">
                <a:solidFill>
                  <a:srgbClr val="B8D4E8"/>
                </a:solidFill>
              </a:rPr>
              <a:t>Data Input</a:t>
            </a:r>
            <a:endParaRPr lang="en-US" sz="850" dirty="0"/>
          </a:p>
        </p:txBody>
      </p:sp>
      <p:sp>
        <p:nvSpPr>
          <p:cNvPr id="66" name="Shape 64"/>
          <p:cNvSpPr/>
          <p:nvPr/>
        </p:nvSpPr>
        <p:spPr>
          <a:xfrm>
            <a:off x="4370832" y="5733288"/>
            <a:ext cx="256032" cy="146304"/>
          </a:xfrm>
          <a:prstGeom prst="rect">
            <a:avLst/>
          </a:prstGeom>
          <a:solidFill>
            <a:srgbClr val="4FC3F7">
              <a:alpha val="30000"/>
            </a:srgbClr>
          </a:solidFill>
          <a:ln w="12700">
            <a:solidFill>
              <a:srgbClr val="4FC3F7"/>
            </a:solidFill>
            <a:prstDash val="solid"/>
          </a:ln>
        </p:spPr>
      </p:sp>
      <p:sp>
        <p:nvSpPr>
          <p:cNvPr id="67" name="Text 65"/>
          <p:cNvSpPr/>
          <p:nvPr/>
        </p:nvSpPr>
        <p:spPr>
          <a:xfrm>
            <a:off x="4690872" y="5687568"/>
            <a:ext cx="1463040" cy="237744"/>
          </a:xfrm>
          <a:prstGeom prst="rect">
            <a:avLst/>
          </a:prstGeom>
          <a:noFill/>
          <a:ln/>
        </p:spPr>
        <p:txBody>
          <a:bodyPr wrap="square" rtlCol="0" anchor="ctr"/>
          <a:lstStyle/>
          <a:p>
            <a:pPr indent="0" marL="0">
              <a:buNone/>
            </a:pPr>
            <a:r>
              <a:rPr lang="en-US" sz="850" dirty="0">
                <a:solidFill>
                  <a:srgbClr val="B8D4E8"/>
                </a:solidFill>
              </a:rPr>
              <a:t>Output &amp; Download</a:t>
            </a:r>
            <a:endParaRPr lang="en-US" sz="850" dirty="0"/>
          </a:p>
        </p:txBody>
      </p:sp>
      <p:sp>
        <p:nvSpPr>
          <p:cNvPr id="68" name="Shape 66"/>
          <p:cNvSpPr/>
          <p:nvPr/>
        </p:nvSpPr>
        <p:spPr>
          <a:xfrm>
            <a:off x="6236208" y="5733288"/>
            <a:ext cx="256032" cy="146304"/>
          </a:xfrm>
          <a:prstGeom prst="rect">
            <a:avLst/>
          </a:prstGeom>
          <a:solidFill>
            <a:srgbClr val="F5C842">
              <a:alpha val="30000"/>
            </a:srgbClr>
          </a:solidFill>
          <a:ln w="12700">
            <a:solidFill>
              <a:srgbClr val="F5C842"/>
            </a:solidFill>
            <a:prstDash val="solid"/>
          </a:ln>
        </p:spPr>
      </p:sp>
      <p:sp>
        <p:nvSpPr>
          <p:cNvPr id="69" name="Text 67"/>
          <p:cNvSpPr/>
          <p:nvPr/>
        </p:nvSpPr>
        <p:spPr>
          <a:xfrm>
            <a:off x="6556248" y="5687568"/>
            <a:ext cx="1463040" cy="237744"/>
          </a:xfrm>
          <a:prstGeom prst="rect">
            <a:avLst/>
          </a:prstGeom>
          <a:noFill/>
          <a:ln/>
        </p:spPr>
        <p:txBody>
          <a:bodyPr wrap="square" rtlCol="0" anchor="ctr"/>
          <a:lstStyle/>
          <a:p>
            <a:pPr indent="0" marL="0">
              <a:buNone/>
            </a:pPr>
            <a:r>
              <a:rPr lang="en-US" sz="850" dirty="0">
                <a:solidFill>
                  <a:srgbClr val="B8D4E8"/>
                </a:solidFill>
              </a:rPr>
              <a:t>Styling &amp; Templates</a:t>
            </a:r>
            <a:endParaRPr lang="en-US" sz="850" dirty="0"/>
          </a:p>
        </p:txBody>
      </p:sp>
      <p:sp>
        <p:nvSpPr>
          <p:cNvPr id="70" name="Shape 68"/>
          <p:cNvSpPr/>
          <p:nvPr/>
        </p:nvSpPr>
        <p:spPr>
          <a:xfrm>
            <a:off x="8101584" y="5733288"/>
            <a:ext cx="256032" cy="146304"/>
          </a:xfrm>
          <a:prstGeom prst="rect">
            <a:avLst/>
          </a:prstGeom>
          <a:solidFill>
            <a:srgbClr val="FF8C42">
              <a:alpha val="30000"/>
            </a:srgbClr>
          </a:solidFill>
          <a:ln w="12700">
            <a:solidFill>
              <a:srgbClr val="FF8C42"/>
            </a:solidFill>
            <a:prstDash val="solid"/>
          </a:ln>
        </p:spPr>
      </p:sp>
      <p:sp>
        <p:nvSpPr>
          <p:cNvPr id="71" name="Text 69"/>
          <p:cNvSpPr/>
          <p:nvPr/>
        </p:nvSpPr>
        <p:spPr>
          <a:xfrm>
            <a:off x="8421624" y="5687568"/>
            <a:ext cx="1463040" cy="237744"/>
          </a:xfrm>
          <a:prstGeom prst="rect">
            <a:avLst/>
          </a:prstGeom>
          <a:noFill/>
          <a:ln/>
        </p:spPr>
        <p:txBody>
          <a:bodyPr wrap="square" rtlCol="0" anchor="ctr"/>
          <a:lstStyle/>
          <a:p>
            <a:pPr indent="0" marL="0">
              <a:buNone/>
            </a:pPr>
            <a:r>
              <a:rPr lang="en-US" sz="850" dirty="0">
                <a:solidFill>
                  <a:srgbClr val="B8D4E8"/>
                </a:solidFill>
              </a:rPr>
              <a:t>Form Steps</a:t>
            </a:r>
            <a:endParaRPr lang="en-US" sz="850" dirty="0"/>
          </a:p>
        </p:txBody>
      </p:sp>
      <p:sp>
        <p:nvSpPr>
          <p:cNvPr id="72" name="Shape 70"/>
          <p:cNvSpPr/>
          <p:nvPr/>
        </p:nvSpPr>
        <p:spPr>
          <a:xfrm>
            <a:off x="9966960" y="5733288"/>
            <a:ext cx="256032" cy="146304"/>
          </a:xfrm>
          <a:prstGeom prst="rect">
            <a:avLst/>
          </a:prstGeom>
          <a:solidFill>
            <a:srgbClr val="00E5CC">
              <a:alpha val="30000"/>
            </a:srgbClr>
          </a:solidFill>
          <a:ln w="12700">
            <a:solidFill>
              <a:srgbClr val="00E5CC"/>
            </a:solidFill>
            <a:prstDash val="solid"/>
          </a:ln>
        </p:spPr>
      </p:sp>
      <p:sp>
        <p:nvSpPr>
          <p:cNvPr id="73" name="Text 71"/>
          <p:cNvSpPr/>
          <p:nvPr/>
        </p:nvSpPr>
        <p:spPr>
          <a:xfrm>
            <a:off x="10287000" y="5687568"/>
            <a:ext cx="1463040" cy="237744"/>
          </a:xfrm>
          <a:prstGeom prst="rect">
            <a:avLst/>
          </a:prstGeom>
          <a:noFill/>
          <a:ln/>
        </p:spPr>
        <p:txBody>
          <a:bodyPr wrap="square" rtlCol="0" anchor="ctr"/>
          <a:lstStyle/>
          <a:p>
            <a:pPr indent="0" marL="0">
              <a:buNone/>
            </a:pPr>
            <a:r>
              <a:rPr lang="en-US" sz="850" dirty="0">
                <a:solidFill>
                  <a:srgbClr val="B8D4E8"/>
                </a:solidFill>
              </a:rPr>
              <a:t>AI Processing</a:t>
            </a:r>
            <a:endParaRPr lang="en-US" sz="850" dirty="0"/>
          </a:p>
        </p:txBody>
      </p:sp>
      <p:sp>
        <p:nvSpPr>
          <p:cNvPr id="74" name="Shape 72"/>
          <p:cNvSpPr/>
          <p:nvPr/>
        </p:nvSpPr>
        <p:spPr>
          <a:xfrm>
            <a:off x="0" y="6547104"/>
            <a:ext cx="12161520" cy="310896"/>
          </a:xfrm>
          <a:prstGeom prst="rect">
            <a:avLst/>
          </a:prstGeom>
          <a:solidFill>
            <a:srgbClr val="071020"/>
          </a:solidFill>
          <a:ln w="12700">
            <a:solidFill>
              <a:srgbClr val="071020"/>
            </a:solidFill>
            <a:prstDash val="solid"/>
          </a:ln>
        </p:spPr>
      </p:sp>
      <p:sp>
        <p:nvSpPr>
          <p:cNvPr id="75" name="Shape 73"/>
          <p:cNvSpPr/>
          <p:nvPr/>
        </p:nvSpPr>
        <p:spPr>
          <a:xfrm>
            <a:off x="0" y="6547104"/>
            <a:ext cx="12161520" cy="27432"/>
          </a:xfrm>
          <a:prstGeom prst="rect">
            <a:avLst/>
          </a:prstGeom>
          <a:solidFill>
            <a:srgbClr val="E8A020"/>
          </a:solidFill>
          <a:ln w="12700">
            <a:solidFill>
              <a:srgbClr val="E8A020"/>
            </a:solidFill>
            <a:prstDash val="solid"/>
          </a:ln>
        </p:spPr>
      </p:sp>
      <p:sp>
        <p:nvSpPr>
          <p:cNvPr id="76" name="Text 74"/>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E8A020"/>
          </a:solidFill>
          <a:ln w="12700">
            <a:solidFill>
              <a:srgbClr val="E8A020"/>
            </a:solidFill>
            <a:prstDash val="solid"/>
          </a:ln>
        </p:spPr>
      </p:sp>
      <p:sp>
        <p:nvSpPr>
          <p:cNvPr id="3" name="Shape 1"/>
          <p:cNvSpPr/>
          <p:nvPr/>
        </p:nvSpPr>
        <p:spPr>
          <a:xfrm>
            <a:off x="4256532" y="0"/>
            <a:ext cx="7904988" cy="64008"/>
          </a:xfrm>
          <a:prstGeom prst="rect">
            <a:avLst/>
          </a:prstGeom>
          <a:solidFill>
            <a:srgbClr val="00C9A7"/>
          </a:solidFill>
          <a:ln w="12700">
            <a:solidFill>
              <a:srgbClr val="00C9A7"/>
            </a:solidFill>
            <a:prstDash val="solid"/>
          </a:ln>
        </p:spPr>
      </p:sp>
      <p:sp>
        <p:nvSpPr>
          <p:cNvPr id="4" name="Shape 2"/>
          <p:cNvSpPr/>
          <p:nvPr/>
        </p:nvSpPr>
        <p:spPr>
          <a:xfrm>
            <a:off x="0" y="64008"/>
            <a:ext cx="54864" cy="6793992"/>
          </a:xfrm>
          <a:prstGeom prst="rect">
            <a:avLst/>
          </a:prstGeom>
          <a:solidFill>
            <a:srgbClr val="E8A020">
              <a:alpha val="18000"/>
            </a:srgbClr>
          </a:solidFill>
          <a:ln w="12700">
            <a:solidFill>
              <a:srgbClr val="E8A020"/>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E8A020"/>
                </a:solidFill>
                <a:latin typeface="Courier New" pitchFamily="34" charset="0"/>
                <a:ea typeface="Courier New" pitchFamily="34" charset="-122"/>
                <a:cs typeface="Courier New" pitchFamily="34" charset="-120"/>
              </a:rPr>
              <a:t>/ 07</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Front-End View of Web Application</a:t>
            </a:r>
            <a:endParaRPr lang="en-US" sz="3400" dirty="0"/>
          </a:p>
        </p:txBody>
      </p:sp>
      <p:sp>
        <p:nvSpPr>
          <p:cNvPr id="7" name="Shape 5"/>
          <p:cNvSpPr/>
          <p:nvPr/>
        </p:nvSpPr>
        <p:spPr>
          <a:xfrm>
            <a:off x="502920" y="1024128"/>
            <a:ext cx="548640" cy="45720"/>
          </a:xfrm>
          <a:prstGeom prst="rect">
            <a:avLst/>
          </a:prstGeom>
          <a:solidFill>
            <a:srgbClr val="E8A020"/>
          </a:solidFill>
          <a:ln w="12700">
            <a:solidFill>
              <a:srgbClr val="E8A020"/>
            </a:solidFill>
            <a:prstDash val="solid"/>
          </a:ln>
        </p:spPr>
      </p:sp>
      <p:sp>
        <p:nvSpPr>
          <p:cNvPr id="8" name="Shape 6"/>
          <p:cNvSpPr/>
          <p:nvPr/>
        </p:nvSpPr>
        <p:spPr>
          <a:xfrm>
            <a:off x="8686800" y="914400"/>
            <a:ext cx="5486400" cy="5486400"/>
          </a:xfrm>
          <a:prstGeom prst="ellipse">
            <a:avLst/>
          </a:prstGeom>
          <a:solidFill>
            <a:srgbClr val="00C9A7">
              <a:alpha val="8000"/>
            </a:srgbClr>
          </a:solidFill>
          <a:ln w="12700">
            <a:solidFill>
              <a:srgbClr val="00C9A7">
                <a:alpha val="0"/>
              </a:srgbClr>
            </a:solidFill>
            <a:prstDash val="solid"/>
          </a:ln>
        </p:spPr>
      </p:sp>
      <p:sp>
        <p:nvSpPr>
          <p:cNvPr id="9" name="Text 7"/>
          <p:cNvSpPr/>
          <p:nvPr/>
        </p:nvSpPr>
        <p:spPr>
          <a:xfrm>
            <a:off x="502920" y="1207008"/>
            <a:ext cx="5532120" cy="274320"/>
          </a:xfrm>
          <a:prstGeom prst="rect">
            <a:avLst/>
          </a:prstGeom>
          <a:noFill/>
          <a:ln/>
        </p:spPr>
        <p:txBody>
          <a:bodyPr wrap="square" rtlCol="0" anchor="ctr"/>
          <a:lstStyle/>
          <a:p>
            <a:pPr indent="0" marL="0">
              <a:buNone/>
            </a:pPr>
            <a:r>
              <a:rPr lang="en-US" sz="1100" b="1" dirty="0">
                <a:solidFill>
                  <a:srgbClr val="00C9A7"/>
                </a:solidFill>
                <a:latin typeface="Arial" pitchFamily="34" charset="0"/>
                <a:ea typeface="Arial" pitchFamily="34" charset="-122"/>
                <a:cs typeface="Arial" pitchFamily="34" charset="-120"/>
              </a:rPr>
              <a:t>Sign Up Screen</a:t>
            </a:r>
            <a:endParaRPr lang="en-US" sz="1100" dirty="0"/>
          </a:p>
        </p:txBody>
      </p:sp>
      <p:sp>
        <p:nvSpPr>
          <p:cNvPr id="10" name="Text 8"/>
          <p:cNvSpPr/>
          <p:nvPr/>
        </p:nvSpPr>
        <p:spPr>
          <a:xfrm>
            <a:off x="502920" y="1481328"/>
            <a:ext cx="5532120" cy="201168"/>
          </a:xfrm>
          <a:prstGeom prst="rect">
            <a:avLst/>
          </a:prstGeom>
          <a:noFill/>
          <a:ln/>
        </p:spPr>
        <p:txBody>
          <a:bodyPr wrap="square" rtlCol="0" anchor="ctr"/>
          <a:lstStyle/>
          <a:p>
            <a:pPr indent="0" marL="0">
              <a:buNone/>
            </a:pPr>
            <a:r>
              <a:rPr lang="en-US" sz="800" dirty="0">
                <a:solidFill>
                  <a:srgbClr val="6B8CAE"/>
                </a:solidFill>
              </a:rPr>
              <a:t>Create account · Name / Email / Password · Toggle to Login</a:t>
            </a:r>
            <a:endParaRPr lang="en-US" sz="800" dirty="0"/>
          </a:p>
        </p:txBody>
      </p:sp>
      <p:sp>
        <p:nvSpPr>
          <p:cNvPr id="11" name="Shape 9"/>
          <p:cNvSpPr/>
          <p:nvPr/>
        </p:nvSpPr>
        <p:spPr>
          <a:xfrm>
            <a:off x="502920" y="1709928"/>
            <a:ext cx="5532120" cy="1993392"/>
          </a:xfrm>
          <a:prstGeom prst="rect">
            <a:avLst/>
          </a:prstGeom>
          <a:solidFill>
            <a:srgbClr val="0F1E35"/>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pic>
        <p:nvPicPr>
          <p:cNvPr id="12" name="Image 0" descr="preencoded.png">    </p:cNvPr>
          <p:cNvPicPr>
            <a:picLocks noChangeAspect="1"/>
          </p:cNvPicPr>
          <p:nvPr/>
        </p:nvPicPr>
        <p:blipFill>
          <a:blip r:embed="rId1"/>
          <a:srcRect l="0" r="0" t="0" b="0"/>
          <a:stretch/>
        </p:blipFill>
        <p:spPr>
          <a:xfrm>
            <a:off x="576072" y="1783080"/>
            <a:ext cx="5394960" cy="1847088"/>
          </a:xfrm>
          <a:prstGeom prst="rect">
            <a:avLst/>
          </a:prstGeom>
        </p:spPr>
      </p:pic>
      <p:sp>
        <p:nvSpPr>
          <p:cNvPr id="13" name="Text 10"/>
          <p:cNvSpPr/>
          <p:nvPr/>
        </p:nvSpPr>
        <p:spPr>
          <a:xfrm>
            <a:off x="6309360" y="1207008"/>
            <a:ext cx="5532120" cy="274320"/>
          </a:xfrm>
          <a:prstGeom prst="rect">
            <a:avLst/>
          </a:prstGeom>
          <a:noFill/>
          <a:ln/>
        </p:spPr>
        <p:txBody>
          <a:bodyPr wrap="square" rtlCol="0" anchor="ctr"/>
          <a:lstStyle/>
          <a:p>
            <a:pPr indent="0" marL="0">
              <a:buNone/>
            </a:pPr>
            <a:r>
              <a:rPr lang="en-US" sz="1100" b="1" dirty="0">
                <a:solidFill>
                  <a:srgbClr val="E8A020"/>
                </a:solidFill>
                <a:latin typeface="Arial" pitchFamily="34" charset="0"/>
                <a:ea typeface="Arial" pitchFamily="34" charset="-122"/>
                <a:cs typeface="Arial" pitchFamily="34" charset="-120"/>
              </a:rPr>
              <a:t>Log In Screen</a:t>
            </a:r>
            <a:endParaRPr lang="en-US" sz="1100" dirty="0"/>
          </a:p>
        </p:txBody>
      </p:sp>
      <p:sp>
        <p:nvSpPr>
          <p:cNvPr id="14" name="Text 11"/>
          <p:cNvSpPr/>
          <p:nvPr/>
        </p:nvSpPr>
        <p:spPr>
          <a:xfrm>
            <a:off x="6309360" y="1481328"/>
            <a:ext cx="5532120" cy="201168"/>
          </a:xfrm>
          <a:prstGeom prst="rect">
            <a:avLst/>
          </a:prstGeom>
          <a:noFill/>
          <a:ln/>
        </p:spPr>
        <p:txBody>
          <a:bodyPr wrap="square" rtlCol="0" anchor="ctr"/>
          <a:lstStyle/>
          <a:p>
            <a:pPr indent="0" marL="0">
              <a:buNone/>
            </a:pPr>
            <a:r>
              <a:rPr lang="en-US" sz="800" dirty="0">
                <a:solidFill>
                  <a:srgbClr val="6B8CAE"/>
                </a:solidFill>
              </a:rPr>
              <a:t>Welcome back · Email / Password · Forgot password flow</a:t>
            </a:r>
            <a:endParaRPr lang="en-US" sz="800" dirty="0"/>
          </a:p>
        </p:txBody>
      </p:sp>
      <p:sp>
        <p:nvSpPr>
          <p:cNvPr id="15" name="Shape 12"/>
          <p:cNvSpPr/>
          <p:nvPr/>
        </p:nvSpPr>
        <p:spPr>
          <a:xfrm>
            <a:off x="6309360" y="1709928"/>
            <a:ext cx="5532120" cy="1993392"/>
          </a:xfrm>
          <a:prstGeom prst="rect">
            <a:avLst/>
          </a:prstGeom>
          <a:solidFill>
            <a:srgbClr val="0F1E35"/>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pic>
        <p:nvPicPr>
          <p:cNvPr id="16" name="Image 1" descr="preencoded.png">    </p:cNvPr>
          <p:cNvPicPr>
            <a:picLocks noChangeAspect="1"/>
          </p:cNvPicPr>
          <p:nvPr/>
        </p:nvPicPr>
        <p:blipFill>
          <a:blip r:embed="rId2"/>
          <a:srcRect l="0" r="0" t="0" b="0"/>
          <a:stretch/>
        </p:blipFill>
        <p:spPr>
          <a:xfrm>
            <a:off x="6382512" y="1783080"/>
            <a:ext cx="5394960" cy="1847088"/>
          </a:xfrm>
          <a:prstGeom prst="rect">
            <a:avLst/>
          </a:prstGeom>
        </p:spPr>
      </p:pic>
      <p:sp>
        <p:nvSpPr>
          <p:cNvPr id="17" name="Text 13"/>
          <p:cNvSpPr/>
          <p:nvPr/>
        </p:nvSpPr>
        <p:spPr>
          <a:xfrm>
            <a:off x="502920" y="3877056"/>
            <a:ext cx="5532120" cy="274320"/>
          </a:xfrm>
          <a:prstGeom prst="rect">
            <a:avLst/>
          </a:prstGeom>
          <a:noFill/>
          <a:ln/>
        </p:spPr>
        <p:txBody>
          <a:bodyPr wrap="square" rtlCol="0" anchor="ctr"/>
          <a:lstStyle/>
          <a:p>
            <a:pPr indent="0" marL="0">
              <a:buNone/>
            </a:pPr>
            <a:r>
              <a:rPr lang="en-US" sz="1100" b="1" dirty="0">
                <a:solidFill>
                  <a:srgbClr val="4FC3F7"/>
                </a:solidFill>
                <a:latin typeface="Arial" pitchFamily="34" charset="0"/>
                <a:ea typeface="Arial" pitchFamily="34" charset="-122"/>
                <a:cs typeface="Arial" pitchFamily="34" charset="-120"/>
              </a:rPr>
              <a:t>Home Page</a:t>
            </a:r>
            <a:endParaRPr lang="en-US" sz="1100" dirty="0"/>
          </a:p>
        </p:txBody>
      </p:sp>
      <p:sp>
        <p:nvSpPr>
          <p:cNvPr id="18" name="Text 14"/>
          <p:cNvSpPr/>
          <p:nvPr/>
        </p:nvSpPr>
        <p:spPr>
          <a:xfrm>
            <a:off x="502920" y="4151376"/>
            <a:ext cx="5532120" cy="201168"/>
          </a:xfrm>
          <a:prstGeom prst="rect">
            <a:avLst/>
          </a:prstGeom>
          <a:noFill/>
          <a:ln/>
        </p:spPr>
        <p:txBody>
          <a:bodyPr wrap="square" rtlCol="0" anchor="ctr"/>
          <a:lstStyle/>
          <a:p>
            <a:pPr indent="0" marL="0">
              <a:buNone/>
            </a:pPr>
            <a:r>
              <a:rPr lang="en-US" sz="800" dirty="0">
                <a:solidFill>
                  <a:srgbClr val="6B8CAE"/>
                </a:solidFill>
              </a:rPr>
              <a:t>Hero section · Start Building CTA · Navigation bar · Preview ↗</a:t>
            </a:r>
            <a:endParaRPr lang="en-US" sz="800" dirty="0"/>
          </a:p>
        </p:txBody>
      </p:sp>
      <p:sp>
        <p:nvSpPr>
          <p:cNvPr id="19" name="Shape 15"/>
          <p:cNvSpPr/>
          <p:nvPr/>
        </p:nvSpPr>
        <p:spPr>
          <a:xfrm>
            <a:off x="502920" y="4379976"/>
            <a:ext cx="5532120" cy="1993392"/>
          </a:xfrm>
          <a:prstGeom prst="rect">
            <a:avLst/>
          </a:prstGeom>
          <a:solidFill>
            <a:srgbClr val="0F1E35"/>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pic>
        <p:nvPicPr>
          <p:cNvPr id="20" name="Image 2" descr="preencoded.png">    </p:cNvPr>
          <p:cNvPicPr>
            <a:picLocks noChangeAspect="1"/>
          </p:cNvPicPr>
          <p:nvPr/>
        </p:nvPicPr>
        <p:blipFill>
          <a:blip r:embed="rId3"/>
          <a:srcRect l="0" r="0" t="0" b="0"/>
          <a:stretch/>
        </p:blipFill>
        <p:spPr>
          <a:xfrm>
            <a:off x="576072" y="4453128"/>
            <a:ext cx="5394960" cy="1847088"/>
          </a:xfrm>
          <a:prstGeom prst="rect">
            <a:avLst/>
          </a:prstGeom>
        </p:spPr>
      </p:pic>
      <p:sp>
        <p:nvSpPr>
          <p:cNvPr id="21" name="Text 16"/>
          <p:cNvSpPr/>
          <p:nvPr/>
        </p:nvSpPr>
        <p:spPr>
          <a:xfrm>
            <a:off x="6309360" y="3877056"/>
            <a:ext cx="5532120" cy="274320"/>
          </a:xfrm>
          <a:prstGeom prst="rect">
            <a:avLst/>
          </a:prstGeom>
          <a:noFill/>
          <a:ln/>
        </p:spPr>
        <p:txBody>
          <a:bodyPr wrap="square" rtlCol="0" anchor="ctr"/>
          <a:lstStyle/>
          <a:p>
            <a:pPr indent="0" marL="0">
              <a:buNone/>
            </a:pPr>
            <a:r>
              <a:rPr lang="en-US" sz="1100" b="1" dirty="0">
                <a:solidFill>
                  <a:srgbClr val="F5C842"/>
                </a:solidFill>
                <a:latin typeface="Arial" pitchFamily="34" charset="0"/>
                <a:ea typeface="Arial" pitchFamily="34" charset="-122"/>
                <a:cs typeface="Arial" pitchFamily="34" charset="-120"/>
              </a:rPr>
              <a:t>Create Portfolio Wizard</a:t>
            </a:r>
            <a:endParaRPr lang="en-US" sz="1100" dirty="0"/>
          </a:p>
        </p:txBody>
      </p:sp>
      <p:sp>
        <p:nvSpPr>
          <p:cNvPr id="22" name="Text 17"/>
          <p:cNvSpPr/>
          <p:nvPr/>
        </p:nvSpPr>
        <p:spPr>
          <a:xfrm>
            <a:off x="6309360" y="4151376"/>
            <a:ext cx="5532120" cy="201168"/>
          </a:xfrm>
          <a:prstGeom prst="rect">
            <a:avLst/>
          </a:prstGeom>
          <a:noFill/>
          <a:ln/>
        </p:spPr>
        <p:txBody>
          <a:bodyPr wrap="square" rtlCol="0" anchor="ctr"/>
          <a:lstStyle/>
          <a:p>
            <a:pPr indent="0" marL="0">
              <a:buNone/>
            </a:pPr>
            <a:r>
              <a:rPr lang="en-US" sz="800" dirty="0">
                <a:solidFill>
                  <a:srgbClr val="6B8CAE"/>
                </a:solidFill>
              </a:rPr>
              <a:t>5-step progress · Profile / Skills / Projects / Experience / Style</a:t>
            </a:r>
            <a:endParaRPr lang="en-US" sz="800" dirty="0"/>
          </a:p>
        </p:txBody>
      </p:sp>
      <p:sp>
        <p:nvSpPr>
          <p:cNvPr id="23" name="Shape 18"/>
          <p:cNvSpPr/>
          <p:nvPr/>
        </p:nvSpPr>
        <p:spPr>
          <a:xfrm>
            <a:off x="6309360" y="4379976"/>
            <a:ext cx="5532120" cy="1993392"/>
          </a:xfrm>
          <a:prstGeom prst="rect">
            <a:avLst/>
          </a:prstGeom>
          <a:solidFill>
            <a:srgbClr val="0F1E35"/>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pic>
        <p:nvPicPr>
          <p:cNvPr id="24" name="Image 3" descr="preencoded.png">    </p:cNvPr>
          <p:cNvPicPr>
            <a:picLocks noChangeAspect="1"/>
          </p:cNvPicPr>
          <p:nvPr/>
        </p:nvPicPr>
        <p:blipFill>
          <a:blip r:embed="rId4"/>
          <a:srcRect l="0" r="0" t="0" b="0"/>
          <a:stretch/>
        </p:blipFill>
        <p:spPr>
          <a:xfrm>
            <a:off x="6382512" y="4453128"/>
            <a:ext cx="5394960" cy="1847088"/>
          </a:xfrm>
          <a:prstGeom prst="rect">
            <a:avLst/>
          </a:prstGeom>
        </p:spPr>
      </p:pic>
      <p:sp>
        <p:nvSpPr>
          <p:cNvPr id="25" name="Shape 19"/>
          <p:cNvSpPr/>
          <p:nvPr/>
        </p:nvSpPr>
        <p:spPr>
          <a:xfrm>
            <a:off x="0" y="6547104"/>
            <a:ext cx="12161520" cy="310896"/>
          </a:xfrm>
          <a:prstGeom prst="rect">
            <a:avLst/>
          </a:prstGeom>
          <a:solidFill>
            <a:srgbClr val="071020"/>
          </a:solidFill>
          <a:ln w="12700">
            <a:solidFill>
              <a:srgbClr val="071020"/>
            </a:solidFill>
            <a:prstDash val="solid"/>
          </a:ln>
        </p:spPr>
      </p:sp>
      <p:sp>
        <p:nvSpPr>
          <p:cNvPr id="26" name="Shape 20"/>
          <p:cNvSpPr/>
          <p:nvPr/>
        </p:nvSpPr>
        <p:spPr>
          <a:xfrm>
            <a:off x="0" y="6547104"/>
            <a:ext cx="12161520" cy="27432"/>
          </a:xfrm>
          <a:prstGeom prst="rect">
            <a:avLst/>
          </a:prstGeom>
          <a:solidFill>
            <a:srgbClr val="E8A020"/>
          </a:solidFill>
          <a:ln w="12700">
            <a:solidFill>
              <a:srgbClr val="E8A020"/>
            </a:solidFill>
            <a:prstDash val="solid"/>
          </a:ln>
        </p:spPr>
      </p:sp>
      <p:sp>
        <p:nvSpPr>
          <p:cNvPr id="27" name="Text 21"/>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4FC3F7"/>
          </a:solidFill>
          <a:ln w="12700">
            <a:solidFill>
              <a:srgbClr val="4FC3F7"/>
            </a:solidFill>
            <a:prstDash val="solid"/>
          </a:ln>
        </p:spPr>
      </p:sp>
      <p:sp>
        <p:nvSpPr>
          <p:cNvPr id="3" name="Shape 1"/>
          <p:cNvSpPr/>
          <p:nvPr/>
        </p:nvSpPr>
        <p:spPr>
          <a:xfrm>
            <a:off x="4256532" y="0"/>
            <a:ext cx="7904988" cy="64008"/>
          </a:xfrm>
          <a:prstGeom prst="rect">
            <a:avLst/>
          </a:prstGeom>
          <a:solidFill>
            <a:srgbClr val="FF8C42"/>
          </a:solidFill>
          <a:ln w="12700">
            <a:solidFill>
              <a:srgbClr val="FF8C42"/>
            </a:solidFill>
            <a:prstDash val="solid"/>
          </a:ln>
        </p:spPr>
      </p:sp>
      <p:sp>
        <p:nvSpPr>
          <p:cNvPr id="4" name="Shape 2"/>
          <p:cNvSpPr/>
          <p:nvPr/>
        </p:nvSpPr>
        <p:spPr>
          <a:xfrm>
            <a:off x="0" y="64008"/>
            <a:ext cx="54864" cy="6793992"/>
          </a:xfrm>
          <a:prstGeom prst="rect">
            <a:avLst/>
          </a:prstGeom>
          <a:solidFill>
            <a:srgbClr val="4FC3F7">
              <a:alpha val="18000"/>
            </a:srgbClr>
          </a:solidFill>
          <a:ln w="12700">
            <a:solidFill>
              <a:srgbClr val="4FC3F7"/>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4FC3F7"/>
                </a:solidFill>
                <a:latin typeface="Courier New" pitchFamily="34" charset="0"/>
                <a:ea typeface="Courier New" pitchFamily="34" charset="-122"/>
                <a:cs typeface="Courier New" pitchFamily="34" charset="-120"/>
              </a:rPr>
              <a:t>/ 08</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Proof of Prompts Generating Codes</a:t>
            </a:r>
            <a:endParaRPr lang="en-US" sz="3400" dirty="0"/>
          </a:p>
        </p:txBody>
      </p:sp>
      <p:sp>
        <p:nvSpPr>
          <p:cNvPr id="7" name="Shape 5"/>
          <p:cNvSpPr/>
          <p:nvPr/>
        </p:nvSpPr>
        <p:spPr>
          <a:xfrm>
            <a:off x="502920" y="1024128"/>
            <a:ext cx="548640" cy="45720"/>
          </a:xfrm>
          <a:prstGeom prst="rect">
            <a:avLst/>
          </a:prstGeom>
          <a:solidFill>
            <a:srgbClr val="4FC3F7"/>
          </a:solidFill>
          <a:ln w="12700">
            <a:solidFill>
              <a:srgbClr val="4FC3F7"/>
            </a:solidFill>
            <a:prstDash val="solid"/>
          </a:ln>
        </p:spPr>
      </p:sp>
      <p:sp>
        <p:nvSpPr>
          <p:cNvPr id="8" name="Shape 6"/>
          <p:cNvSpPr/>
          <p:nvPr/>
        </p:nvSpPr>
        <p:spPr>
          <a:xfrm>
            <a:off x="-1371600" y="2743200"/>
            <a:ext cx="5486400" cy="5486400"/>
          </a:xfrm>
          <a:prstGeom prst="ellipse">
            <a:avLst/>
          </a:prstGeom>
          <a:solidFill>
            <a:srgbClr val="4FC3F7">
              <a:alpha val="8000"/>
            </a:srgbClr>
          </a:solidFill>
          <a:ln w="12700">
            <a:solidFill>
              <a:srgbClr val="4FC3F7">
                <a:alpha val="0"/>
              </a:srgbClr>
            </a:solidFill>
            <a:prstDash val="solid"/>
          </a:ln>
        </p:spPr>
      </p:sp>
      <p:sp>
        <p:nvSpPr>
          <p:cNvPr id="9" name="Text 7"/>
          <p:cNvSpPr/>
          <p:nvPr/>
        </p:nvSpPr>
        <p:spPr>
          <a:xfrm>
            <a:off x="502920" y="1097280"/>
            <a:ext cx="11155680" cy="274320"/>
          </a:xfrm>
          <a:prstGeom prst="rect">
            <a:avLst/>
          </a:prstGeom>
          <a:noFill/>
          <a:ln/>
        </p:spPr>
        <p:txBody>
          <a:bodyPr wrap="square" rtlCol="0" anchor="ctr"/>
          <a:lstStyle/>
          <a:p>
            <a:pPr indent="0" marL="0">
              <a:buNone/>
            </a:pPr>
            <a:r>
              <a:rPr lang="en-US" sz="1000" i="1" dirty="0">
                <a:solidFill>
                  <a:srgbClr val="6B8CAE"/>
                </a:solidFill>
              </a:rPr>
              <a:t>DevFolio code was generated using Microsoft Copilot &amp; Google Gemini — below are key prompts and their outputs:</a:t>
            </a:r>
            <a:endParaRPr lang="en-US" sz="1000" dirty="0"/>
          </a:p>
        </p:txBody>
      </p:sp>
      <p:sp>
        <p:nvSpPr>
          <p:cNvPr id="10" name="Shape 8"/>
          <p:cNvSpPr/>
          <p:nvPr/>
        </p:nvSpPr>
        <p:spPr>
          <a:xfrm>
            <a:off x="502920" y="1417320"/>
            <a:ext cx="5532120" cy="2084832"/>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417320"/>
            <a:ext cx="50292" cy="2084832"/>
          </a:xfrm>
          <a:prstGeom prst="rect">
            <a:avLst/>
          </a:prstGeom>
          <a:solidFill>
            <a:srgbClr val="E8A020"/>
          </a:solidFill>
          <a:ln w="12700">
            <a:solidFill>
              <a:srgbClr val="E8A020"/>
            </a:solidFill>
            <a:prstDash val="solid"/>
          </a:ln>
        </p:spPr>
      </p:sp>
      <p:sp>
        <p:nvSpPr>
          <p:cNvPr id="12" name="Shape 10"/>
          <p:cNvSpPr/>
          <p:nvPr/>
        </p:nvSpPr>
        <p:spPr>
          <a:xfrm>
            <a:off x="667512" y="1508760"/>
            <a:ext cx="1920240" cy="219456"/>
          </a:xfrm>
          <a:prstGeom prst="roundRect">
            <a:avLst>
              <a:gd name="adj" fmla="val 50000"/>
            </a:avLst>
          </a:prstGeom>
          <a:solidFill>
            <a:srgbClr val="E8A020">
              <a:alpha val="22000"/>
            </a:srgbClr>
          </a:solidFill>
          <a:ln w="12700">
            <a:solidFill>
              <a:srgbClr val="E8A020"/>
            </a:solidFill>
            <a:prstDash val="solid"/>
          </a:ln>
        </p:spPr>
      </p:sp>
      <p:sp>
        <p:nvSpPr>
          <p:cNvPr id="13" name="Text 11"/>
          <p:cNvSpPr/>
          <p:nvPr/>
        </p:nvSpPr>
        <p:spPr>
          <a:xfrm>
            <a:off x="667512" y="1508760"/>
            <a:ext cx="1920240" cy="219456"/>
          </a:xfrm>
          <a:prstGeom prst="rect">
            <a:avLst/>
          </a:prstGeom>
          <a:noFill/>
          <a:ln/>
        </p:spPr>
        <p:txBody>
          <a:bodyPr wrap="square" rtlCol="0" anchor="ctr"/>
          <a:lstStyle/>
          <a:p>
            <a:pPr algn="ctr" indent="0" marL="0">
              <a:buNone/>
            </a:pPr>
            <a:r>
              <a:rPr lang="en-US" sz="750" b="1" dirty="0">
                <a:solidFill>
                  <a:srgbClr val="E8A020"/>
                </a:solidFill>
                <a:latin typeface="Courier New" pitchFamily="34" charset="0"/>
                <a:ea typeface="Courier New" pitchFamily="34" charset="-122"/>
                <a:cs typeface="Courier New" pitchFamily="34" charset="-120"/>
              </a:rPr>
              <a:t>Microsoft Copilot</a:t>
            </a:r>
            <a:endParaRPr lang="en-US" sz="750" dirty="0"/>
          </a:p>
        </p:txBody>
      </p:sp>
      <p:sp>
        <p:nvSpPr>
          <p:cNvPr id="14" name="Text 12"/>
          <p:cNvSpPr/>
          <p:nvPr/>
        </p:nvSpPr>
        <p:spPr>
          <a:xfrm>
            <a:off x="667512" y="1764792"/>
            <a:ext cx="521208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buildPortfolio() function</a:t>
            </a:r>
            <a:endParaRPr lang="en-US" sz="1100" dirty="0"/>
          </a:p>
        </p:txBody>
      </p:sp>
      <p:sp>
        <p:nvSpPr>
          <p:cNvPr id="15" name="Text 13"/>
          <p:cNvSpPr/>
          <p:nvPr/>
        </p:nvSpPr>
        <p:spPr>
          <a:xfrm>
            <a:off x="667512" y="2057400"/>
            <a:ext cx="5212080" cy="274320"/>
          </a:xfrm>
          <a:prstGeom prst="rect">
            <a:avLst/>
          </a:prstGeom>
          <a:noFill/>
          <a:ln/>
        </p:spPr>
        <p:txBody>
          <a:bodyPr wrap="square" rtlCol="0" anchor="ctr"/>
          <a:lstStyle/>
          <a:p>
            <a:pPr indent="0" marL="0">
              <a:lnSpc>
                <a:spcPct val="130000"/>
              </a:lnSpc>
              <a:buNone/>
            </a:pPr>
            <a:r>
              <a:rPr lang="en-US" sz="800" i="1" dirty="0">
                <a:solidFill>
                  <a:srgbClr val="E8A020"/>
                </a:solidFill>
              </a:rPr>
              <a:t>"Generate 20 portfolio template functions in JS, each returning a complete HTML string from a data object with name, skills, projects, experience and color."</a:t>
            </a:r>
            <a:endParaRPr lang="en-US" sz="800" dirty="0"/>
          </a:p>
        </p:txBody>
      </p:sp>
      <p:sp>
        <p:nvSpPr>
          <p:cNvPr id="16" name="Shape 14"/>
          <p:cNvSpPr/>
          <p:nvPr/>
        </p:nvSpPr>
        <p:spPr>
          <a:xfrm>
            <a:off x="667512" y="2368296"/>
            <a:ext cx="5230368" cy="1024128"/>
          </a:xfrm>
          <a:prstGeom prst="rect">
            <a:avLst/>
          </a:prstGeom>
          <a:solidFill>
            <a:srgbClr val="000000">
              <a:alpha val="45000"/>
            </a:srgbClr>
          </a:solidFill>
          <a:ln w="12700">
            <a:solidFill>
              <a:srgbClr val="E8A020">
                <a:alpha val="30000"/>
              </a:srgbClr>
            </a:solidFill>
            <a:prstDash val="solid"/>
          </a:ln>
        </p:spPr>
      </p:sp>
      <p:sp>
        <p:nvSpPr>
          <p:cNvPr id="17" name="Text 15"/>
          <p:cNvSpPr/>
          <p:nvPr/>
        </p:nvSpPr>
        <p:spPr>
          <a:xfrm>
            <a:off x="740664" y="2423160"/>
            <a:ext cx="5084064" cy="914400"/>
          </a:xfrm>
          <a:prstGeom prst="rect">
            <a:avLst/>
          </a:prstGeom>
          <a:noFill/>
          <a:ln/>
        </p:spPr>
        <p:txBody>
          <a:bodyPr wrap="square" rtlCol="0" anchor="ctr"/>
          <a:lstStyle/>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function darkPortfolio(bg, accentLine)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css = GFP + '*{box-sizing:border-box}body{' + bg +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hero = '&lt;div style="padding:64px 0 40px;display:flex..."&gt;'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 ph(120,'50%') + '&lt;h1 style="font-family:Syne..."&gt;'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 d.name + '&lt;/h1&gt;' + contactLinks(true) + statsBar + '&lt;/div&gt;';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 ... 20 template renderers, 800+ lines generated</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a:t>
            </a:r>
            <a:endParaRPr lang="en-US" sz="700" dirty="0"/>
          </a:p>
        </p:txBody>
      </p:sp>
      <p:sp>
        <p:nvSpPr>
          <p:cNvPr id="18" name="Shape 16"/>
          <p:cNvSpPr/>
          <p:nvPr/>
        </p:nvSpPr>
        <p:spPr>
          <a:xfrm>
            <a:off x="6309360" y="1417320"/>
            <a:ext cx="5532120" cy="208483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19" name="Shape 17"/>
          <p:cNvSpPr/>
          <p:nvPr/>
        </p:nvSpPr>
        <p:spPr>
          <a:xfrm>
            <a:off x="6309360" y="1417320"/>
            <a:ext cx="50292" cy="2084832"/>
          </a:xfrm>
          <a:prstGeom prst="rect">
            <a:avLst/>
          </a:prstGeom>
          <a:solidFill>
            <a:srgbClr val="00C9A7"/>
          </a:solidFill>
          <a:ln w="12700">
            <a:solidFill>
              <a:srgbClr val="00C9A7"/>
            </a:solidFill>
            <a:prstDash val="solid"/>
          </a:ln>
        </p:spPr>
      </p:sp>
      <p:sp>
        <p:nvSpPr>
          <p:cNvPr id="20" name="Shape 18"/>
          <p:cNvSpPr/>
          <p:nvPr/>
        </p:nvSpPr>
        <p:spPr>
          <a:xfrm>
            <a:off x="6473952" y="1508760"/>
            <a:ext cx="1920240" cy="219456"/>
          </a:xfrm>
          <a:prstGeom prst="roundRect">
            <a:avLst>
              <a:gd name="adj" fmla="val 50000"/>
            </a:avLst>
          </a:prstGeom>
          <a:solidFill>
            <a:srgbClr val="00C9A7">
              <a:alpha val="22000"/>
            </a:srgbClr>
          </a:solidFill>
          <a:ln w="12700">
            <a:solidFill>
              <a:srgbClr val="00C9A7"/>
            </a:solidFill>
            <a:prstDash val="solid"/>
          </a:ln>
        </p:spPr>
      </p:sp>
      <p:sp>
        <p:nvSpPr>
          <p:cNvPr id="21" name="Text 19"/>
          <p:cNvSpPr/>
          <p:nvPr/>
        </p:nvSpPr>
        <p:spPr>
          <a:xfrm>
            <a:off x="6473952" y="1508760"/>
            <a:ext cx="1920240"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Google Gemini</a:t>
            </a:r>
            <a:endParaRPr lang="en-US" sz="750" dirty="0"/>
          </a:p>
        </p:txBody>
      </p:sp>
      <p:sp>
        <p:nvSpPr>
          <p:cNvPr id="22" name="Text 20"/>
          <p:cNvSpPr/>
          <p:nvPr/>
        </p:nvSpPr>
        <p:spPr>
          <a:xfrm>
            <a:off x="6473952" y="1764792"/>
            <a:ext cx="521208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parseResume() function</a:t>
            </a:r>
            <a:endParaRPr lang="en-US" sz="1100" dirty="0"/>
          </a:p>
        </p:txBody>
      </p:sp>
      <p:sp>
        <p:nvSpPr>
          <p:cNvPr id="23" name="Text 21"/>
          <p:cNvSpPr/>
          <p:nvPr/>
        </p:nvSpPr>
        <p:spPr>
          <a:xfrm>
            <a:off x="6473952" y="2057400"/>
            <a:ext cx="5212080" cy="274320"/>
          </a:xfrm>
          <a:prstGeom prst="rect">
            <a:avLst/>
          </a:prstGeom>
          <a:noFill/>
          <a:ln/>
        </p:spPr>
        <p:txBody>
          <a:bodyPr wrap="square" rtlCol="0" anchor="ctr"/>
          <a:lstStyle/>
          <a:p>
            <a:pPr indent="0" marL="0">
              <a:lnSpc>
                <a:spcPct val="130000"/>
              </a:lnSpc>
              <a:buNone/>
            </a:pPr>
            <a:r>
              <a:rPr lang="en-US" sz="800" i="1" dirty="0">
                <a:solidFill>
                  <a:srgbClr val="00C9A7"/>
                </a:solidFill>
              </a:rPr>
              <a:t>"Write a JS resume parser using PDF.js that extracts name, email, skills (38 keywords), education, experience, projects with date ranges."</a:t>
            </a:r>
            <a:endParaRPr lang="en-US" sz="800" dirty="0"/>
          </a:p>
        </p:txBody>
      </p:sp>
      <p:sp>
        <p:nvSpPr>
          <p:cNvPr id="24" name="Shape 22"/>
          <p:cNvSpPr/>
          <p:nvPr/>
        </p:nvSpPr>
        <p:spPr>
          <a:xfrm>
            <a:off x="6473952" y="2368296"/>
            <a:ext cx="5230368" cy="1024128"/>
          </a:xfrm>
          <a:prstGeom prst="rect">
            <a:avLst/>
          </a:prstGeom>
          <a:solidFill>
            <a:srgbClr val="000000">
              <a:alpha val="45000"/>
            </a:srgbClr>
          </a:solidFill>
          <a:ln w="12700">
            <a:solidFill>
              <a:srgbClr val="00C9A7">
                <a:alpha val="30000"/>
              </a:srgbClr>
            </a:solidFill>
            <a:prstDash val="solid"/>
          </a:ln>
        </p:spPr>
      </p:sp>
      <p:sp>
        <p:nvSpPr>
          <p:cNvPr id="25" name="Text 23"/>
          <p:cNvSpPr/>
          <p:nvPr/>
        </p:nvSpPr>
        <p:spPr>
          <a:xfrm>
            <a:off x="6547104" y="2423160"/>
            <a:ext cx="5084064" cy="914400"/>
          </a:xfrm>
          <a:prstGeom prst="rect">
            <a:avLst/>
          </a:prstGeom>
          <a:noFill/>
          <a:ln/>
        </p:spPr>
        <p:txBody>
          <a:bodyPr wrap="square" rtlCol="0" anchor="ctr"/>
          <a:lstStyle/>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function parseResume(raw)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emails = raw.match(/([\w._%+-]+@[\w.-]+\.[a-zA-Z]{2,})/g)||[];</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skills=[]; TECH.forEach(t =&gt;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if(new RegExp('(?:^|[\s,/(])'+t+'(?:[\s,/)]|$)','im').test(raw))</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skills.push(t);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 // name detection, cert filtering, edu/exp extraction...</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return {name,title,email,skills,projects,experience,certificates};</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a:t>
            </a:r>
            <a:endParaRPr lang="en-US" sz="700" dirty="0"/>
          </a:p>
        </p:txBody>
      </p:sp>
      <p:sp>
        <p:nvSpPr>
          <p:cNvPr id="26" name="Shape 24"/>
          <p:cNvSpPr/>
          <p:nvPr/>
        </p:nvSpPr>
        <p:spPr>
          <a:xfrm>
            <a:off x="502920" y="3703320"/>
            <a:ext cx="5532120" cy="2084832"/>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7" name="Shape 25"/>
          <p:cNvSpPr/>
          <p:nvPr/>
        </p:nvSpPr>
        <p:spPr>
          <a:xfrm>
            <a:off x="502920" y="3703320"/>
            <a:ext cx="50292" cy="2084832"/>
          </a:xfrm>
          <a:prstGeom prst="rect">
            <a:avLst/>
          </a:prstGeom>
          <a:solidFill>
            <a:srgbClr val="4FC3F7"/>
          </a:solidFill>
          <a:ln w="12700">
            <a:solidFill>
              <a:srgbClr val="4FC3F7"/>
            </a:solidFill>
            <a:prstDash val="solid"/>
          </a:ln>
        </p:spPr>
      </p:sp>
      <p:sp>
        <p:nvSpPr>
          <p:cNvPr id="28" name="Shape 26"/>
          <p:cNvSpPr/>
          <p:nvPr/>
        </p:nvSpPr>
        <p:spPr>
          <a:xfrm>
            <a:off x="667512" y="3794760"/>
            <a:ext cx="1920240" cy="219456"/>
          </a:xfrm>
          <a:prstGeom prst="roundRect">
            <a:avLst>
              <a:gd name="adj" fmla="val 50000"/>
            </a:avLst>
          </a:prstGeom>
          <a:solidFill>
            <a:srgbClr val="4FC3F7">
              <a:alpha val="22000"/>
            </a:srgbClr>
          </a:solidFill>
          <a:ln w="12700">
            <a:solidFill>
              <a:srgbClr val="4FC3F7"/>
            </a:solidFill>
            <a:prstDash val="solid"/>
          </a:ln>
        </p:spPr>
      </p:sp>
      <p:sp>
        <p:nvSpPr>
          <p:cNvPr id="29" name="Text 27"/>
          <p:cNvSpPr/>
          <p:nvPr/>
        </p:nvSpPr>
        <p:spPr>
          <a:xfrm>
            <a:off x="667512" y="3794760"/>
            <a:ext cx="1920240" cy="219456"/>
          </a:xfrm>
          <a:prstGeom prst="rect">
            <a:avLst/>
          </a:prstGeom>
          <a:noFill/>
          <a:ln/>
        </p:spPr>
        <p:txBody>
          <a:bodyPr wrap="square" rtlCol="0" anchor="ctr"/>
          <a:lstStyle/>
          <a:p>
            <a:pPr algn="ctr" indent="0" marL="0">
              <a:buNone/>
            </a:pPr>
            <a:r>
              <a:rPr lang="en-US" sz="750" b="1" dirty="0">
                <a:solidFill>
                  <a:srgbClr val="4FC3F7"/>
                </a:solidFill>
                <a:latin typeface="Courier New" pitchFamily="34" charset="0"/>
                <a:ea typeface="Courier New" pitchFamily="34" charset="-122"/>
                <a:cs typeface="Courier New" pitchFamily="34" charset="-120"/>
              </a:rPr>
              <a:t>Microsoft Copilot</a:t>
            </a:r>
            <a:endParaRPr lang="en-US" sz="750" dirty="0"/>
          </a:p>
        </p:txBody>
      </p:sp>
      <p:sp>
        <p:nvSpPr>
          <p:cNvPr id="30" name="Text 28"/>
          <p:cNvSpPr/>
          <p:nvPr/>
        </p:nvSpPr>
        <p:spPr>
          <a:xfrm>
            <a:off x="667512" y="4050792"/>
            <a:ext cx="521208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Auth System</a:t>
            </a:r>
            <a:endParaRPr lang="en-US" sz="1100" dirty="0"/>
          </a:p>
        </p:txBody>
      </p:sp>
      <p:sp>
        <p:nvSpPr>
          <p:cNvPr id="31" name="Text 29"/>
          <p:cNvSpPr/>
          <p:nvPr/>
        </p:nvSpPr>
        <p:spPr>
          <a:xfrm>
            <a:off x="667512" y="4343400"/>
            <a:ext cx="5212080" cy="274320"/>
          </a:xfrm>
          <a:prstGeom prst="rect">
            <a:avLst/>
          </a:prstGeom>
          <a:noFill/>
          <a:ln/>
        </p:spPr>
        <p:txBody>
          <a:bodyPr wrap="square" rtlCol="0" anchor="ctr"/>
          <a:lstStyle/>
          <a:p>
            <a:pPr indent="0" marL="0">
              <a:lnSpc>
                <a:spcPct val="130000"/>
              </a:lnSpc>
              <a:buNone/>
            </a:pPr>
            <a:r>
              <a:rPr lang="en-US" sz="800" i="1" dirty="0">
                <a:solidFill>
                  <a:srgbClr val="4FC3F7"/>
                </a:solidFill>
              </a:rPr>
              <a:t>"Build a complete localStorage auth flow: signup, login, password reset, session persistence and tab-toggle UI between login and signup forms."</a:t>
            </a:r>
            <a:endParaRPr lang="en-US" sz="800" dirty="0"/>
          </a:p>
        </p:txBody>
      </p:sp>
      <p:sp>
        <p:nvSpPr>
          <p:cNvPr id="32" name="Shape 30"/>
          <p:cNvSpPr/>
          <p:nvPr/>
        </p:nvSpPr>
        <p:spPr>
          <a:xfrm>
            <a:off x="667512" y="4654296"/>
            <a:ext cx="5230368" cy="1024128"/>
          </a:xfrm>
          <a:prstGeom prst="rect">
            <a:avLst/>
          </a:prstGeom>
          <a:solidFill>
            <a:srgbClr val="000000">
              <a:alpha val="45000"/>
            </a:srgbClr>
          </a:solidFill>
          <a:ln w="12700">
            <a:solidFill>
              <a:srgbClr val="4FC3F7">
                <a:alpha val="30000"/>
              </a:srgbClr>
            </a:solidFill>
            <a:prstDash val="solid"/>
          </a:ln>
        </p:spPr>
      </p:sp>
      <p:sp>
        <p:nvSpPr>
          <p:cNvPr id="33" name="Text 31"/>
          <p:cNvSpPr/>
          <p:nvPr/>
        </p:nvSpPr>
        <p:spPr>
          <a:xfrm>
            <a:off x="740664" y="4709160"/>
            <a:ext cx="5084064" cy="914400"/>
          </a:xfrm>
          <a:prstGeom prst="rect">
            <a:avLst/>
          </a:prstGeom>
          <a:noFill/>
          <a:ln/>
        </p:spPr>
        <p:txBody>
          <a:bodyPr wrap="square" rtlCol="0" anchor="ctr"/>
          <a:lstStyle/>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function doLogin()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email = document.getElementById('li-email').value.trim();</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var users  = getUsers();</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if(!users[email]) { err.textContent='No account found.'; return;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if(users[email].pass !== pass) { err.textContent='Wrong password.'; return;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setSession(email); hideAuthPage(); afterLogin(users[email].name);</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doSignup(), doReset(), checkAndInit(), setSession() all generated</a:t>
            </a:r>
            <a:endParaRPr lang="en-US" sz="700" dirty="0"/>
          </a:p>
        </p:txBody>
      </p:sp>
      <p:sp>
        <p:nvSpPr>
          <p:cNvPr id="34" name="Shape 32"/>
          <p:cNvSpPr/>
          <p:nvPr/>
        </p:nvSpPr>
        <p:spPr>
          <a:xfrm>
            <a:off x="6309360" y="3703320"/>
            <a:ext cx="5532120" cy="2084832"/>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35" name="Shape 33"/>
          <p:cNvSpPr/>
          <p:nvPr/>
        </p:nvSpPr>
        <p:spPr>
          <a:xfrm>
            <a:off x="6309360" y="3703320"/>
            <a:ext cx="50292" cy="2084832"/>
          </a:xfrm>
          <a:prstGeom prst="rect">
            <a:avLst/>
          </a:prstGeom>
          <a:solidFill>
            <a:srgbClr val="F5C842"/>
          </a:solidFill>
          <a:ln w="12700">
            <a:solidFill>
              <a:srgbClr val="F5C842"/>
            </a:solidFill>
            <a:prstDash val="solid"/>
          </a:ln>
        </p:spPr>
      </p:sp>
      <p:sp>
        <p:nvSpPr>
          <p:cNvPr id="36" name="Shape 34"/>
          <p:cNvSpPr/>
          <p:nvPr/>
        </p:nvSpPr>
        <p:spPr>
          <a:xfrm>
            <a:off x="6473952" y="3794760"/>
            <a:ext cx="1920240" cy="219456"/>
          </a:xfrm>
          <a:prstGeom prst="roundRect">
            <a:avLst>
              <a:gd name="adj" fmla="val 50000"/>
            </a:avLst>
          </a:prstGeom>
          <a:solidFill>
            <a:srgbClr val="F5C842">
              <a:alpha val="22000"/>
            </a:srgbClr>
          </a:solidFill>
          <a:ln w="12700">
            <a:solidFill>
              <a:srgbClr val="F5C842"/>
            </a:solidFill>
            <a:prstDash val="solid"/>
          </a:ln>
        </p:spPr>
      </p:sp>
      <p:sp>
        <p:nvSpPr>
          <p:cNvPr id="37" name="Text 35"/>
          <p:cNvSpPr/>
          <p:nvPr/>
        </p:nvSpPr>
        <p:spPr>
          <a:xfrm>
            <a:off x="6473952" y="3794760"/>
            <a:ext cx="1920240" cy="219456"/>
          </a:xfrm>
          <a:prstGeom prst="rect">
            <a:avLst/>
          </a:prstGeom>
          <a:noFill/>
          <a:ln/>
        </p:spPr>
        <p:txBody>
          <a:bodyPr wrap="square" rtlCol="0" anchor="ctr"/>
          <a:lstStyle/>
          <a:p>
            <a:pPr algn="ctr" indent="0" marL="0">
              <a:buNone/>
            </a:pPr>
            <a:r>
              <a:rPr lang="en-US" sz="750" b="1" dirty="0">
                <a:solidFill>
                  <a:srgbClr val="F5C842"/>
                </a:solidFill>
                <a:latin typeface="Courier New" pitchFamily="34" charset="0"/>
                <a:ea typeface="Courier New" pitchFamily="34" charset="-122"/>
                <a:cs typeface="Courier New" pitchFamily="34" charset="-120"/>
              </a:rPr>
              <a:t>Google Gemini</a:t>
            </a:r>
            <a:endParaRPr lang="en-US" sz="750" dirty="0"/>
          </a:p>
        </p:txBody>
      </p:sp>
      <p:sp>
        <p:nvSpPr>
          <p:cNvPr id="38" name="Text 36"/>
          <p:cNvSpPr/>
          <p:nvPr/>
        </p:nvSpPr>
        <p:spPr>
          <a:xfrm>
            <a:off x="6473952" y="4050792"/>
            <a:ext cx="5212080" cy="27432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CSS Theme &amp; Styling</a:t>
            </a:r>
            <a:endParaRPr lang="en-US" sz="1100" dirty="0"/>
          </a:p>
        </p:txBody>
      </p:sp>
      <p:sp>
        <p:nvSpPr>
          <p:cNvPr id="39" name="Text 37"/>
          <p:cNvSpPr/>
          <p:nvPr/>
        </p:nvSpPr>
        <p:spPr>
          <a:xfrm>
            <a:off x="6473952" y="4343400"/>
            <a:ext cx="5212080" cy="274320"/>
          </a:xfrm>
          <a:prstGeom prst="rect">
            <a:avLst/>
          </a:prstGeom>
          <a:noFill/>
          <a:ln/>
        </p:spPr>
        <p:txBody>
          <a:bodyPr wrap="square" rtlCol="0" anchor="ctr"/>
          <a:lstStyle/>
          <a:p>
            <a:pPr indent="0" marL="0">
              <a:lnSpc>
                <a:spcPct val="130000"/>
              </a:lnSpc>
              <a:buNone/>
            </a:pPr>
            <a:r>
              <a:rPr lang="en-US" sz="800" i="1" dirty="0">
                <a:solidFill>
                  <a:srgbClr val="F5C842"/>
                </a:solidFill>
              </a:rPr>
              <a:t>"Style the portfolio generator with a dark theme using CSS custom properties, glassmorphism nav, step progress dots, skill chip toggles, and mobile layout."</a:t>
            </a:r>
            <a:endParaRPr lang="en-US" sz="800" dirty="0"/>
          </a:p>
        </p:txBody>
      </p:sp>
      <p:sp>
        <p:nvSpPr>
          <p:cNvPr id="40" name="Shape 38"/>
          <p:cNvSpPr/>
          <p:nvPr/>
        </p:nvSpPr>
        <p:spPr>
          <a:xfrm>
            <a:off x="6473952" y="4654296"/>
            <a:ext cx="5230368" cy="1024128"/>
          </a:xfrm>
          <a:prstGeom prst="rect">
            <a:avLst/>
          </a:prstGeom>
          <a:solidFill>
            <a:srgbClr val="000000">
              <a:alpha val="45000"/>
            </a:srgbClr>
          </a:solidFill>
          <a:ln w="12700">
            <a:solidFill>
              <a:srgbClr val="F5C842">
                <a:alpha val="30000"/>
              </a:srgbClr>
            </a:solidFill>
            <a:prstDash val="solid"/>
          </a:ln>
        </p:spPr>
      </p:sp>
      <p:sp>
        <p:nvSpPr>
          <p:cNvPr id="41" name="Text 39"/>
          <p:cNvSpPr/>
          <p:nvPr/>
        </p:nvSpPr>
        <p:spPr>
          <a:xfrm>
            <a:off x="6547104" y="4709160"/>
            <a:ext cx="5084064" cy="914400"/>
          </a:xfrm>
          <a:prstGeom prst="rect">
            <a:avLst/>
          </a:prstGeom>
          <a:noFill/>
          <a:ln/>
        </p:spPr>
        <p:txBody>
          <a:bodyPr wrap="square" rtlCol="0" anchor="ctr"/>
          <a:lstStyle/>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:root {</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--bg:#050508; --surface:#0d0d14; --surface2:#13131e;</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--accent:#6c63ff; --accent2:#ff6584; --accent3:#43e97b;</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--text:#f0f0ff; --muted:rgba(240,240,255,0.45);</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a:t>
            </a:r>
            <a:endParaRPr lang="en-US" sz="700" dirty="0"/>
          </a:p>
          <a:p>
            <a:pPr indent="0" marL="0">
              <a:lnSpc>
                <a:spcPct val="135000"/>
              </a:lnSpc>
              <a:buNone/>
            </a:pPr>
            <a:r>
              <a:rPr lang="en-US" sz="700" dirty="0">
                <a:solidFill>
                  <a:srgbClr val="AAFFAA"/>
                </a:solidFill>
                <a:latin typeface="Courier New" pitchFamily="34" charset="0"/>
                <a:ea typeface="Courier New" pitchFamily="34" charset="-122"/>
                <a:cs typeface="Courier New" pitchFamily="34" charset="-120"/>
              </a:rPr>
              <a:t>/* nav, cards, chips, wizard, auth overlay — 450+ lines */</a:t>
            </a:r>
            <a:endParaRPr lang="en-US" sz="700" dirty="0"/>
          </a:p>
        </p:txBody>
      </p:sp>
      <p:sp>
        <p:nvSpPr>
          <p:cNvPr id="42" name="Shape 40"/>
          <p:cNvSpPr/>
          <p:nvPr/>
        </p:nvSpPr>
        <p:spPr>
          <a:xfrm>
            <a:off x="0" y="6547104"/>
            <a:ext cx="12161520" cy="310896"/>
          </a:xfrm>
          <a:prstGeom prst="rect">
            <a:avLst/>
          </a:prstGeom>
          <a:solidFill>
            <a:srgbClr val="071020"/>
          </a:solidFill>
          <a:ln w="12700">
            <a:solidFill>
              <a:srgbClr val="071020"/>
            </a:solidFill>
            <a:prstDash val="solid"/>
          </a:ln>
        </p:spPr>
      </p:sp>
      <p:sp>
        <p:nvSpPr>
          <p:cNvPr id="43" name="Shape 41"/>
          <p:cNvSpPr/>
          <p:nvPr/>
        </p:nvSpPr>
        <p:spPr>
          <a:xfrm>
            <a:off x="0" y="6547104"/>
            <a:ext cx="12161520" cy="27432"/>
          </a:xfrm>
          <a:prstGeom prst="rect">
            <a:avLst/>
          </a:prstGeom>
          <a:solidFill>
            <a:srgbClr val="E8A020"/>
          </a:solidFill>
          <a:ln w="12700">
            <a:solidFill>
              <a:srgbClr val="E8A020"/>
            </a:solidFill>
            <a:prstDash val="solid"/>
          </a:ln>
        </p:spPr>
      </p:sp>
      <p:sp>
        <p:nvSpPr>
          <p:cNvPr id="44" name="Text 42"/>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E8A020"/>
          </a:solidFill>
          <a:ln w="12700">
            <a:solidFill>
              <a:srgbClr val="E8A020"/>
            </a:solidFill>
            <a:prstDash val="solid"/>
          </a:ln>
        </p:spPr>
      </p:sp>
      <p:sp>
        <p:nvSpPr>
          <p:cNvPr id="3" name="Shape 1"/>
          <p:cNvSpPr/>
          <p:nvPr/>
        </p:nvSpPr>
        <p:spPr>
          <a:xfrm>
            <a:off x="4256532" y="0"/>
            <a:ext cx="7904988" cy="64008"/>
          </a:xfrm>
          <a:prstGeom prst="rect">
            <a:avLst/>
          </a:prstGeom>
          <a:solidFill>
            <a:srgbClr val="00C9A7"/>
          </a:solidFill>
          <a:ln w="12700">
            <a:solidFill>
              <a:srgbClr val="00C9A7"/>
            </a:solidFill>
            <a:prstDash val="solid"/>
          </a:ln>
        </p:spPr>
      </p:sp>
      <p:sp>
        <p:nvSpPr>
          <p:cNvPr id="4" name="Shape 2"/>
          <p:cNvSpPr/>
          <p:nvPr/>
        </p:nvSpPr>
        <p:spPr>
          <a:xfrm>
            <a:off x="0" y="64008"/>
            <a:ext cx="54864" cy="6793992"/>
          </a:xfrm>
          <a:prstGeom prst="rect">
            <a:avLst/>
          </a:prstGeom>
          <a:solidFill>
            <a:srgbClr val="E8A020">
              <a:alpha val="18000"/>
            </a:srgbClr>
          </a:solidFill>
          <a:ln w="12700">
            <a:solidFill>
              <a:srgbClr val="E8A020"/>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E8A020"/>
                </a:solidFill>
                <a:latin typeface="Courier New" pitchFamily="34" charset="0"/>
                <a:ea typeface="Courier New" pitchFamily="34" charset="-122"/>
                <a:cs typeface="Courier New" pitchFamily="34" charset="-120"/>
              </a:rPr>
              <a:t>/ 09</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References</a:t>
            </a:r>
            <a:endParaRPr lang="en-US" sz="3400" dirty="0"/>
          </a:p>
        </p:txBody>
      </p:sp>
      <p:sp>
        <p:nvSpPr>
          <p:cNvPr id="7" name="Shape 5"/>
          <p:cNvSpPr/>
          <p:nvPr/>
        </p:nvSpPr>
        <p:spPr>
          <a:xfrm>
            <a:off x="502920" y="1024128"/>
            <a:ext cx="548640" cy="45720"/>
          </a:xfrm>
          <a:prstGeom prst="rect">
            <a:avLst/>
          </a:prstGeom>
          <a:solidFill>
            <a:srgbClr val="E8A020"/>
          </a:solidFill>
          <a:ln w="12700">
            <a:solidFill>
              <a:srgbClr val="E8A020"/>
            </a:solidFill>
            <a:prstDash val="solid"/>
          </a:ln>
        </p:spPr>
      </p:sp>
      <p:sp>
        <p:nvSpPr>
          <p:cNvPr id="8" name="Shape 6"/>
          <p:cNvSpPr/>
          <p:nvPr/>
        </p:nvSpPr>
        <p:spPr>
          <a:xfrm>
            <a:off x="8229600" y="2286000"/>
            <a:ext cx="5486400" cy="5486400"/>
          </a:xfrm>
          <a:prstGeom prst="ellipse">
            <a:avLst/>
          </a:prstGeom>
          <a:solidFill>
            <a:srgbClr val="E8A020">
              <a:alpha val="9000"/>
            </a:srgbClr>
          </a:solidFill>
          <a:ln w="12700">
            <a:solidFill>
              <a:srgbClr val="E8A020">
                <a:alpha val="0"/>
              </a:srgbClr>
            </a:solidFill>
            <a:prstDash val="solid"/>
          </a:ln>
        </p:spPr>
      </p:sp>
      <p:sp>
        <p:nvSpPr>
          <p:cNvPr id="9" name="Shape 7"/>
          <p:cNvSpPr/>
          <p:nvPr/>
        </p:nvSpPr>
        <p:spPr>
          <a:xfrm>
            <a:off x="-1371600" y="3657600"/>
            <a:ext cx="4572000" cy="4572000"/>
          </a:xfrm>
          <a:prstGeom prst="ellipse">
            <a:avLst/>
          </a:prstGeom>
          <a:solidFill>
            <a:srgbClr val="00C9A7">
              <a:alpha val="8000"/>
            </a:srgbClr>
          </a:solidFill>
          <a:ln w="12700">
            <a:solidFill>
              <a:srgbClr val="00C9A7">
                <a:alpha val="0"/>
              </a:srgbClr>
            </a:solidFill>
            <a:prstDash val="solid"/>
          </a:ln>
        </p:spPr>
      </p:sp>
      <p:sp>
        <p:nvSpPr>
          <p:cNvPr id="10" name="Shape 8"/>
          <p:cNvSpPr/>
          <p:nvPr/>
        </p:nvSpPr>
        <p:spPr>
          <a:xfrm>
            <a:off x="502920" y="1207008"/>
            <a:ext cx="5532120" cy="1078992"/>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1" name="Shape 9"/>
          <p:cNvSpPr/>
          <p:nvPr/>
        </p:nvSpPr>
        <p:spPr>
          <a:xfrm>
            <a:off x="502920" y="1207008"/>
            <a:ext cx="50292" cy="1078992"/>
          </a:xfrm>
          <a:prstGeom prst="rect">
            <a:avLst/>
          </a:prstGeom>
          <a:solidFill>
            <a:srgbClr val="E8A020"/>
          </a:solidFill>
          <a:ln w="12700">
            <a:solidFill>
              <a:srgbClr val="E8A020"/>
            </a:solidFill>
            <a:prstDash val="solid"/>
          </a:ln>
        </p:spPr>
      </p:sp>
      <p:sp>
        <p:nvSpPr>
          <p:cNvPr id="12" name="Text 10"/>
          <p:cNvSpPr/>
          <p:nvPr/>
        </p:nvSpPr>
        <p:spPr>
          <a:xfrm>
            <a:off x="685800" y="1298448"/>
            <a:ext cx="411480" cy="256032"/>
          </a:xfrm>
          <a:prstGeom prst="rect">
            <a:avLst/>
          </a:prstGeom>
          <a:noFill/>
          <a:ln/>
        </p:spPr>
        <p:txBody>
          <a:bodyPr wrap="square" rtlCol="0" anchor="ctr"/>
          <a:lstStyle/>
          <a:p>
            <a:pPr indent="0" marL="0">
              <a:buNone/>
            </a:pPr>
            <a:r>
              <a:rPr lang="en-US" sz="800" b="1" spc="200" kern="0" dirty="0">
                <a:solidFill>
                  <a:srgbClr val="E8A020"/>
                </a:solidFill>
                <a:latin typeface="Courier New" pitchFamily="34" charset="0"/>
                <a:ea typeface="Courier New" pitchFamily="34" charset="-122"/>
                <a:cs typeface="Courier New" pitchFamily="34" charset="-120"/>
              </a:rPr>
              <a:t>01</a:t>
            </a:r>
            <a:endParaRPr lang="en-US" sz="800" dirty="0"/>
          </a:p>
        </p:txBody>
      </p:sp>
      <p:sp>
        <p:nvSpPr>
          <p:cNvPr id="13" name="Text 11"/>
          <p:cNvSpPr/>
          <p:nvPr/>
        </p:nvSpPr>
        <p:spPr>
          <a:xfrm>
            <a:off x="685800" y="1527048"/>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Microsoft Copilot</a:t>
            </a:r>
            <a:endParaRPr lang="en-US" sz="1200" dirty="0"/>
          </a:p>
        </p:txBody>
      </p:sp>
      <p:sp>
        <p:nvSpPr>
          <p:cNvPr id="14" name="Text 12"/>
          <p:cNvSpPr/>
          <p:nvPr/>
        </p:nvSpPr>
        <p:spPr>
          <a:xfrm>
            <a:off x="685800" y="1819656"/>
            <a:ext cx="5120640" cy="201168"/>
          </a:xfrm>
          <a:prstGeom prst="rect">
            <a:avLst/>
          </a:prstGeom>
          <a:noFill/>
          <a:ln/>
        </p:spPr>
        <p:txBody>
          <a:bodyPr wrap="square" rtlCol="0" anchor="ctr"/>
          <a:lstStyle/>
          <a:p>
            <a:pPr indent="0" marL="0">
              <a:buNone/>
            </a:pPr>
            <a:r>
              <a:rPr lang="en-US" sz="850" dirty="0">
                <a:solidFill>
                  <a:srgbClr val="E8A020"/>
                </a:solidFill>
                <a:latin typeface="Courier New" pitchFamily="34" charset="0"/>
                <a:ea typeface="Courier New" pitchFamily="34" charset="-122"/>
                <a:cs typeface="Courier New" pitchFamily="34" charset="-120"/>
              </a:rPr>
              <a:t>https://copilot.microsoft.com</a:t>
            </a:r>
            <a:endParaRPr lang="en-US" sz="850" dirty="0"/>
          </a:p>
        </p:txBody>
      </p:sp>
      <p:sp>
        <p:nvSpPr>
          <p:cNvPr id="15" name="Text 13"/>
          <p:cNvSpPr/>
          <p:nvPr/>
        </p:nvSpPr>
        <p:spPr>
          <a:xfrm>
            <a:off x="685800" y="2011680"/>
            <a:ext cx="5120640" cy="201168"/>
          </a:xfrm>
          <a:prstGeom prst="rect">
            <a:avLst/>
          </a:prstGeom>
          <a:noFill/>
          <a:ln/>
        </p:spPr>
        <p:txBody>
          <a:bodyPr wrap="square" rtlCol="0" anchor="ctr"/>
          <a:lstStyle/>
          <a:p>
            <a:pPr indent="0" marL="0">
              <a:buNone/>
            </a:pPr>
            <a:r>
              <a:rPr lang="en-US" sz="850" dirty="0">
                <a:solidFill>
                  <a:srgbClr val="6B8CAE"/>
                </a:solidFill>
              </a:rPr>
              <a:t>Primary AI tool used to generate application code</a:t>
            </a:r>
            <a:endParaRPr lang="en-US" sz="850" dirty="0"/>
          </a:p>
        </p:txBody>
      </p:sp>
      <p:sp>
        <p:nvSpPr>
          <p:cNvPr id="16" name="Shape 14"/>
          <p:cNvSpPr/>
          <p:nvPr/>
        </p:nvSpPr>
        <p:spPr>
          <a:xfrm>
            <a:off x="6309360" y="1207008"/>
            <a:ext cx="5532120" cy="107899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17" name="Shape 15"/>
          <p:cNvSpPr/>
          <p:nvPr/>
        </p:nvSpPr>
        <p:spPr>
          <a:xfrm>
            <a:off x="6309360" y="1207008"/>
            <a:ext cx="50292" cy="1078992"/>
          </a:xfrm>
          <a:prstGeom prst="rect">
            <a:avLst/>
          </a:prstGeom>
          <a:solidFill>
            <a:srgbClr val="00C9A7"/>
          </a:solidFill>
          <a:ln w="12700">
            <a:solidFill>
              <a:srgbClr val="00C9A7"/>
            </a:solidFill>
            <a:prstDash val="solid"/>
          </a:ln>
        </p:spPr>
      </p:sp>
      <p:sp>
        <p:nvSpPr>
          <p:cNvPr id="18" name="Text 16"/>
          <p:cNvSpPr/>
          <p:nvPr/>
        </p:nvSpPr>
        <p:spPr>
          <a:xfrm>
            <a:off x="6492240" y="1298448"/>
            <a:ext cx="411480" cy="256032"/>
          </a:xfrm>
          <a:prstGeom prst="rect">
            <a:avLst/>
          </a:prstGeom>
          <a:noFill/>
          <a:ln/>
        </p:spPr>
        <p:txBody>
          <a:bodyPr wrap="square" rtlCol="0" anchor="ctr"/>
          <a:lstStyle/>
          <a:p>
            <a:pPr indent="0" marL="0">
              <a:buNone/>
            </a:pPr>
            <a:r>
              <a:rPr lang="en-US" sz="800" b="1" spc="200" kern="0" dirty="0">
                <a:solidFill>
                  <a:srgbClr val="00C9A7"/>
                </a:solidFill>
                <a:latin typeface="Courier New" pitchFamily="34" charset="0"/>
                <a:ea typeface="Courier New" pitchFamily="34" charset="-122"/>
                <a:cs typeface="Courier New" pitchFamily="34" charset="-120"/>
              </a:rPr>
              <a:t>02</a:t>
            </a:r>
            <a:endParaRPr lang="en-US" sz="800" dirty="0"/>
          </a:p>
        </p:txBody>
      </p:sp>
      <p:sp>
        <p:nvSpPr>
          <p:cNvPr id="19" name="Text 17"/>
          <p:cNvSpPr/>
          <p:nvPr/>
        </p:nvSpPr>
        <p:spPr>
          <a:xfrm>
            <a:off x="6492240" y="1527048"/>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Google Gemini</a:t>
            </a:r>
            <a:endParaRPr lang="en-US" sz="1200" dirty="0"/>
          </a:p>
        </p:txBody>
      </p:sp>
      <p:sp>
        <p:nvSpPr>
          <p:cNvPr id="20" name="Text 18"/>
          <p:cNvSpPr/>
          <p:nvPr/>
        </p:nvSpPr>
        <p:spPr>
          <a:xfrm>
            <a:off x="6492240" y="1819656"/>
            <a:ext cx="5120640" cy="201168"/>
          </a:xfrm>
          <a:prstGeom prst="rect">
            <a:avLst/>
          </a:prstGeom>
          <a:noFill/>
          <a:ln/>
        </p:spPr>
        <p:txBody>
          <a:bodyPr wrap="square" rtlCol="0" anchor="ctr"/>
          <a:lstStyle/>
          <a:p>
            <a:pPr indent="0" marL="0">
              <a:buNone/>
            </a:pPr>
            <a:r>
              <a:rPr lang="en-US" sz="850" dirty="0">
                <a:solidFill>
                  <a:srgbClr val="00C9A7"/>
                </a:solidFill>
                <a:latin typeface="Courier New" pitchFamily="34" charset="0"/>
                <a:ea typeface="Courier New" pitchFamily="34" charset="-122"/>
                <a:cs typeface="Courier New" pitchFamily="34" charset="-120"/>
              </a:rPr>
              <a:t>https://gemini.google.com</a:t>
            </a:r>
            <a:endParaRPr lang="en-US" sz="850" dirty="0"/>
          </a:p>
        </p:txBody>
      </p:sp>
      <p:sp>
        <p:nvSpPr>
          <p:cNvPr id="21" name="Text 19"/>
          <p:cNvSpPr/>
          <p:nvPr/>
        </p:nvSpPr>
        <p:spPr>
          <a:xfrm>
            <a:off x="6492240" y="2011680"/>
            <a:ext cx="5120640" cy="201168"/>
          </a:xfrm>
          <a:prstGeom prst="rect">
            <a:avLst/>
          </a:prstGeom>
          <a:noFill/>
          <a:ln/>
        </p:spPr>
        <p:txBody>
          <a:bodyPr wrap="square" rtlCol="0" anchor="ctr"/>
          <a:lstStyle/>
          <a:p>
            <a:pPr indent="0" marL="0">
              <a:buNone/>
            </a:pPr>
            <a:r>
              <a:rPr lang="en-US" sz="850" dirty="0">
                <a:solidFill>
                  <a:srgbClr val="6B8CAE"/>
                </a:solidFill>
              </a:rPr>
              <a:t>AI tool for CSS styling, bio feature &amp; secondary code gen</a:t>
            </a:r>
            <a:endParaRPr lang="en-US" sz="850" dirty="0"/>
          </a:p>
        </p:txBody>
      </p:sp>
      <p:sp>
        <p:nvSpPr>
          <p:cNvPr id="22" name="Shape 20"/>
          <p:cNvSpPr/>
          <p:nvPr/>
        </p:nvSpPr>
        <p:spPr>
          <a:xfrm>
            <a:off x="502920" y="2468880"/>
            <a:ext cx="5532120" cy="1078992"/>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3" name="Shape 21"/>
          <p:cNvSpPr/>
          <p:nvPr/>
        </p:nvSpPr>
        <p:spPr>
          <a:xfrm>
            <a:off x="502920" y="2468880"/>
            <a:ext cx="50292" cy="1078992"/>
          </a:xfrm>
          <a:prstGeom prst="rect">
            <a:avLst/>
          </a:prstGeom>
          <a:solidFill>
            <a:srgbClr val="4FC3F7"/>
          </a:solidFill>
          <a:ln w="12700">
            <a:solidFill>
              <a:srgbClr val="4FC3F7"/>
            </a:solidFill>
            <a:prstDash val="solid"/>
          </a:ln>
        </p:spPr>
      </p:sp>
      <p:sp>
        <p:nvSpPr>
          <p:cNvPr id="24" name="Text 22"/>
          <p:cNvSpPr/>
          <p:nvPr/>
        </p:nvSpPr>
        <p:spPr>
          <a:xfrm>
            <a:off x="685800" y="2560320"/>
            <a:ext cx="411480" cy="256032"/>
          </a:xfrm>
          <a:prstGeom prst="rect">
            <a:avLst/>
          </a:prstGeom>
          <a:noFill/>
          <a:ln/>
        </p:spPr>
        <p:txBody>
          <a:bodyPr wrap="square" rtlCol="0" anchor="ctr"/>
          <a:lstStyle/>
          <a:p>
            <a:pPr indent="0" marL="0">
              <a:buNone/>
            </a:pPr>
            <a:r>
              <a:rPr lang="en-US" sz="800" b="1" spc="200" kern="0" dirty="0">
                <a:solidFill>
                  <a:srgbClr val="4FC3F7"/>
                </a:solidFill>
                <a:latin typeface="Courier New" pitchFamily="34" charset="0"/>
                <a:ea typeface="Courier New" pitchFamily="34" charset="-122"/>
                <a:cs typeface="Courier New" pitchFamily="34" charset="-120"/>
              </a:rPr>
              <a:t>03</a:t>
            </a:r>
            <a:endParaRPr lang="en-US" sz="800" dirty="0"/>
          </a:p>
        </p:txBody>
      </p:sp>
      <p:sp>
        <p:nvSpPr>
          <p:cNvPr id="25" name="Text 23"/>
          <p:cNvSpPr/>
          <p:nvPr/>
        </p:nvSpPr>
        <p:spPr>
          <a:xfrm>
            <a:off x="685800" y="2788920"/>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PDF.js — Mozilla Foundation</a:t>
            </a:r>
            <a:endParaRPr lang="en-US" sz="1200" dirty="0"/>
          </a:p>
        </p:txBody>
      </p:sp>
      <p:sp>
        <p:nvSpPr>
          <p:cNvPr id="26" name="Text 24"/>
          <p:cNvSpPr/>
          <p:nvPr/>
        </p:nvSpPr>
        <p:spPr>
          <a:xfrm>
            <a:off x="685800" y="3081528"/>
            <a:ext cx="5120640" cy="201168"/>
          </a:xfrm>
          <a:prstGeom prst="rect">
            <a:avLst/>
          </a:prstGeom>
          <a:noFill/>
          <a:ln/>
        </p:spPr>
        <p:txBody>
          <a:bodyPr wrap="square" rtlCol="0" anchor="ctr"/>
          <a:lstStyle/>
          <a:p>
            <a:pPr indent="0" marL="0">
              <a:buNone/>
            </a:pPr>
            <a:r>
              <a:rPr lang="en-US" sz="850" dirty="0">
                <a:solidFill>
                  <a:srgbClr val="4FC3F7"/>
                </a:solidFill>
                <a:latin typeface="Courier New" pitchFamily="34" charset="0"/>
                <a:ea typeface="Courier New" pitchFamily="34" charset="-122"/>
                <a:cs typeface="Courier New" pitchFamily="34" charset="-120"/>
              </a:rPr>
              <a:t>https://mozilla.github.io/pdf.js</a:t>
            </a:r>
            <a:endParaRPr lang="en-US" sz="850" dirty="0"/>
          </a:p>
        </p:txBody>
      </p:sp>
      <p:sp>
        <p:nvSpPr>
          <p:cNvPr id="27" name="Text 25"/>
          <p:cNvSpPr/>
          <p:nvPr/>
        </p:nvSpPr>
        <p:spPr>
          <a:xfrm>
            <a:off x="685800" y="3273552"/>
            <a:ext cx="5120640" cy="201168"/>
          </a:xfrm>
          <a:prstGeom prst="rect">
            <a:avLst/>
          </a:prstGeom>
          <a:noFill/>
          <a:ln/>
        </p:spPr>
        <p:txBody>
          <a:bodyPr wrap="square" rtlCol="0" anchor="ctr"/>
          <a:lstStyle/>
          <a:p>
            <a:pPr indent="0" marL="0">
              <a:buNone/>
            </a:pPr>
            <a:r>
              <a:rPr lang="en-US" sz="850" dirty="0">
                <a:solidFill>
                  <a:srgbClr val="6B8CAE"/>
                </a:solidFill>
              </a:rPr>
              <a:t>Resume PDF text extraction engine</a:t>
            </a:r>
            <a:endParaRPr lang="en-US" sz="850" dirty="0"/>
          </a:p>
        </p:txBody>
      </p:sp>
      <p:sp>
        <p:nvSpPr>
          <p:cNvPr id="28" name="Shape 26"/>
          <p:cNvSpPr/>
          <p:nvPr/>
        </p:nvSpPr>
        <p:spPr>
          <a:xfrm>
            <a:off x="6309360" y="2468880"/>
            <a:ext cx="5532120" cy="1078992"/>
          </a:xfrm>
          <a:prstGeom prst="rect">
            <a:avLst/>
          </a:prstGeom>
          <a:solidFill>
            <a:srgbClr val="152542"/>
          </a:solidFill>
          <a:ln w="12700">
            <a:solidFill>
              <a:srgbClr val="F5C842">
                <a:alpha val="50000"/>
              </a:srgbClr>
            </a:solidFill>
            <a:prstDash val="solid"/>
          </a:ln>
          <a:effectLst>
            <a:outerShdw sx="100000" sy="100000" kx="0" ky="0" algn="bl" rotWithShape="0" blurRad="127000" dist="38100" dir="8100000">
              <a:srgbClr val="000000">
                <a:alpha val="25000"/>
              </a:srgbClr>
            </a:outerShdw>
          </a:effectLst>
        </p:spPr>
      </p:sp>
      <p:sp>
        <p:nvSpPr>
          <p:cNvPr id="29" name="Shape 27"/>
          <p:cNvSpPr/>
          <p:nvPr/>
        </p:nvSpPr>
        <p:spPr>
          <a:xfrm>
            <a:off x="6309360" y="2468880"/>
            <a:ext cx="50292" cy="1078992"/>
          </a:xfrm>
          <a:prstGeom prst="rect">
            <a:avLst/>
          </a:prstGeom>
          <a:solidFill>
            <a:srgbClr val="F5C842"/>
          </a:solidFill>
          <a:ln w="12700">
            <a:solidFill>
              <a:srgbClr val="F5C842"/>
            </a:solidFill>
            <a:prstDash val="solid"/>
          </a:ln>
        </p:spPr>
      </p:sp>
      <p:sp>
        <p:nvSpPr>
          <p:cNvPr id="30" name="Text 28"/>
          <p:cNvSpPr/>
          <p:nvPr/>
        </p:nvSpPr>
        <p:spPr>
          <a:xfrm>
            <a:off x="6492240" y="2560320"/>
            <a:ext cx="411480" cy="256032"/>
          </a:xfrm>
          <a:prstGeom prst="rect">
            <a:avLst/>
          </a:prstGeom>
          <a:noFill/>
          <a:ln/>
        </p:spPr>
        <p:txBody>
          <a:bodyPr wrap="square" rtlCol="0" anchor="ctr"/>
          <a:lstStyle/>
          <a:p>
            <a:pPr indent="0" marL="0">
              <a:buNone/>
            </a:pPr>
            <a:r>
              <a:rPr lang="en-US" sz="800" b="1" spc="200" kern="0" dirty="0">
                <a:solidFill>
                  <a:srgbClr val="F5C842"/>
                </a:solidFill>
                <a:latin typeface="Courier New" pitchFamily="34" charset="0"/>
                <a:ea typeface="Courier New" pitchFamily="34" charset="-122"/>
                <a:cs typeface="Courier New" pitchFamily="34" charset="-120"/>
              </a:rPr>
              <a:t>04</a:t>
            </a:r>
            <a:endParaRPr lang="en-US" sz="800" dirty="0"/>
          </a:p>
        </p:txBody>
      </p:sp>
      <p:sp>
        <p:nvSpPr>
          <p:cNvPr id="31" name="Text 29"/>
          <p:cNvSpPr/>
          <p:nvPr/>
        </p:nvSpPr>
        <p:spPr>
          <a:xfrm>
            <a:off x="6492240" y="2788920"/>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Google Fonts</a:t>
            </a:r>
            <a:endParaRPr lang="en-US" sz="1200" dirty="0"/>
          </a:p>
        </p:txBody>
      </p:sp>
      <p:sp>
        <p:nvSpPr>
          <p:cNvPr id="32" name="Text 30"/>
          <p:cNvSpPr/>
          <p:nvPr/>
        </p:nvSpPr>
        <p:spPr>
          <a:xfrm>
            <a:off x="6492240" y="3081528"/>
            <a:ext cx="5120640" cy="201168"/>
          </a:xfrm>
          <a:prstGeom prst="rect">
            <a:avLst/>
          </a:prstGeom>
          <a:noFill/>
          <a:ln/>
        </p:spPr>
        <p:txBody>
          <a:bodyPr wrap="square" rtlCol="0" anchor="ctr"/>
          <a:lstStyle/>
          <a:p>
            <a:pPr indent="0" marL="0">
              <a:buNone/>
            </a:pPr>
            <a:r>
              <a:rPr lang="en-US" sz="850" dirty="0">
                <a:solidFill>
                  <a:srgbClr val="F5C842"/>
                </a:solidFill>
                <a:latin typeface="Courier New" pitchFamily="34" charset="0"/>
                <a:ea typeface="Courier New" pitchFamily="34" charset="-122"/>
                <a:cs typeface="Courier New" pitchFamily="34" charset="-120"/>
              </a:rPr>
              <a:t>https://fonts.google.com</a:t>
            </a:r>
            <a:endParaRPr lang="en-US" sz="850" dirty="0"/>
          </a:p>
        </p:txBody>
      </p:sp>
      <p:sp>
        <p:nvSpPr>
          <p:cNvPr id="33" name="Text 31"/>
          <p:cNvSpPr/>
          <p:nvPr/>
        </p:nvSpPr>
        <p:spPr>
          <a:xfrm>
            <a:off x="6492240" y="3273552"/>
            <a:ext cx="5120640" cy="201168"/>
          </a:xfrm>
          <a:prstGeom prst="rect">
            <a:avLst/>
          </a:prstGeom>
          <a:noFill/>
          <a:ln/>
        </p:spPr>
        <p:txBody>
          <a:bodyPr wrap="square" rtlCol="0" anchor="ctr"/>
          <a:lstStyle/>
          <a:p>
            <a:pPr indent="0" marL="0">
              <a:buNone/>
            </a:pPr>
            <a:r>
              <a:rPr lang="en-US" sz="850" dirty="0">
                <a:solidFill>
                  <a:srgbClr val="6B8CAE"/>
                </a:solidFill>
              </a:rPr>
              <a:t>Syne, Outfit, JetBrains Mono, Inter typography</a:t>
            </a:r>
            <a:endParaRPr lang="en-US" sz="850" dirty="0"/>
          </a:p>
        </p:txBody>
      </p:sp>
      <p:sp>
        <p:nvSpPr>
          <p:cNvPr id="34" name="Shape 32"/>
          <p:cNvSpPr/>
          <p:nvPr/>
        </p:nvSpPr>
        <p:spPr>
          <a:xfrm>
            <a:off x="502920" y="3730752"/>
            <a:ext cx="5532120" cy="1078992"/>
          </a:xfrm>
          <a:prstGeom prst="rect">
            <a:avLst/>
          </a:prstGeom>
          <a:solidFill>
            <a:srgbClr val="152542"/>
          </a:solidFill>
          <a:ln w="12700">
            <a:solidFill>
              <a:srgbClr val="FF8C42">
                <a:alpha val="50000"/>
              </a:srgbClr>
            </a:solidFill>
            <a:prstDash val="solid"/>
          </a:ln>
          <a:effectLst>
            <a:outerShdw sx="100000" sy="100000" kx="0" ky="0" algn="bl" rotWithShape="0" blurRad="127000" dist="38100" dir="8100000">
              <a:srgbClr val="000000">
                <a:alpha val="25000"/>
              </a:srgbClr>
            </a:outerShdw>
          </a:effectLst>
        </p:spPr>
      </p:sp>
      <p:sp>
        <p:nvSpPr>
          <p:cNvPr id="35" name="Shape 33"/>
          <p:cNvSpPr/>
          <p:nvPr/>
        </p:nvSpPr>
        <p:spPr>
          <a:xfrm>
            <a:off x="502920" y="3730752"/>
            <a:ext cx="50292" cy="1078992"/>
          </a:xfrm>
          <a:prstGeom prst="rect">
            <a:avLst/>
          </a:prstGeom>
          <a:solidFill>
            <a:srgbClr val="FF8C42"/>
          </a:solidFill>
          <a:ln w="12700">
            <a:solidFill>
              <a:srgbClr val="FF8C42"/>
            </a:solidFill>
            <a:prstDash val="solid"/>
          </a:ln>
        </p:spPr>
      </p:sp>
      <p:sp>
        <p:nvSpPr>
          <p:cNvPr id="36" name="Text 34"/>
          <p:cNvSpPr/>
          <p:nvPr/>
        </p:nvSpPr>
        <p:spPr>
          <a:xfrm>
            <a:off x="685800" y="3822192"/>
            <a:ext cx="411480" cy="256032"/>
          </a:xfrm>
          <a:prstGeom prst="rect">
            <a:avLst/>
          </a:prstGeom>
          <a:noFill/>
          <a:ln/>
        </p:spPr>
        <p:txBody>
          <a:bodyPr wrap="square" rtlCol="0" anchor="ctr"/>
          <a:lstStyle/>
          <a:p>
            <a:pPr indent="0" marL="0">
              <a:buNone/>
            </a:pPr>
            <a:r>
              <a:rPr lang="en-US" sz="800" b="1" spc="200" kern="0" dirty="0">
                <a:solidFill>
                  <a:srgbClr val="FF8C42"/>
                </a:solidFill>
                <a:latin typeface="Courier New" pitchFamily="34" charset="0"/>
                <a:ea typeface="Courier New" pitchFamily="34" charset="-122"/>
                <a:cs typeface="Courier New" pitchFamily="34" charset="-120"/>
              </a:rPr>
              <a:t>05</a:t>
            </a:r>
            <a:endParaRPr lang="en-US" sz="800" dirty="0"/>
          </a:p>
        </p:txBody>
      </p:sp>
      <p:sp>
        <p:nvSpPr>
          <p:cNvPr id="37" name="Text 35"/>
          <p:cNvSpPr/>
          <p:nvPr/>
        </p:nvSpPr>
        <p:spPr>
          <a:xfrm>
            <a:off x="685800" y="4050792"/>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MDN Web Docs</a:t>
            </a:r>
            <a:endParaRPr lang="en-US" sz="1200" dirty="0"/>
          </a:p>
        </p:txBody>
      </p:sp>
      <p:sp>
        <p:nvSpPr>
          <p:cNvPr id="38" name="Text 36"/>
          <p:cNvSpPr/>
          <p:nvPr/>
        </p:nvSpPr>
        <p:spPr>
          <a:xfrm>
            <a:off x="685800" y="4343400"/>
            <a:ext cx="5120640" cy="201168"/>
          </a:xfrm>
          <a:prstGeom prst="rect">
            <a:avLst/>
          </a:prstGeom>
          <a:noFill/>
          <a:ln/>
        </p:spPr>
        <p:txBody>
          <a:bodyPr wrap="square" rtlCol="0" anchor="ctr"/>
          <a:lstStyle/>
          <a:p>
            <a:pPr indent="0" marL="0">
              <a:buNone/>
            </a:pPr>
            <a:r>
              <a:rPr lang="en-US" sz="850" dirty="0">
                <a:solidFill>
                  <a:srgbClr val="FF8C42"/>
                </a:solidFill>
                <a:latin typeface="Courier New" pitchFamily="34" charset="0"/>
                <a:ea typeface="Courier New" pitchFamily="34" charset="-122"/>
                <a:cs typeface="Courier New" pitchFamily="34" charset="-120"/>
              </a:rPr>
              <a:t>https://developer.mozilla.org</a:t>
            </a:r>
            <a:endParaRPr lang="en-US" sz="850" dirty="0"/>
          </a:p>
        </p:txBody>
      </p:sp>
      <p:sp>
        <p:nvSpPr>
          <p:cNvPr id="39" name="Text 37"/>
          <p:cNvSpPr/>
          <p:nvPr/>
        </p:nvSpPr>
        <p:spPr>
          <a:xfrm>
            <a:off x="685800" y="4535424"/>
            <a:ext cx="5120640" cy="201168"/>
          </a:xfrm>
          <a:prstGeom prst="rect">
            <a:avLst/>
          </a:prstGeom>
          <a:noFill/>
          <a:ln/>
        </p:spPr>
        <p:txBody>
          <a:bodyPr wrap="square" rtlCol="0" anchor="ctr"/>
          <a:lstStyle/>
          <a:p>
            <a:pPr indent="0" marL="0">
              <a:buNone/>
            </a:pPr>
            <a:r>
              <a:rPr lang="en-US" sz="850" dirty="0">
                <a:solidFill>
                  <a:srgbClr val="6B8CAE"/>
                </a:solidFill>
              </a:rPr>
              <a:t>HTML5, CSS3, JavaScript ES6+ reference documentation</a:t>
            </a:r>
            <a:endParaRPr lang="en-US" sz="850" dirty="0"/>
          </a:p>
        </p:txBody>
      </p:sp>
      <p:sp>
        <p:nvSpPr>
          <p:cNvPr id="40" name="Shape 38"/>
          <p:cNvSpPr/>
          <p:nvPr/>
        </p:nvSpPr>
        <p:spPr>
          <a:xfrm>
            <a:off x="6309360" y="3730752"/>
            <a:ext cx="5532120" cy="1078992"/>
          </a:xfrm>
          <a:prstGeom prst="rect">
            <a:avLst/>
          </a:prstGeom>
          <a:solidFill>
            <a:srgbClr val="152542"/>
          </a:solidFill>
          <a:ln w="12700">
            <a:solidFill>
              <a:srgbClr val="00E5CC">
                <a:alpha val="50000"/>
              </a:srgbClr>
            </a:solidFill>
            <a:prstDash val="solid"/>
          </a:ln>
          <a:effectLst>
            <a:outerShdw sx="100000" sy="100000" kx="0" ky="0" algn="bl" rotWithShape="0" blurRad="127000" dist="38100" dir="8100000">
              <a:srgbClr val="000000">
                <a:alpha val="25000"/>
              </a:srgbClr>
            </a:outerShdw>
          </a:effectLst>
        </p:spPr>
      </p:sp>
      <p:sp>
        <p:nvSpPr>
          <p:cNvPr id="41" name="Shape 39"/>
          <p:cNvSpPr/>
          <p:nvPr/>
        </p:nvSpPr>
        <p:spPr>
          <a:xfrm>
            <a:off x="6309360" y="3730752"/>
            <a:ext cx="50292" cy="1078992"/>
          </a:xfrm>
          <a:prstGeom prst="rect">
            <a:avLst/>
          </a:prstGeom>
          <a:solidFill>
            <a:srgbClr val="00E5CC"/>
          </a:solidFill>
          <a:ln w="12700">
            <a:solidFill>
              <a:srgbClr val="00E5CC"/>
            </a:solidFill>
            <a:prstDash val="solid"/>
          </a:ln>
        </p:spPr>
      </p:sp>
      <p:sp>
        <p:nvSpPr>
          <p:cNvPr id="42" name="Text 40"/>
          <p:cNvSpPr/>
          <p:nvPr/>
        </p:nvSpPr>
        <p:spPr>
          <a:xfrm>
            <a:off x="6492240" y="3822192"/>
            <a:ext cx="411480" cy="256032"/>
          </a:xfrm>
          <a:prstGeom prst="rect">
            <a:avLst/>
          </a:prstGeom>
          <a:noFill/>
          <a:ln/>
        </p:spPr>
        <p:txBody>
          <a:bodyPr wrap="square" rtlCol="0" anchor="ctr"/>
          <a:lstStyle/>
          <a:p>
            <a:pPr indent="0" marL="0">
              <a:buNone/>
            </a:pPr>
            <a:r>
              <a:rPr lang="en-US" sz="800" b="1" spc="200" kern="0" dirty="0">
                <a:solidFill>
                  <a:srgbClr val="00E5CC"/>
                </a:solidFill>
                <a:latin typeface="Courier New" pitchFamily="34" charset="0"/>
                <a:ea typeface="Courier New" pitchFamily="34" charset="-122"/>
                <a:cs typeface="Courier New" pitchFamily="34" charset="-120"/>
              </a:rPr>
              <a:t>06</a:t>
            </a:r>
            <a:endParaRPr lang="en-US" sz="800" dirty="0"/>
          </a:p>
        </p:txBody>
      </p:sp>
      <p:sp>
        <p:nvSpPr>
          <p:cNvPr id="43" name="Text 41"/>
          <p:cNvSpPr/>
          <p:nvPr/>
        </p:nvSpPr>
        <p:spPr>
          <a:xfrm>
            <a:off x="6492240" y="4050792"/>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GitHub — Version Control</a:t>
            </a:r>
            <a:endParaRPr lang="en-US" sz="1200" dirty="0"/>
          </a:p>
        </p:txBody>
      </p:sp>
      <p:sp>
        <p:nvSpPr>
          <p:cNvPr id="44" name="Text 42"/>
          <p:cNvSpPr/>
          <p:nvPr/>
        </p:nvSpPr>
        <p:spPr>
          <a:xfrm>
            <a:off x="6492240" y="4343400"/>
            <a:ext cx="5120640" cy="201168"/>
          </a:xfrm>
          <a:prstGeom prst="rect">
            <a:avLst/>
          </a:prstGeom>
          <a:noFill/>
          <a:ln/>
        </p:spPr>
        <p:txBody>
          <a:bodyPr wrap="square" rtlCol="0" anchor="ctr"/>
          <a:lstStyle/>
          <a:p>
            <a:pPr indent="0" marL="0">
              <a:buNone/>
            </a:pPr>
            <a:r>
              <a:rPr lang="en-US" sz="850" dirty="0">
                <a:solidFill>
                  <a:srgbClr val="00E5CC"/>
                </a:solidFill>
                <a:latin typeface="Courier New" pitchFamily="34" charset="0"/>
                <a:ea typeface="Courier New" pitchFamily="34" charset="-122"/>
                <a:cs typeface="Courier New" pitchFamily="34" charset="-120"/>
              </a:rPr>
              <a:t>https://github.com</a:t>
            </a:r>
            <a:endParaRPr lang="en-US" sz="850" dirty="0"/>
          </a:p>
        </p:txBody>
      </p:sp>
      <p:sp>
        <p:nvSpPr>
          <p:cNvPr id="45" name="Text 43"/>
          <p:cNvSpPr/>
          <p:nvPr/>
        </p:nvSpPr>
        <p:spPr>
          <a:xfrm>
            <a:off x="6492240" y="4535424"/>
            <a:ext cx="5120640" cy="201168"/>
          </a:xfrm>
          <a:prstGeom prst="rect">
            <a:avLst/>
          </a:prstGeom>
          <a:noFill/>
          <a:ln/>
        </p:spPr>
        <p:txBody>
          <a:bodyPr wrap="square" rtlCol="0" anchor="ctr"/>
          <a:lstStyle/>
          <a:p>
            <a:pPr indent="0" marL="0">
              <a:buNone/>
            </a:pPr>
            <a:r>
              <a:rPr lang="en-US" sz="850" dirty="0">
                <a:solidFill>
                  <a:srgbClr val="6B8CAE"/>
                </a:solidFill>
              </a:rPr>
              <a:t>Source code repository and version management</a:t>
            </a:r>
            <a:endParaRPr lang="en-US" sz="850" dirty="0"/>
          </a:p>
        </p:txBody>
      </p:sp>
      <p:sp>
        <p:nvSpPr>
          <p:cNvPr id="46" name="Shape 44"/>
          <p:cNvSpPr/>
          <p:nvPr/>
        </p:nvSpPr>
        <p:spPr>
          <a:xfrm>
            <a:off x="502920" y="4992624"/>
            <a:ext cx="5532120" cy="1078992"/>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47" name="Shape 45"/>
          <p:cNvSpPr/>
          <p:nvPr/>
        </p:nvSpPr>
        <p:spPr>
          <a:xfrm>
            <a:off x="502920" y="4992624"/>
            <a:ext cx="50292" cy="1078992"/>
          </a:xfrm>
          <a:prstGeom prst="rect">
            <a:avLst/>
          </a:prstGeom>
          <a:solidFill>
            <a:srgbClr val="E8A020"/>
          </a:solidFill>
          <a:ln w="12700">
            <a:solidFill>
              <a:srgbClr val="E8A020"/>
            </a:solidFill>
            <a:prstDash val="solid"/>
          </a:ln>
        </p:spPr>
      </p:sp>
      <p:sp>
        <p:nvSpPr>
          <p:cNvPr id="48" name="Text 46"/>
          <p:cNvSpPr/>
          <p:nvPr/>
        </p:nvSpPr>
        <p:spPr>
          <a:xfrm>
            <a:off x="685800" y="5084064"/>
            <a:ext cx="411480" cy="256032"/>
          </a:xfrm>
          <a:prstGeom prst="rect">
            <a:avLst/>
          </a:prstGeom>
          <a:noFill/>
          <a:ln/>
        </p:spPr>
        <p:txBody>
          <a:bodyPr wrap="square" rtlCol="0" anchor="ctr"/>
          <a:lstStyle/>
          <a:p>
            <a:pPr indent="0" marL="0">
              <a:buNone/>
            </a:pPr>
            <a:r>
              <a:rPr lang="en-US" sz="800" b="1" spc="200" kern="0" dirty="0">
                <a:solidFill>
                  <a:srgbClr val="E8A020"/>
                </a:solidFill>
                <a:latin typeface="Courier New" pitchFamily="34" charset="0"/>
                <a:ea typeface="Courier New" pitchFamily="34" charset="-122"/>
                <a:cs typeface="Courier New" pitchFamily="34" charset="-120"/>
              </a:rPr>
              <a:t>07</a:t>
            </a:r>
            <a:endParaRPr lang="en-US" sz="800" dirty="0"/>
          </a:p>
        </p:txBody>
      </p:sp>
      <p:sp>
        <p:nvSpPr>
          <p:cNvPr id="49" name="Text 47"/>
          <p:cNvSpPr/>
          <p:nvPr/>
        </p:nvSpPr>
        <p:spPr>
          <a:xfrm>
            <a:off x="685800" y="5312664"/>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VS Code — Code Editor</a:t>
            </a:r>
            <a:endParaRPr lang="en-US" sz="1200" dirty="0"/>
          </a:p>
        </p:txBody>
      </p:sp>
      <p:sp>
        <p:nvSpPr>
          <p:cNvPr id="50" name="Text 48"/>
          <p:cNvSpPr/>
          <p:nvPr/>
        </p:nvSpPr>
        <p:spPr>
          <a:xfrm>
            <a:off x="685800" y="5605272"/>
            <a:ext cx="5120640" cy="201168"/>
          </a:xfrm>
          <a:prstGeom prst="rect">
            <a:avLst/>
          </a:prstGeom>
          <a:noFill/>
          <a:ln/>
        </p:spPr>
        <p:txBody>
          <a:bodyPr wrap="square" rtlCol="0" anchor="ctr"/>
          <a:lstStyle/>
          <a:p>
            <a:pPr indent="0" marL="0">
              <a:buNone/>
            </a:pPr>
            <a:r>
              <a:rPr lang="en-US" sz="850" dirty="0">
                <a:solidFill>
                  <a:srgbClr val="E8A020"/>
                </a:solidFill>
                <a:latin typeface="Courier New" pitchFamily="34" charset="0"/>
                <a:ea typeface="Courier New" pitchFamily="34" charset="-122"/>
                <a:cs typeface="Courier New" pitchFamily="34" charset="-120"/>
              </a:rPr>
              <a:t>https://code.visualstudio.com</a:t>
            </a:r>
            <a:endParaRPr lang="en-US" sz="850" dirty="0"/>
          </a:p>
        </p:txBody>
      </p:sp>
      <p:sp>
        <p:nvSpPr>
          <p:cNvPr id="51" name="Text 49"/>
          <p:cNvSpPr/>
          <p:nvPr/>
        </p:nvSpPr>
        <p:spPr>
          <a:xfrm>
            <a:off x="685800" y="5797296"/>
            <a:ext cx="5120640" cy="201168"/>
          </a:xfrm>
          <a:prstGeom prst="rect">
            <a:avLst/>
          </a:prstGeom>
          <a:noFill/>
          <a:ln/>
        </p:spPr>
        <p:txBody>
          <a:bodyPr wrap="square" rtlCol="0" anchor="ctr"/>
          <a:lstStyle/>
          <a:p>
            <a:pPr indent="0" marL="0">
              <a:buNone/>
            </a:pPr>
            <a:r>
              <a:rPr lang="en-US" sz="850" dirty="0">
                <a:solidFill>
                  <a:srgbClr val="6B8CAE"/>
                </a:solidFill>
              </a:rPr>
              <a:t>Primary development environment</a:t>
            </a:r>
            <a:endParaRPr lang="en-US" sz="850" dirty="0"/>
          </a:p>
        </p:txBody>
      </p:sp>
      <p:sp>
        <p:nvSpPr>
          <p:cNvPr id="52" name="Shape 50"/>
          <p:cNvSpPr/>
          <p:nvPr/>
        </p:nvSpPr>
        <p:spPr>
          <a:xfrm>
            <a:off x="6309360" y="4992624"/>
            <a:ext cx="5532120" cy="107899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53" name="Shape 51"/>
          <p:cNvSpPr/>
          <p:nvPr/>
        </p:nvSpPr>
        <p:spPr>
          <a:xfrm>
            <a:off x="6309360" y="4992624"/>
            <a:ext cx="50292" cy="1078992"/>
          </a:xfrm>
          <a:prstGeom prst="rect">
            <a:avLst/>
          </a:prstGeom>
          <a:solidFill>
            <a:srgbClr val="00C9A7"/>
          </a:solidFill>
          <a:ln w="12700">
            <a:solidFill>
              <a:srgbClr val="00C9A7"/>
            </a:solidFill>
            <a:prstDash val="solid"/>
          </a:ln>
        </p:spPr>
      </p:sp>
      <p:sp>
        <p:nvSpPr>
          <p:cNvPr id="54" name="Text 52"/>
          <p:cNvSpPr/>
          <p:nvPr/>
        </p:nvSpPr>
        <p:spPr>
          <a:xfrm>
            <a:off x="6492240" y="5084064"/>
            <a:ext cx="411480" cy="256032"/>
          </a:xfrm>
          <a:prstGeom prst="rect">
            <a:avLst/>
          </a:prstGeom>
          <a:noFill/>
          <a:ln/>
        </p:spPr>
        <p:txBody>
          <a:bodyPr wrap="square" rtlCol="0" anchor="ctr"/>
          <a:lstStyle/>
          <a:p>
            <a:pPr indent="0" marL="0">
              <a:buNone/>
            </a:pPr>
            <a:r>
              <a:rPr lang="en-US" sz="800" b="1" spc="200" kern="0" dirty="0">
                <a:solidFill>
                  <a:srgbClr val="00C9A7"/>
                </a:solidFill>
                <a:latin typeface="Courier New" pitchFamily="34" charset="0"/>
                <a:ea typeface="Courier New" pitchFamily="34" charset="-122"/>
                <a:cs typeface="Courier New" pitchFamily="34" charset="-120"/>
              </a:rPr>
              <a:t>08</a:t>
            </a:r>
            <a:endParaRPr lang="en-US" sz="800" dirty="0"/>
          </a:p>
        </p:txBody>
      </p:sp>
      <p:sp>
        <p:nvSpPr>
          <p:cNvPr id="55" name="Text 53"/>
          <p:cNvSpPr/>
          <p:nvPr/>
        </p:nvSpPr>
        <p:spPr>
          <a:xfrm>
            <a:off x="6492240" y="5312664"/>
            <a:ext cx="512064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cdnjs — CDN for Libraries</a:t>
            </a:r>
            <a:endParaRPr lang="en-US" sz="1200" dirty="0"/>
          </a:p>
        </p:txBody>
      </p:sp>
      <p:sp>
        <p:nvSpPr>
          <p:cNvPr id="56" name="Text 54"/>
          <p:cNvSpPr/>
          <p:nvPr/>
        </p:nvSpPr>
        <p:spPr>
          <a:xfrm>
            <a:off x="6492240" y="5605272"/>
            <a:ext cx="5120640" cy="201168"/>
          </a:xfrm>
          <a:prstGeom prst="rect">
            <a:avLst/>
          </a:prstGeom>
          <a:noFill/>
          <a:ln/>
        </p:spPr>
        <p:txBody>
          <a:bodyPr wrap="square" rtlCol="0" anchor="ctr"/>
          <a:lstStyle/>
          <a:p>
            <a:pPr indent="0" marL="0">
              <a:buNone/>
            </a:pPr>
            <a:r>
              <a:rPr lang="en-US" sz="850" dirty="0">
                <a:solidFill>
                  <a:srgbClr val="00C9A7"/>
                </a:solidFill>
                <a:latin typeface="Courier New" pitchFamily="34" charset="0"/>
                <a:ea typeface="Courier New" pitchFamily="34" charset="-122"/>
                <a:cs typeface="Courier New" pitchFamily="34" charset="-120"/>
              </a:rPr>
              <a:t>https://cdnjs.cloudflare.com</a:t>
            </a:r>
            <a:endParaRPr lang="en-US" sz="850" dirty="0"/>
          </a:p>
        </p:txBody>
      </p:sp>
      <p:sp>
        <p:nvSpPr>
          <p:cNvPr id="57" name="Text 55"/>
          <p:cNvSpPr/>
          <p:nvPr/>
        </p:nvSpPr>
        <p:spPr>
          <a:xfrm>
            <a:off x="6492240" y="5797296"/>
            <a:ext cx="5120640" cy="201168"/>
          </a:xfrm>
          <a:prstGeom prst="rect">
            <a:avLst/>
          </a:prstGeom>
          <a:noFill/>
          <a:ln/>
        </p:spPr>
        <p:txBody>
          <a:bodyPr wrap="square" rtlCol="0" anchor="ctr"/>
          <a:lstStyle/>
          <a:p>
            <a:pPr indent="0" marL="0">
              <a:buNone/>
            </a:pPr>
            <a:r>
              <a:rPr lang="en-US" sz="850" dirty="0">
                <a:solidFill>
                  <a:srgbClr val="6B8CAE"/>
                </a:solidFill>
              </a:rPr>
              <a:t>Hosted PDF.js and other frontend libraries</a:t>
            </a:r>
            <a:endParaRPr lang="en-US" sz="850" dirty="0"/>
          </a:p>
        </p:txBody>
      </p:sp>
      <p:sp>
        <p:nvSpPr>
          <p:cNvPr id="58" name="Shape 56"/>
          <p:cNvSpPr/>
          <p:nvPr/>
        </p:nvSpPr>
        <p:spPr>
          <a:xfrm>
            <a:off x="502920" y="6263640"/>
            <a:ext cx="11155680" cy="347472"/>
          </a:xfrm>
          <a:prstGeom prst="rect">
            <a:avLst/>
          </a:prstGeom>
          <a:solidFill>
            <a:srgbClr val="1C2E4A"/>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59" name="Shape 57"/>
          <p:cNvSpPr/>
          <p:nvPr/>
        </p:nvSpPr>
        <p:spPr>
          <a:xfrm>
            <a:off x="502920" y="6263640"/>
            <a:ext cx="50292" cy="347472"/>
          </a:xfrm>
          <a:prstGeom prst="rect">
            <a:avLst/>
          </a:prstGeom>
          <a:solidFill>
            <a:srgbClr val="4FC3F7"/>
          </a:solidFill>
          <a:ln w="12700">
            <a:solidFill>
              <a:srgbClr val="4FC3F7"/>
            </a:solidFill>
            <a:prstDash val="solid"/>
          </a:ln>
        </p:spPr>
      </p:sp>
      <p:sp>
        <p:nvSpPr>
          <p:cNvPr id="60" name="Text 58"/>
          <p:cNvSpPr/>
          <p:nvPr/>
        </p:nvSpPr>
        <p:spPr>
          <a:xfrm>
            <a:off x="658368" y="6263640"/>
            <a:ext cx="10972800" cy="347472"/>
          </a:xfrm>
          <a:prstGeom prst="rect">
            <a:avLst/>
          </a:prstGeom>
          <a:noFill/>
          <a:ln/>
        </p:spPr>
        <p:txBody>
          <a:bodyPr wrap="square" rtlCol="0" anchor="ctr"/>
          <a:lstStyle/>
          <a:p>
            <a:pPr indent="0" marL="0">
              <a:buNone/>
            </a:pPr>
            <a:r>
              <a:rPr lang="en-US" sz="900" dirty="0">
                <a:solidFill>
                  <a:srgbClr val="4FC3F7"/>
                </a:solidFill>
                <a:latin typeface="Courier New" pitchFamily="34" charset="0"/>
                <a:ea typeface="Courier New" pitchFamily="34" charset="-122"/>
                <a:cs typeface="Courier New" pitchFamily="34" charset="-120"/>
              </a:rPr>
              <a:t>Software URL: devfolio.html (local)  ·  AI Tools Used: Microsoft Copilot &amp; Google Gemini  ·  Code: Single-file HTML (3,200+ lines)</a:t>
            </a:r>
            <a:endParaRPr lang="en-US" sz="900" dirty="0"/>
          </a:p>
        </p:txBody>
      </p:sp>
      <p:sp>
        <p:nvSpPr>
          <p:cNvPr id="61" name="Shape 59"/>
          <p:cNvSpPr/>
          <p:nvPr/>
        </p:nvSpPr>
        <p:spPr>
          <a:xfrm>
            <a:off x="0" y="6547104"/>
            <a:ext cx="12161520" cy="310896"/>
          </a:xfrm>
          <a:prstGeom prst="rect">
            <a:avLst/>
          </a:prstGeom>
          <a:solidFill>
            <a:srgbClr val="071020"/>
          </a:solidFill>
          <a:ln w="12700">
            <a:solidFill>
              <a:srgbClr val="071020"/>
            </a:solidFill>
            <a:prstDash val="solid"/>
          </a:ln>
        </p:spPr>
      </p:sp>
      <p:sp>
        <p:nvSpPr>
          <p:cNvPr id="62" name="Shape 60"/>
          <p:cNvSpPr/>
          <p:nvPr/>
        </p:nvSpPr>
        <p:spPr>
          <a:xfrm>
            <a:off x="0" y="6547104"/>
            <a:ext cx="12161520" cy="27432"/>
          </a:xfrm>
          <a:prstGeom prst="rect">
            <a:avLst/>
          </a:prstGeom>
          <a:solidFill>
            <a:srgbClr val="E8A020"/>
          </a:solidFill>
          <a:ln w="12700">
            <a:solidFill>
              <a:srgbClr val="E8A020"/>
            </a:solidFill>
            <a:prstDash val="solid"/>
          </a:ln>
        </p:spPr>
      </p:sp>
      <p:sp>
        <p:nvSpPr>
          <p:cNvPr id="63" name="Text 61"/>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4256532" cy="64008"/>
          </a:xfrm>
          <a:prstGeom prst="rect">
            <a:avLst/>
          </a:prstGeom>
          <a:solidFill>
            <a:srgbClr val="4FC3F7"/>
          </a:solidFill>
          <a:ln w="12700">
            <a:solidFill>
              <a:srgbClr val="4FC3F7"/>
            </a:solidFill>
            <a:prstDash val="solid"/>
          </a:ln>
        </p:spPr>
      </p:sp>
      <p:sp>
        <p:nvSpPr>
          <p:cNvPr id="3" name="Shape 1"/>
          <p:cNvSpPr/>
          <p:nvPr/>
        </p:nvSpPr>
        <p:spPr>
          <a:xfrm>
            <a:off x="4256532" y="0"/>
            <a:ext cx="7904988" cy="64008"/>
          </a:xfrm>
          <a:prstGeom prst="rect">
            <a:avLst/>
          </a:prstGeom>
          <a:solidFill>
            <a:srgbClr val="E8A020"/>
          </a:solidFill>
          <a:ln w="12700">
            <a:solidFill>
              <a:srgbClr val="E8A020"/>
            </a:solidFill>
            <a:prstDash val="solid"/>
          </a:ln>
        </p:spPr>
      </p:sp>
      <p:sp>
        <p:nvSpPr>
          <p:cNvPr id="4" name="Shape 2"/>
          <p:cNvSpPr/>
          <p:nvPr/>
        </p:nvSpPr>
        <p:spPr>
          <a:xfrm>
            <a:off x="0" y="64008"/>
            <a:ext cx="54864" cy="6793992"/>
          </a:xfrm>
          <a:prstGeom prst="rect">
            <a:avLst/>
          </a:prstGeom>
          <a:solidFill>
            <a:srgbClr val="4FC3F7">
              <a:alpha val="18000"/>
            </a:srgbClr>
          </a:solidFill>
          <a:ln w="12700">
            <a:solidFill>
              <a:srgbClr val="4FC3F7"/>
            </a:solidFill>
            <a:prstDash val="solid"/>
          </a:ln>
        </p:spPr>
      </p:sp>
      <p:sp>
        <p:nvSpPr>
          <p:cNvPr id="5" name="Text 3"/>
          <p:cNvSpPr/>
          <p:nvPr/>
        </p:nvSpPr>
        <p:spPr>
          <a:xfrm>
            <a:off x="502920" y="164592"/>
            <a:ext cx="1097280" cy="256032"/>
          </a:xfrm>
          <a:prstGeom prst="rect">
            <a:avLst/>
          </a:prstGeom>
          <a:noFill/>
          <a:ln/>
        </p:spPr>
        <p:txBody>
          <a:bodyPr wrap="square" rtlCol="0" anchor="ctr"/>
          <a:lstStyle/>
          <a:p>
            <a:pPr indent="0" marL="0">
              <a:buNone/>
            </a:pPr>
            <a:r>
              <a:rPr lang="en-US" sz="850" b="1" spc="300" kern="0" dirty="0">
                <a:solidFill>
                  <a:srgbClr val="4FC3F7"/>
                </a:solidFill>
                <a:latin typeface="Courier New" pitchFamily="34" charset="0"/>
                <a:ea typeface="Courier New" pitchFamily="34" charset="-122"/>
                <a:cs typeface="Courier New" pitchFamily="34" charset="-120"/>
              </a:rPr>
              <a:t>/ 10</a:t>
            </a:r>
            <a:endParaRPr lang="en-US" sz="850" dirty="0"/>
          </a:p>
        </p:txBody>
      </p:sp>
      <p:sp>
        <p:nvSpPr>
          <p:cNvPr id="6" name="Text 4"/>
          <p:cNvSpPr/>
          <p:nvPr/>
        </p:nvSpPr>
        <p:spPr>
          <a:xfrm>
            <a:off x="502920" y="402336"/>
            <a:ext cx="10972800" cy="621792"/>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AI Tools, Software URL &amp; Code</a:t>
            </a:r>
            <a:endParaRPr lang="en-US" sz="3400" dirty="0"/>
          </a:p>
        </p:txBody>
      </p:sp>
      <p:sp>
        <p:nvSpPr>
          <p:cNvPr id="7" name="Shape 5"/>
          <p:cNvSpPr/>
          <p:nvPr/>
        </p:nvSpPr>
        <p:spPr>
          <a:xfrm>
            <a:off x="502920" y="1024128"/>
            <a:ext cx="548640" cy="45720"/>
          </a:xfrm>
          <a:prstGeom prst="rect">
            <a:avLst/>
          </a:prstGeom>
          <a:solidFill>
            <a:srgbClr val="4FC3F7"/>
          </a:solidFill>
          <a:ln w="12700">
            <a:solidFill>
              <a:srgbClr val="4FC3F7"/>
            </a:solidFill>
            <a:prstDash val="solid"/>
          </a:ln>
        </p:spPr>
      </p:sp>
      <p:sp>
        <p:nvSpPr>
          <p:cNvPr id="8" name="Shape 6"/>
          <p:cNvSpPr/>
          <p:nvPr/>
        </p:nvSpPr>
        <p:spPr>
          <a:xfrm>
            <a:off x="8229600" y="1828800"/>
            <a:ext cx="5486400" cy="5486400"/>
          </a:xfrm>
          <a:prstGeom prst="ellipse">
            <a:avLst/>
          </a:prstGeom>
          <a:solidFill>
            <a:srgbClr val="4FC3F7">
              <a:alpha val="9000"/>
            </a:srgbClr>
          </a:solidFill>
          <a:ln w="12700">
            <a:solidFill>
              <a:srgbClr val="4FC3F7">
                <a:alpha val="0"/>
              </a:srgbClr>
            </a:solidFill>
            <a:prstDash val="solid"/>
          </a:ln>
        </p:spPr>
      </p:sp>
      <p:sp>
        <p:nvSpPr>
          <p:cNvPr id="9" name="Shape 7"/>
          <p:cNvSpPr/>
          <p:nvPr/>
        </p:nvSpPr>
        <p:spPr>
          <a:xfrm>
            <a:off x="502920" y="1207008"/>
            <a:ext cx="5394960" cy="2560320"/>
          </a:xfrm>
          <a:prstGeom prst="rect">
            <a:avLst/>
          </a:prstGeom>
          <a:solidFill>
            <a:srgbClr val="152542"/>
          </a:solidFill>
          <a:ln w="12700">
            <a:solidFill>
              <a:srgbClr val="E8A020">
                <a:alpha val="50000"/>
              </a:srgbClr>
            </a:solidFill>
            <a:prstDash val="solid"/>
          </a:ln>
          <a:effectLst>
            <a:outerShdw sx="100000" sy="100000" kx="0" ky="0" algn="bl" rotWithShape="0" blurRad="127000" dist="38100" dir="8100000">
              <a:srgbClr val="000000">
                <a:alpha val="25000"/>
              </a:srgbClr>
            </a:outerShdw>
          </a:effectLst>
        </p:spPr>
      </p:sp>
      <p:sp>
        <p:nvSpPr>
          <p:cNvPr id="10" name="Shape 8"/>
          <p:cNvSpPr/>
          <p:nvPr/>
        </p:nvSpPr>
        <p:spPr>
          <a:xfrm>
            <a:off x="502920" y="1207008"/>
            <a:ext cx="50292" cy="2560320"/>
          </a:xfrm>
          <a:prstGeom prst="rect">
            <a:avLst/>
          </a:prstGeom>
          <a:solidFill>
            <a:srgbClr val="E8A020"/>
          </a:solidFill>
          <a:ln w="12700">
            <a:solidFill>
              <a:srgbClr val="E8A020"/>
            </a:solidFill>
            <a:prstDash val="solid"/>
          </a:ln>
        </p:spPr>
      </p:sp>
      <p:sp>
        <p:nvSpPr>
          <p:cNvPr id="11" name="Text 9"/>
          <p:cNvSpPr/>
          <p:nvPr/>
        </p:nvSpPr>
        <p:spPr>
          <a:xfrm>
            <a:off x="685800" y="1316736"/>
            <a:ext cx="5029200" cy="329184"/>
          </a:xfrm>
          <a:prstGeom prst="rect">
            <a:avLst/>
          </a:prstGeom>
          <a:noFill/>
          <a:ln/>
        </p:spPr>
        <p:txBody>
          <a:bodyPr wrap="square" rtlCol="0" anchor="ctr"/>
          <a:lstStyle/>
          <a:p>
            <a:pPr indent="0" marL="0">
              <a:buNone/>
            </a:pPr>
            <a:r>
              <a:rPr lang="en-US" sz="1300" b="1" dirty="0">
                <a:solidFill>
                  <a:srgbClr val="E8A020"/>
                </a:solidFill>
                <a:latin typeface="Arial" pitchFamily="34" charset="0"/>
                <a:ea typeface="Arial" pitchFamily="34" charset="-122"/>
                <a:cs typeface="Arial" pitchFamily="34" charset="-120"/>
              </a:rPr>
              <a:t>✦  AI Tools Used</a:t>
            </a:r>
            <a:endParaRPr lang="en-US" sz="1300" dirty="0"/>
          </a:p>
        </p:txBody>
      </p:sp>
      <p:sp>
        <p:nvSpPr>
          <p:cNvPr id="12" name="Shape 10"/>
          <p:cNvSpPr/>
          <p:nvPr/>
        </p:nvSpPr>
        <p:spPr>
          <a:xfrm>
            <a:off x="713232" y="1837944"/>
            <a:ext cx="109728" cy="109728"/>
          </a:xfrm>
          <a:prstGeom prst="ellipse">
            <a:avLst/>
          </a:prstGeom>
          <a:solidFill>
            <a:srgbClr val="E8A020"/>
          </a:solidFill>
          <a:ln w="12700">
            <a:solidFill>
              <a:srgbClr val="E8A020"/>
            </a:solidFill>
            <a:prstDash val="solid"/>
          </a:ln>
        </p:spPr>
      </p:sp>
      <p:sp>
        <p:nvSpPr>
          <p:cNvPr id="13" name="Text 11"/>
          <p:cNvSpPr/>
          <p:nvPr/>
        </p:nvSpPr>
        <p:spPr>
          <a:xfrm>
            <a:off x="914400" y="1737360"/>
            <a:ext cx="4754880" cy="256032"/>
          </a:xfrm>
          <a:prstGeom prst="rect">
            <a:avLst/>
          </a:prstGeom>
          <a:noFill/>
          <a:ln/>
        </p:spPr>
        <p:txBody>
          <a:bodyPr wrap="square" rtlCol="0" anchor="ctr"/>
          <a:lstStyle/>
          <a:p>
            <a:pPr indent="0" marL="0">
              <a:buNone/>
            </a:pPr>
            <a:r>
              <a:rPr lang="en-US" sz="1050" b="1" dirty="0">
                <a:solidFill>
                  <a:srgbClr val="FFFFFF"/>
                </a:solidFill>
              </a:rPr>
              <a:t>Microsoft Copilot</a:t>
            </a:r>
            <a:endParaRPr lang="en-US" sz="1050" dirty="0"/>
          </a:p>
        </p:txBody>
      </p:sp>
      <p:sp>
        <p:nvSpPr>
          <p:cNvPr id="14" name="Text 12"/>
          <p:cNvSpPr/>
          <p:nvPr/>
        </p:nvSpPr>
        <p:spPr>
          <a:xfrm>
            <a:off x="914400" y="1993392"/>
            <a:ext cx="4754880" cy="320040"/>
          </a:xfrm>
          <a:prstGeom prst="rect">
            <a:avLst/>
          </a:prstGeom>
          <a:noFill/>
          <a:ln/>
        </p:spPr>
        <p:txBody>
          <a:bodyPr wrap="square" rtlCol="0" anchor="ctr"/>
          <a:lstStyle/>
          <a:p>
            <a:pPr indent="0" marL="0">
              <a:lnSpc>
                <a:spcPct val="130000"/>
              </a:lnSpc>
              <a:buNone/>
            </a:pPr>
            <a:r>
              <a:rPr lang="en-US" sz="850" dirty="0">
                <a:solidFill>
                  <a:srgbClr val="6B8CAE"/>
                </a:solidFill>
              </a:rPr>
              <a:t>Primary code generation — portfolio engine, auth system, resume parser, template renderers</a:t>
            </a:r>
            <a:endParaRPr lang="en-US" sz="850" dirty="0"/>
          </a:p>
        </p:txBody>
      </p:sp>
      <p:sp>
        <p:nvSpPr>
          <p:cNvPr id="15" name="Shape 13"/>
          <p:cNvSpPr/>
          <p:nvPr/>
        </p:nvSpPr>
        <p:spPr>
          <a:xfrm>
            <a:off x="713232" y="2423160"/>
            <a:ext cx="109728" cy="109728"/>
          </a:xfrm>
          <a:prstGeom prst="ellipse">
            <a:avLst/>
          </a:prstGeom>
          <a:solidFill>
            <a:srgbClr val="00C9A7"/>
          </a:solidFill>
          <a:ln w="12700">
            <a:solidFill>
              <a:srgbClr val="00C9A7"/>
            </a:solidFill>
            <a:prstDash val="solid"/>
          </a:ln>
        </p:spPr>
      </p:sp>
      <p:sp>
        <p:nvSpPr>
          <p:cNvPr id="16" name="Text 14"/>
          <p:cNvSpPr/>
          <p:nvPr/>
        </p:nvSpPr>
        <p:spPr>
          <a:xfrm>
            <a:off x="914400" y="2322576"/>
            <a:ext cx="4754880" cy="256032"/>
          </a:xfrm>
          <a:prstGeom prst="rect">
            <a:avLst/>
          </a:prstGeom>
          <a:noFill/>
          <a:ln/>
        </p:spPr>
        <p:txBody>
          <a:bodyPr wrap="square" rtlCol="0" anchor="ctr"/>
          <a:lstStyle/>
          <a:p>
            <a:pPr indent="0" marL="0">
              <a:buNone/>
            </a:pPr>
            <a:r>
              <a:rPr lang="en-US" sz="1050" b="1" dirty="0">
                <a:solidFill>
                  <a:srgbClr val="FFFFFF"/>
                </a:solidFill>
              </a:rPr>
              <a:t>Google Gemini</a:t>
            </a:r>
            <a:endParaRPr lang="en-US" sz="1050" dirty="0"/>
          </a:p>
        </p:txBody>
      </p:sp>
      <p:sp>
        <p:nvSpPr>
          <p:cNvPr id="17" name="Text 15"/>
          <p:cNvSpPr/>
          <p:nvPr/>
        </p:nvSpPr>
        <p:spPr>
          <a:xfrm>
            <a:off x="914400" y="2578608"/>
            <a:ext cx="4754880" cy="320040"/>
          </a:xfrm>
          <a:prstGeom prst="rect">
            <a:avLst/>
          </a:prstGeom>
          <a:noFill/>
          <a:ln/>
        </p:spPr>
        <p:txBody>
          <a:bodyPr wrap="square" rtlCol="0" anchor="ctr"/>
          <a:lstStyle/>
          <a:p>
            <a:pPr indent="0" marL="0">
              <a:lnSpc>
                <a:spcPct val="130000"/>
              </a:lnSpc>
              <a:buNone/>
            </a:pPr>
            <a:r>
              <a:rPr lang="en-US" sz="850" dirty="0">
                <a:solidFill>
                  <a:srgbClr val="6B8CAE"/>
                </a:solidFill>
              </a:rPr>
              <a:t>CSS styling, bio generation feature, skill gap logic, secondary code review &amp; research</a:t>
            </a:r>
            <a:endParaRPr lang="en-US" sz="850" dirty="0"/>
          </a:p>
        </p:txBody>
      </p:sp>
      <p:sp>
        <p:nvSpPr>
          <p:cNvPr id="18" name="Shape 16"/>
          <p:cNvSpPr/>
          <p:nvPr/>
        </p:nvSpPr>
        <p:spPr>
          <a:xfrm>
            <a:off x="713232" y="3008376"/>
            <a:ext cx="109728" cy="109728"/>
          </a:xfrm>
          <a:prstGeom prst="ellipse">
            <a:avLst/>
          </a:prstGeom>
          <a:solidFill>
            <a:srgbClr val="4FC3F7"/>
          </a:solidFill>
          <a:ln w="12700">
            <a:solidFill>
              <a:srgbClr val="4FC3F7"/>
            </a:solidFill>
            <a:prstDash val="solid"/>
          </a:ln>
        </p:spPr>
      </p:sp>
      <p:sp>
        <p:nvSpPr>
          <p:cNvPr id="19" name="Text 17"/>
          <p:cNvSpPr/>
          <p:nvPr/>
        </p:nvSpPr>
        <p:spPr>
          <a:xfrm>
            <a:off x="914400" y="2907792"/>
            <a:ext cx="4754880" cy="256032"/>
          </a:xfrm>
          <a:prstGeom prst="rect">
            <a:avLst/>
          </a:prstGeom>
          <a:noFill/>
          <a:ln/>
        </p:spPr>
        <p:txBody>
          <a:bodyPr wrap="square" rtlCol="0" anchor="ctr"/>
          <a:lstStyle/>
          <a:p>
            <a:pPr indent="0" marL="0">
              <a:buNone/>
            </a:pPr>
            <a:r>
              <a:rPr lang="en-US" sz="1050" b="1" dirty="0">
                <a:solidFill>
                  <a:srgbClr val="FFFFFF"/>
                </a:solidFill>
              </a:rPr>
              <a:t>Copilot + Gemini</a:t>
            </a:r>
            <a:endParaRPr lang="en-US" sz="1050" dirty="0"/>
          </a:p>
        </p:txBody>
      </p:sp>
      <p:sp>
        <p:nvSpPr>
          <p:cNvPr id="20" name="Text 18"/>
          <p:cNvSpPr/>
          <p:nvPr/>
        </p:nvSpPr>
        <p:spPr>
          <a:xfrm>
            <a:off x="914400" y="3163824"/>
            <a:ext cx="4754880" cy="320040"/>
          </a:xfrm>
          <a:prstGeom prst="rect">
            <a:avLst/>
          </a:prstGeom>
          <a:noFill/>
          <a:ln/>
        </p:spPr>
        <p:txBody>
          <a:bodyPr wrap="square" rtlCol="0" anchor="ctr"/>
          <a:lstStyle/>
          <a:p>
            <a:pPr indent="0" marL="0">
              <a:lnSpc>
                <a:spcPct val="130000"/>
              </a:lnSpc>
              <a:buNone/>
            </a:pPr>
            <a:r>
              <a:rPr lang="en-US" sz="850" dirty="0">
                <a:solidFill>
                  <a:srgbClr val="6B8CAE"/>
                </a:solidFill>
              </a:rPr>
              <a:t>Combined for complex features — multi-step wizard, PDF parsing, 20-template routing logic</a:t>
            </a:r>
            <a:endParaRPr lang="en-US" sz="850" dirty="0"/>
          </a:p>
        </p:txBody>
      </p:sp>
      <p:sp>
        <p:nvSpPr>
          <p:cNvPr id="21" name="Shape 19"/>
          <p:cNvSpPr/>
          <p:nvPr/>
        </p:nvSpPr>
        <p:spPr>
          <a:xfrm>
            <a:off x="502920" y="3931920"/>
            <a:ext cx="5394960" cy="1417320"/>
          </a:xfrm>
          <a:prstGeom prst="rect">
            <a:avLst/>
          </a:prstGeom>
          <a:solidFill>
            <a:srgbClr val="152542"/>
          </a:solidFill>
          <a:ln w="12700">
            <a:solidFill>
              <a:srgbClr val="4FC3F7">
                <a:alpha val="50000"/>
              </a:srgbClr>
            </a:solidFill>
            <a:prstDash val="solid"/>
          </a:ln>
          <a:effectLst>
            <a:outerShdw sx="100000" sy="100000" kx="0" ky="0" algn="bl" rotWithShape="0" blurRad="127000" dist="38100" dir="8100000">
              <a:srgbClr val="000000">
                <a:alpha val="25000"/>
              </a:srgbClr>
            </a:outerShdw>
          </a:effectLst>
        </p:spPr>
      </p:sp>
      <p:sp>
        <p:nvSpPr>
          <p:cNvPr id="22" name="Shape 20"/>
          <p:cNvSpPr/>
          <p:nvPr/>
        </p:nvSpPr>
        <p:spPr>
          <a:xfrm>
            <a:off x="502920" y="3931920"/>
            <a:ext cx="50292" cy="1417320"/>
          </a:xfrm>
          <a:prstGeom prst="rect">
            <a:avLst/>
          </a:prstGeom>
          <a:solidFill>
            <a:srgbClr val="4FC3F7"/>
          </a:solidFill>
          <a:ln w="12700">
            <a:solidFill>
              <a:srgbClr val="4FC3F7"/>
            </a:solidFill>
            <a:prstDash val="solid"/>
          </a:ln>
        </p:spPr>
      </p:sp>
      <p:sp>
        <p:nvSpPr>
          <p:cNvPr id="23" name="Text 21"/>
          <p:cNvSpPr/>
          <p:nvPr/>
        </p:nvSpPr>
        <p:spPr>
          <a:xfrm>
            <a:off x="685800" y="4041648"/>
            <a:ext cx="5029200" cy="329184"/>
          </a:xfrm>
          <a:prstGeom prst="rect">
            <a:avLst/>
          </a:prstGeom>
          <a:noFill/>
          <a:ln/>
        </p:spPr>
        <p:txBody>
          <a:bodyPr wrap="square" rtlCol="0" anchor="ctr"/>
          <a:lstStyle/>
          <a:p>
            <a:pPr indent="0" marL="0">
              <a:buNone/>
            </a:pPr>
            <a:r>
              <a:rPr lang="en-US" sz="1300" b="1" dirty="0">
                <a:solidFill>
                  <a:srgbClr val="4FC3F7"/>
                </a:solidFill>
                <a:latin typeface="Arial" pitchFamily="34" charset="0"/>
                <a:ea typeface="Arial" pitchFamily="34" charset="-122"/>
                <a:cs typeface="Arial" pitchFamily="34" charset="-120"/>
              </a:rPr>
              <a:t>🌐  Software / Website</a:t>
            </a:r>
            <a:endParaRPr lang="en-US" sz="1300" dirty="0"/>
          </a:p>
        </p:txBody>
      </p:sp>
      <p:sp>
        <p:nvSpPr>
          <p:cNvPr id="24" name="Text 22"/>
          <p:cNvSpPr/>
          <p:nvPr/>
        </p:nvSpPr>
        <p:spPr>
          <a:xfrm>
            <a:off x="685800" y="4434840"/>
            <a:ext cx="2011680" cy="237744"/>
          </a:xfrm>
          <a:prstGeom prst="rect">
            <a:avLst/>
          </a:prstGeom>
          <a:noFill/>
          <a:ln/>
        </p:spPr>
        <p:txBody>
          <a:bodyPr wrap="square" rtlCol="0" anchor="ctr"/>
          <a:lstStyle/>
          <a:p>
            <a:pPr indent="0" marL="0">
              <a:buNone/>
            </a:pPr>
            <a:r>
              <a:rPr lang="en-US" sz="950" dirty="0">
                <a:solidFill>
                  <a:srgbClr val="6B8CAE"/>
                </a:solidFill>
              </a:rPr>
              <a:t>Application Type:</a:t>
            </a:r>
            <a:endParaRPr lang="en-US" sz="950" dirty="0"/>
          </a:p>
        </p:txBody>
      </p:sp>
      <p:sp>
        <p:nvSpPr>
          <p:cNvPr id="25" name="Text 23"/>
          <p:cNvSpPr/>
          <p:nvPr/>
        </p:nvSpPr>
        <p:spPr>
          <a:xfrm>
            <a:off x="2697480" y="4434840"/>
            <a:ext cx="3108960" cy="237744"/>
          </a:xfrm>
          <a:prstGeom prst="rect">
            <a:avLst/>
          </a:prstGeom>
          <a:noFill/>
          <a:ln/>
        </p:spPr>
        <p:txBody>
          <a:bodyPr wrap="square" rtlCol="0" anchor="ctr"/>
          <a:lstStyle/>
          <a:p>
            <a:pPr indent="0" marL="0">
              <a:buNone/>
            </a:pPr>
            <a:r>
              <a:rPr lang="en-US" sz="950" dirty="0">
                <a:solidFill>
                  <a:srgbClr val="FFFFFF"/>
                </a:solidFill>
              </a:rPr>
              <a:t>Single-File Web Application (HTML + CSS + JS)</a:t>
            </a:r>
            <a:endParaRPr lang="en-US" sz="950" dirty="0"/>
          </a:p>
        </p:txBody>
      </p:sp>
      <p:sp>
        <p:nvSpPr>
          <p:cNvPr id="26" name="Text 24"/>
          <p:cNvSpPr/>
          <p:nvPr/>
        </p:nvSpPr>
        <p:spPr>
          <a:xfrm>
            <a:off x="685800" y="4700016"/>
            <a:ext cx="2011680" cy="237744"/>
          </a:xfrm>
          <a:prstGeom prst="rect">
            <a:avLst/>
          </a:prstGeom>
          <a:noFill/>
          <a:ln/>
        </p:spPr>
        <p:txBody>
          <a:bodyPr wrap="square" rtlCol="0" anchor="ctr"/>
          <a:lstStyle/>
          <a:p>
            <a:pPr indent="0" marL="0">
              <a:buNone/>
            </a:pPr>
            <a:r>
              <a:rPr lang="en-US" sz="950" dirty="0">
                <a:solidFill>
                  <a:srgbClr val="6B8CAE"/>
                </a:solidFill>
              </a:rPr>
              <a:t>Run Method:</a:t>
            </a:r>
            <a:endParaRPr lang="en-US" sz="950" dirty="0"/>
          </a:p>
        </p:txBody>
      </p:sp>
      <p:sp>
        <p:nvSpPr>
          <p:cNvPr id="27" name="Text 25"/>
          <p:cNvSpPr/>
          <p:nvPr/>
        </p:nvSpPr>
        <p:spPr>
          <a:xfrm>
            <a:off x="2697480" y="4700016"/>
            <a:ext cx="3108960" cy="237744"/>
          </a:xfrm>
          <a:prstGeom prst="rect">
            <a:avLst/>
          </a:prstGeom>
          <a:noFill/>
          <a:ln/>
        </p:spPr>
        <p:txBody>
          <a:bodyPr wrap="square" rtlCol="0" anchor="ctr"/>
          <a:lstStyle/>
          <a:p>
            <a:pPr indent="0" marL="0">
              <a:buNone/>
            </a:pPr>
            <a:r>
              <a:rPr lang="en-US" sz="950" dirty="0">
                <a:solidFill>
                  <a:srgbClr val="4FC3F7"/>
                </a:solidFill>
              </a:rPr>
              <a:t>Open devfolio.html directly in any browser — no server needed</a:t>
            </a:r>
            <a:endParaRPr lang="en-US" sz="950" dirty="0"/>
          </a:p>
        </p:txBody>
      </p:sp>
      <p:sp>
        <p:nvSpPr>
          <p:cNvPr id="28" name="Text 26"/>
          <p:cNvSpPr/>
          <p:nvPr/>
        </p:nvSpPr>
        <p:spPr>
          <a:xfrm>
            <a:off x="685800" y="4965192"/>
            <a:ext cx="2011680" cy="237744"/>
          </a:xfrm>
          <a:prstGeom prst="rect">
            <a:avLst/>
          </a:prstGeom>
          <a:noFill/>
          <a:ln/>
        </p:spPr>
        <p:txBody>
          <a:bodyPr wrap="square" rtlCol="0" anchor="ctr"/>
          <a:lstStyle/>
          <a:p>
            <a:pPr indent="0" marL="0">
              <a:buNone/>
            </a:pPr>
            <a:r>
              <a:rPr lang="en-US" sz="950" dirty="0">
                <a:solidFill>
                  <a:srgbClr val="6B8CAE"/>
                </a:solidFill>
              </a:rPr>
              <a:t>Hosting:</a:t>
            </a:r>
            <a:endParaRPr lang="en-US" sz="950" dirty="0"/>
          </a:p>
        </p:txBody>
      </p:sp>
      <p:sp>
        <p:nvSpPr>
          <p:cNvPr id="29" name="Text 27"/>
          <p:cNvSpPr/>
          <p:nvPr/>
        </p:nvSpPr>
        <p:spPr>
          <a:xfrm>
            <a:off x="2697480" y="4965192"/>
            <a:ext cx="3108960" cy="237744"/>
          </a:xfrm>
          <a:prstGeom prst="rect">
            <a:avLst/>
          </a:prstGeom>
          <a:noFill/>
          <a:ln/>
        </p:spPr>
        <p:txBody>
          <a:bodyPr wrap="square" rtlCol="0" anchor="ctr"/>
          <a:lstStyle/>
          <a:p>
            <a:pPr indent="0" marL="0">
              <a:buNone/>
            </a:pPr>
            <a:r>
              <a:rPr lang="en-US" sz="950" dirty="0">
                <a:solidFill>
                  <a:srgbClr val="FFFFFF"/>
                </a:solidFill>
              </a:rPr>
              <a:t>GitHub Pages / Netlify Drop / Any static host</a:t>
            </a:r>
            <a:endParaRPr lang="en-US" sz="950" dirty="0"/>
          </a:p>
        </p:txBody>
      </p:sp>
      <p:sp>
        <p:nvSpPr>
          <p:cNvPr id="30" name="Shape 28"/>
          <p:cNvSpPr/>
          <p:nvPr/>
        </p:nvSpPr>
        <p:spPr>
          <a:xfrm>
            <a:off x="6172200" y="1207008"/>
            <a:ext cx="5486400" cy="4142232"/>
          </a:xfrm>
          <a:prstGeom prst="rect">
            <a:avLst/>
          </a:prstGeom>
          <a:solidFill>
            <a:srgbClr val="152542"/>
          </a:solidFill>
          <a:ln w="12700">
            <a:solidFill>
              <a:srgbClr val="00C9A7">
                <a:alpha val="50000"/>
              </a:srgbClr>
            </a:solidFill>
            <a:prstDash val="solid"/>
          </a:ln>
          <a:effectLst>
            <a:outerShdw sx="100000" sy="100000" kx="0" ky="0" algn="bl" rotWithShape="0" blurRad="127000" dist="38100" dir="8100000">
              <a:srgbClr val="000000">
                <a:alpha val="25000"/>
              </a:srgbClr>
            </a:outerShdw>
          </a:effectLst>
        </p:spPr>
      </p:sp>
      <p:sp>
        <p:nvSpPr>
          <p:cNvPr id="31" name="Shape 29"/>
          <p:cNvSpPr/>
          <p:nvPr/>
        </p:nvSpPr>
        <p:spPr>
          <a:xfrm>
            <a:off x="6172200" y="1207008"/>
            <a:ext cx="50292" cy="4142232"/>
          </a:xfrm>
          <a:prstGeom prst="rect">
            <a:avLst/>
          </a:prstGeom>
          <a:solidFill>
            <a:srgbClr val="00C9A7"/>
          </a:solidFill>
          <a:ln w="12700">
            <a:solidFill>
              <a:srgbClr val="00C9A7"/>
            </a:solidFill>
            <a:prstDash val="solid"/>
          </a:ln>
        </p:spPr>
      </p:sp>
      <p:sp>
        <p:nvSpPr>
          <p:cNvPr id="32" name="Text 30"/>
          <p:cNvSpPr/>
          <p:nvPr/>
        </p:nvSpPr>
        <p:spPr>
          <a:xfrm>
            <a:off x="6355080" y="1316736"/>
            <a:ext cx="5120640" cy="329184"/>
          </a:xfrm>
          <a:prstGeom prst="rect">
            <a:avLst/>
          </a:prstGeom>
          <a:noFill/>
          <a:ln/>
        </p:spPr>
        <p:txBody>
          <a:bodyPr wrap="square" rtlCol="0" anchor="ctr"/>
          <a:lstStyle/>
          <a:p>
            <a:pPr indent="0" marL="0">
              <a:buNone/>
            </a:pPr>
            <a:r>
              <a:rPr lang="en-US" sz="1300" b="1" dirty="0">
                <a:solidFill>
                  <a:srgbClr val="00C9A7"/>
                </a:solidFill>
                <a:latin typeface="Arial" pitchFamily="34" charset="0"/>
                <a:ea typeface="Arial" pitchFamily="34" charset="-122"/>
                <a:cs typeface="Arial" pitchFamily="34" charset="-120"/>
              </a:rPr>
              <a:t>📁  Code Summary</a:t>
            </a:r>
            <a:endParaRPr lang="en-US" sz="1300" dirty="0"/>
          </a:p>
        </p:txBody>
      </p:sp>
      <p:sp>
        <p:nvSpPr>
          <p:cNvPr id="33" name="Shape 31"/>
          <p:cNvSpPr/>
          <p:nvPr/>
        </p:nvSpPr>
        <p:spPr>
          <a:xfrm>
            <a:off x="6355080" y="1810512"/>
            <a:ext cx="566928" cy="219456"/>
          </a:xfrm>
          <a:prstGeom prst="rect">
            <a:avLst/>
          </a:prstGeom>
          <a:solidFill>
            <a:srgbClr val="00C9A7">
              <a:alpha val="22000"/>
            </a:srgbClr>
          </a:solidFill>
          <a:ln w="12700">
            <a:solidFill>
              <a:srgbClr val="00C9A7">
                <a:alpha val="50000"/>
              </a:srgbClr>
            </a:solidFill>
            <a:prstDash val="solid"/>
          </a:ln>
        </p:spPr>
      </p:sp>
      <p:sp>
        <p:nvSpPr>
          <p:cNvPr id="34" name="Text 32"/>
          <p:cNvSpPr/>
          <p:nvPr/>
        </p:nvSpPr>
        <p:spPr>
          <a:xfrm>
            <a:off x="6355080" y="1810512"/>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3,200+</a:t>
            </a:r>
            <a:endParaRPr lang="en-US" sz="750" dirty="0"/>
          </a:p>
        </p:txBody>
      </p:sp>
      <p:sp>
        <p:nvSpPr>
          <p:cNvPr id="35" name="Text 33"/>
          <p:cNvSpPr/>
          <p:nvPr/>
        </p:nvSpPr>
        <p:spPr>
          <a:xfrm>
            <a:off x="6995160" y="1792224"/>
            <a:ext cx="4389120" cy="201168"/>
          </a:xfrm>
          <a:prstGeom prst="rect">
            <a:avLst/>
          </a:prstGeom>
          <a:noFill/>
          <a:ln/>
        </p:spPr>
        <p:txBody>
          <a:bodyPr wrap="square" rtlCol="0" anchor="ctr"/>
          <a:lstStyle/>
          <a:p>
            <a:pPr indent="0" marL="0">
              <a:buNone/>
            </a:pPr>
            <a:r>
              <a:rPr lang="en-US" sz="950" b="1" dirty="0">
                <a:solidFill>
                  <a:srgbClr val="FFFFFF"/>
                </a:solidFill>
              </a:rPr>
              <a:t>devfolio.html</a:t>
            </a:r>
            <a:endParaRPr lang="en-US" sz="950" dirty="0"/>
          </a:p>
        </p:txBody>
      </p:sp>
      <p:sp>
        <p:nvSpPr>
          <p:cNvPr id="36" name="Text 34"/>
          <p:cNvSpPr/>
          <p:nvPr/>
        </p:nvSpPr>
        <p:spPr>
          <a:xfrm>
            <a:off x="6995160" y="1984248"/>
            <a:ext cx="4389120" cy="182880"/>
          </a:xfrm>
          <a:prstGeom prst="rect">
            <a:avLst/>
          </a:prstGeom>
          <a:noFill/>
          <a:ln/>
        </p:spPr>
        <p:txBody>
          <a:bodyPr wrap="square" rtlCol="0" anchor="ctr"/>
          <a:lstStyle/>
          <a:p>
            <a:pPr indent="0" marL="0">
              <a:buNone/>
            </a:pPr>
            <a:r>
              <a:rPr lang="en-US" sz="800" dirty="0">
                <a:solidFill>
                  <a:srgbClr val="6B8CAE"/>
                </a:solidFill>
              </a:rPr>
              <a:t>Complete single-file app — HTML, CSS &amp; JS</a:t>
            </a:r>
            <a:endParaRPr lang="en-US" sz="800" dirty="0"/>
          </a:p>
        </p:txBody>
      </p:sp>
      <p:sp>
        <p:nvSpPr>
          <p:cNvPr id="37" name="Shape 35"/>
          <p:cNvSpPr/>
          <p:nvPr/>
        </p:nvSpPr>
        <p:spPr>
          <a:xfrm>
            <a:off x="6355080" y="2258568"/>
            <a:ext cx="566928" cy="219456"/>
          </a:xfrm>
          <a:prstGeom prst="rect">
            <a:avLst/>
          </a:prstGeom>
          <a:solidFill>
            <a:srgbClr val="00C9A7">
              <a:alpha val="22000"/>
            </a:srgbClr>
          </a:solidFill>
          <a:ln w="12700">
            <a:solidFill>
              <a:srgbClr val="00C9A7">
                <a:alpha val="50000"/>
              </a:srgbClr>
            </a:solidFill>
            <a:prstDash val="solid"/>
          </a:ln>
        </p:spPr>
      </p:sp>
      <p:sp>
        <p:nvSpPr>
          <p:cNvPr id="38" name="Text 36"/>
          <p:cNvSpPr/>
          <p:nvPr/>
        </p:nvSpPr>
        <p:spPr>
          <a:xfrm>
            <a:off x="6355080" y="2258568"/>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~150</a:t>
            </a:r>
            <a:endParaRPr lang="en-US" sz="750" dirty="0"/>
          </a:p>
        </p:txBody>
      </p:sp>
      <p:sp>
        <p:nvSpPr>
          <p:cNvPr id="39" name="Text 37"/>
          <p:cNvSpPr/>
          <p:nvPr/>
        </p:nvSpPr>
        <p:spPr>
          <a:xfrm>
            <a:off x="6995160" y="2240280"/>
            <a:ext cx="4389120" cy="201168"/>
          </a:xfrm>
          <a:prstGeom prst="rect">
            <a:avLst/>
          </a:prstGeom>
          <a:noFill/>
          <a:ln/>
        </p:spPr>
        <p:txBody>
          <a:bodyPr wrap="square" rtlCol="0" anchor="ctr"/>
          <a:lstStyle/>
          <a:p>
            <a:pPr indent="0" marL="0">
              <a:buNone/>
            </a:pPr>
            <a:r>
              <a:rPr lang="en-US" sz="950" b="1" dirty="0">
                <a:solidFill>
                  <a:srgbClr val="FFFFFF"/>
                </a:solidFill>
              </a:rPr>
              <a:t>Auth System (JS)</a:t>
            </a:r>
            <a:endParaRPr lang="en-US" sz="950" dirty="0"/>
          </a:p>
        </p:txBody>
      </p:sp>
      <p:sp>
        <p:nvSpPr>
          <p:cNvPr id="40" name="Text 38"/>
          <p:cNvSpPr/>
          <p:nvPr/>
        </p:nvSpPr>
        <p:spPr>
          <a:xfrm>
            <a:off x="6995160" y="2432304"/>
            <a:ext cx="4389120" cy="182880"/>
          </a:xfrm>
          <a:prstGeom prst="rect">
            <a:avLst/>
          </a:prstGeom>
          <a:noFill/>
          <a:ln/>
        </p:spPr>
        <p:txBody>
          <a:bodyPr wrap="square" rtlCol="0" anchor="ctr"/>
          <a:lstStyle/>
          <a:p>
            <a:pPr indent="0" marL="0">
              <a:buNone/>
            </a:pPr>
            <a:r>
              <a:rPr lang="en-US" sz="800" dirty="0">
                <a:solidFill>
                  <a:srgbClr val="6B8CAE"/>
                </a:solidFill>
              </a:rPr>
              <a:t>doLogin, doSignup, doReset, checkAndInit</a:t>
            </a:r>
            <a:endParaRPr lang="en-US" sz="800" dirty="0"/>
          </a:p>
        </p:txBody>
      </p:sp>
      <p:sp>
        <p:nvSpPr>
          <p:cNvPr id="41" name="Shape 39"/>
          <p:cNvSpPr/>
          <p:nvPr/>
        </p:nvSpPr>
        <p:spPr>
          <a:xfrm>
            <a:off x="6355080" y="2706624"/>
            <a:ext cx="566928" cy="219456"/>
          </a:xfrm>
          <a:prstGeom prst="rect">
            <a:avLst/>
          </a:prstGeom>
          <a:solidFill>
            <a:srgbClr val="00C9A7">
              <a:alpha val="22000"/>
            </a:srgbClr>
          </a:solidFill>
          <a:ln w="12700">
            <a:solidFill>
              <a:srgbClr val="00C9A7">
                <a:alpha val="50000"/>
              </a:srgbClr>
            </a:solidFill>
            <a:prstDash val="solid"/>
          </a:ln>
        </p:spPr>
      </p:sp>
      <p:sp>
        <p:nvSpPr>
          <p:cNvPr id="42" name="Text 40"/>
          <p:cNvSpPr/>
          <p:nvPr/>
        </p:nvSpPr>
        <p:spPr>
          <a:xfrm>
            <a:off x="6355080" y="2706624"/>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~200</a:t>
            </a:r>
            <a:endParaRPr lang="en-US" sz="750" dirty="0"/>
          </a:p>
        </p:txBody>
      </p:sp>
      <p:sp>
        <p:nvSpPr>
          <p:cNvPr id="43" name="Text 41"/>
          <p:cNvSpPr/>
          <p:nvPr/>
        </p:nvSpPr>
        <p:spPr>
          <a:xfrm>
            <a:off x="6995160" y="2688336"/>
            <a:ext cx="4389120" cy="201168"/>
          </a:xfrm>
          <a:prstGeom prst="rect">
            <a:avLst/>
          </a:prstGeom>
          <a:noFill/>
          <a:ln/>
        </p:spPr>
        <p:txBody>
          <a:bodyPr wrap="square" rtlCol="0" anchor="ctr"/>
          <a:lstStyle/>
          <a:p>
            <a:pPr indent="0" marL="0">
              <a:buNone/>
            </a:pPr>
            <a:r>
              <a:rPr lang="en-US" sz="950" b="1" dirty="0">
                <a:solidFill>
                  <a:srgbClr val="FFFFFF"/>
                </a:solidFill>
              </a:rPr>
              <a:t>Resume Parser (JS)</a:t>
            </a:r>
            <a:endParaRPr lang="en-US" sz="950" dirty="0"/>
          </a:p>
        </p:txBody>
      </p:sp>
      <p:sp>
        <p:nvSpPr>
          <p:cNvPr id="44" name="Text 42"/>
          <p:cNvSpPr/>
          <p:nvPr/>
        </p:nvSpPr>
        <p:spPr>
          <a:xfrm>
            <a:off x="6995160" y="2880360"/>
            <a:ext cx="4389120" cy="182880"/>
          </a:xfrm>
          <a:prstGeom prst="rect">
            <a:avLst/>
          </a:prstGeom>
          <a:noFill/>
          <a:ln/>
        </p:spPr>
        <p:txBody>
          <a:bodyPr wrap="square" rtlCol="0" anchor="ctr"/>
          <a:lstStyle/>
          <a:p>
            <a:pPr indent="0" marL="0">
              <a:buNone/>
            </a:pPr>
            <a:r>
              <a:rPr lang="en-US" sz="800" dirty="0">
                <a:solidFill>
                  <a:srgbClr val="6B8CAE"/>
                </a:solidFill>
              </a:rPr>
              <a:t>parseResume(), PDF.js integration</a:t>
            </a:r>
            <a:endParaRPr lang="en-US" sz="800" dirty="0"/>
          </a:p>
        </p:txBody>
      </p:sp>
      <p:sp>
        <p:nvSpPr>
          <p:cNvPr id="45" name="Shape 43"/>
          <p:cNvSpPr/>
          <p:nvPr/>
        </p:nvSpPr>
        <p:spPr>
          <a:xfrm>
            <a:off x="6355080" y="3154680"/>
            <a:ext cx="566928" cy="219456"/>
          </a:xfrm>
          <a:prstGeom prst="rect">
            <a:avLst/>
          </a:prstGeom>
          <a:solidFill>
            <a:srgbClr val="00C9A7">
              <a:alpha val="22000"/>
            </a:srgbClr>
          </a:solidFill>
          <a:ln w="12700">
            <a:solidFill>
              <a:srgbClr val="00C9A7">
                <a:alpha val="50000"/>
              </a:srgbClr>
            </a:solidFill>
            <a:prstDash val="solid"/>
          </a:ln>
        </p:spPr>
      </p:sp>
      <p:sp>
        <p:nvSpPr>
          <p:cNvPr id="46" name="Text 44"/>
          <p:cNvSpPr/>
          <p:nvPr/>
        </p:nvSpPr>
        <p:spPr>
          <a:xfrm>
            <a:off x="6355080" y="3154680"/>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~800</a:t>
            </a:r>
            <a:endParaRPr lang="en-US" sz="750" dirty="0"/>
          </a:p>
        </p:txBody>
      </p:sp>
      <p:sp>
        <p:nvSpPr>
          <p:cNvPr id="47" name="Text 45"/>
          <p:cNvSpPr/>
          <p:nvPr/>
        </p:nvSpPr>
        <p:spPr>
          <a:xfrm>
            <a:off x="6995160" y="3136392"/>
            <a:ext cx="4389120" cy="201168"/>
          </a:xfrm>
          <a:prstGeom prst="rect">
            <a:avLst/>
          </a:prstGeom>
          <a:noFill/>
          <a:ln/>
        </p:spPr>
        <p:txBody>
          <a:bodyPr wrap="square" rtlCol="0" anchor="ctr"/>
          <a:lstStyle/>
          <a:p>
            <a:pPr indent="0" marL="0">
              <a:buNone/>
            </a:pPr>
            <a:r>
              <a:rPr lang="en-US" sz="950" b="1" dirty="0">
                <a:solidFill>
                  <a:srgbClr val="FFFFFF"/>
                </a:solidFill>
              </a:rPr>
              <a:t>Portfolio Engine (JS)</a:t>
            </a:r>
            <a:endParaRPr lang="en-US" sz="950" dirty="0"/>
          </a:p>
        </p:txBody>
      </p:sp>
      <p:sp>
        <p:nvSpPr>
          <p:cNvPr id="48" name="Text 46"/>
          <p:cNvSpPr/>
          <p:nvPr/>
        </p:nvSpPr>
        <p:spPr>
          <a:xfrm>
            <a:off x="6995160" y="3328416"/>
            <a:ext cx="4389120" cy="182880"/>
          </a:xfrm>
          <a:prstGeom prst="rect">
            <a:avLst/>
          </a:prstGeom>
          <a:noFill/>
          <a:ln/>
        </p:spPr>
        <p:txBody>
          <a:bodyPr wrap="square" rtlCol="0" anchor="ctr"/>
          <a:lstStyle/>
          <a:p>
            <a:pPr indent="0" marL="0">
              <a:buNone/>
            </a:pPr>
            <a:r>
              <a:rPr lang="en-US" sz="800" dirty="0">
                <a:solidFill>
                  <a:srgbClr val="6B8CAE"/>
                </a:solidFill>
              </a:rPr>
              <a:t>20 template renderers + buildPortfolio()</a:t>
            </a:r>
            <a:endParaRPr lang="en-US" sz="800" dirty="0"/>
          </a:p>
        </p:txBody>
      </p:sp>
      <p:sp>
        <p:nvSpPr>
          <p:cNvPr id="49" name="Shape 47"/>
          <p:cNvSpPr/>
          <p:nvPr/>
        </p:nvSpPr>
        <p:spPr>
          <a:xfrm>
            <a:off x="6355080" y="3602736"/>
            <a:ext cx="566928" cy="219456"/>
          </a:xfrm>
          <a:prstGeom prst="rect">
            <a:avLst/>
          </a:prstGeom>
          <a:solidFill>
            <a:srgbClr val="00C9A7">
              <a:alpha val="22000"/>
            </a:srgbClr>
          </a:solidFill>
          <a:ln w="12700">
            <a:solidFill>
              <a:srgbClr val="00C9A7">
                <a:alpha val="50000"/>
              </a:srgbClr>
            </a:solidFill>
            <a:prstDash val="solid"/>
          </a:ln>
        </p:spPr>
      </p:sp>
      <p:sp>
        <p:nvSpPr>
          <p:cNvPr id="50" name="Text 48"/>
          <p:cNvSpPr/>
          <p:nvPr/>
        </p:nvSpPr>
        <p:spPr>
          <a:xfrm>
            <a:off x="6355080" y="3602736"/>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~450</a:t>
            </a:r>
            <a:endParaRPr lang="en-US" sz="750" dirty="0"/>
          </a:p>
        </p:txBody>
      </p:sp>
      <p:sp>
        <p:nvSpPr>
          <p:cNvPr id="51" name="Text 49"/>
          <p:cNvSpPr/>
          <p:nvPr/>
        </p:nvSpPr>
        <p:spPr>
          <a:xfrm>
            <a:off x="6995160" y="3584448"/>
            <a:ext cx="4389120" cy="201168"/>
          </a:xfrm>
          <a:prstGeom prst="rect">
            <a:avLst/>
          </a:prstGeom>
          <a:noFill/>
          <a:ln/>
        </p:spPr>
        <p:txBody>
          <a:bodyPr wrap="square" rtlCol="0" anchor="ctr"/>
          <a:lstStyle/>
          <a:p>
            <a:pPr indent="0" marL="0">
              <a:buNone/>
            </a:pPr>
            <a:r>
              <a:rPr lang="en-US" sz="950" b="1" dirty="0">
                <a:solidFill>
                  <a:srgbClr val="FFFFFF"/>
                </a:solidFill>
              </a:rPr>
              <a:t>CSS Styling</a:t>
            </a:r>
            <a:endParaRPr lang="en-US" sz="950" dirty="0"/>
          </a:p>
        </p:txBody>
      </p:sp>
      <p:sp>
        <p:nvSpPr>
          <p:cNvPr id="52" name="Text 50"/>
          <p:cNvSpPr/>
          <p:nvPr/>
        </p:nvSpPr>
        <p:spPr>
          <a:xfrm>
            <a:off x="6995160" y="3776472"/>
            <a:ext cx="4389120" cy="182880"/>
          </a:xfrm>
          <a:prstGeom prst="rect">
            <a:avLst/>
          </a:prstGeom>
          <a:noFill/>
          <a:ln/>
        </p:spPr>
        <p:txBody>
          <a:bodyPr wrap="square" rtlCol="0" anchor="ctr"/>
          <a:lstStyle/>
          <a:p>
            <a:pPr indent="0" marL="0">
              <a:buNone/>
            </a:pPr>
            <a:r>
              <a:rPr lang="en-US" sz="800" dirty="0">
                <a:solidFill>
                  <a:srgbClr val="6B8CAE"/>
                </a:solidFill>
              </a:rPr>
              <a:t>Variables, nav, cards, wizard, auth overlay</a:t>
            </a:r>
            <a:endParaRPr lang="en-US" sz="800" dirty="0"/>
          </a:p>
        </p:txBody>
      </p:sp>
      <p:sp>
        <p:nvSpPr>
          <p:cNvPr id="53" name="Shape 51"/>
          <p:cNvSpPr/>
          <p:nvPr/>
        </p:nvSpPr>
        <p:spPr>
          <a:xfrm>
            <a:off x="6355080" y="4050792"/>
            <a:ext cx="566928" cy="219456"/>
          </a:xfrm>
          <a:prstGeom prst="rect">
            <a:avLst/>
          </a:prstGeom>
          <a:solidFill>
            <a:srgbClr val="00C9A7">
              <a:alpha val="22000"/>
            </a:srgbClr>
          </a:solidFill>
          <a:ln w="12700">
            <a:solidFill>
              <a:srgbClr val="00C9A7">
                <a:alpha val="50000"/>
              </a:srgbClr>
            </a:solidFill>
            <a:prstDash val="solid"/>
          </a:ln>
        </p:spPr>
      </p:sp>
      <p:sp>
        <p:nvSpPr>
          <p:cNvPr id="54" name="Text 52"/>
          <p:cNvSpPr/>
          <p:nvPr/>
        </p:nvSpPr>
        <p:spPr>
          <a:xfrm>
            <a:off x="6355080" y="4050792"/>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~50</a:t>
            </a:r>
            <a:endParaRPr lang="en-US" sz="750" dirty="0"/>
          </a:p>
        </p:txBody>
      </p:sp>
      <p:sp>
        <p:nvSpPr>
          <p:cNvPr id="55" name="Text 53"/>
          <p:cNvSpPr/>
          <p:nvPr/>
        </p:nvSpPr>
        <p:spPr>
          <a:xfrm>
            <a:off x="6995160" y="4032504"/>
            <a:ext cx="4389120" cy="201168"/>
          </a:xfrm>
          <a:prstGeom prst="rect">
            <a:avLst/>
          </a:prstGeom>
          <a:noFill/>
          <a:ln/>
        </p:spPr>
        <p:txBody>
          <a:bodyPr wrap="square" rtlCol="0" anchor="ctr"/>
          <a:lstStyle/>
          <a:p>
            <a:pPr indent="0" marL="0">
              <a:buNone/>
            </a:pPr>
            <a:r>
              <a:rPr lang="en-US" sz="950" b="1" dirty="0">
                <a:solidFill>
                  <a:srgbClr val="FFFFFF"/>
                </a:solidFill>
              </a:rPr>
              <a:t>Skills Grid (JS)</a:t>
            </a:r>
            <a:endParaRPr lang="en-US" sz="950" dirty="0"/>
          </a:p>
        </p:txBody>
      </p:sp>
      <p:sp>
        <p:nvSpPr>
          <p:cNvPr id="56" name="Text 54"/>
          <p:cNvSpPr/>
          <p:nvPr/>
        </p:nvSpPr>
        <p:spPr>
          <a:xfrm>
            <a:off x="6995160" y="4224528"/>
            <a:ext cx="4389120" cy="182880"/>
          </a:xfrm>
          <a:prstGeom prst="rect">
            <a:avLst/>
          </a:prstGeom>
          <a:noFill/>
          <a:ln/>
        </p:spPr>
        <p:txBody>
          <a:bodyPr wrap="square" rtlCol="0" anchor="ctr"/>
          <a:lstStyle/>
          <a:p>
            <a:pPr indent="0" marL="0">
              <a:buNone/>
            </a:pPr>
            <a:r>
              <a:rPr lang="en-US" sz="800" dirty="0">
                <a:solidFill>
                  <a:srgbClr val="6B8CAE"/>
                </a:solidFill>
              </a:rPr>
              <a:t>38 tech skills, chip toggle, custom add</a:t>
            </a:r>
            <a:endParaRPr lang="en-US" sz="800" dirty="0"/>
          </a:p>
        </p:txBody>
      </p:sp>
      <p:sp>
        <p:nvSpPr>
          <p:cNvPr id="57" name="Shape 55"/>
          <p:cNvSpPr/>
          <p:nvPr/>
        </p:nvSpPr>
        <p:spPr>
          <a:xfrm>
            <a:off x="6355080" y="4498848"/>
            <a:ext cx="566928" cy="219456"/>
          </a:xfrm>
          <a:prstGeom prst="rect">
            <a:avLst/>
          </a:prstGeom>
          <a:solidFill>
            <a:srgbClr val="00C9A7">
              <a:alpha val="22000"/>
            </a:srgbClr>
          </a:solidFill>
          <a:ln w="12700">
            <a:solidFill>
              <a:srgbClr val="00C9A7">
                <a:alpha val="50000"/>
              </a:srgbClr>
            </a:solidFill>
            <a:prstDash val="solid"/>
          </a:ln>
        </p:spPr>
      </p:sp>
      <p:sp>
        <p:nvSpPr>
          <p:cNvPr id="58" name="Text 56"/>
          <p:cNvSpPr/>
          <p:nvPr/>
        </p:nvSpPr>
        <p:spPr>
          <a:xfrm>
            <a:off x="6355080" y="4498848"/>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~20</a:t>
            </a:r>
            <a:endParaRPr lang="en-US" sz="750" dirty="0"/>
          </a:p>
        </p:txBody>
      </p:sp>
      <p:sp>
        <p:nvSpPr>
          <p:cNvPr id="59" name="Text 57"/>
          <p:cNvSpPr/>
          <p:nvPr/>
        </p:nvSpPr>
        <p:spPr>
          <a:xfrm>
            <a:off x="6995160" y="4480560"/>
            <a:ext cx="4389120" cy="201168"/>
          </a:xfrm>
          <a:prstGeom prst="rect">
            <a:avLst/>
          </a:prstGeom>
          <a:noFill/>
          <a:ln/>
        </p:spPr>
        <p:txBody>
          <a:bodyPr wrap="square" rtlCol="0" anchor="ctr"/>
          <a:lstStyle/>
          <a:p>
            <a:pPr indent="0" marL="0">
              <a:buNone/>
            </a:pPr>
            <a:r>
              <a:rPr lang="en-US" sz="950" b="1" dirty="0">
                <a:solidFill>
                  <a:srgbClr val="FFFFFF"/>
                </a:solidFill>
              </a:rPr>
              <a:t>AI Bio Function (JS)</a:t>
            </a:r>
            <a:endParaRPr lang="en-US" sz="950" dirty="0"/>
          </a:p>
        </p:txBody>
      </p:sp>
      <p:sp>
        <p:nvSpPr>
          <p:cNvPr id="60" name="Text 58"/>
          <p:cNvSpPr/>
          <p:nvPr/>
        </p:nvSpPr>
        <p:spPr>
          <a:xfrm>
            <a:off x="6995160" y="4672584"/>
            <a:ext cx="4389120" cy="182880"/>
          </a:xfrm>
          <a:prstGeom prst="rect">
            <a:avLst/>
          </a:prstGeom>
          <a:noFill/>
          <a:ln/>
        </p:spPr>
        <p:txBody>
          <a:bodyPr wrap="square" rtlCol="0" anchor="ctr"/>
          <a:lstStyle/>
          <a:p>
            <a:pPr indent="0" marL="0">
              <a:buNone/>
            </a:pPr>
            <a:r>
              <a:rPr lang="en-US" sz="800" dirty="0">
                <a:solidFill>
                  <a:srgbClr val="6B8CAE"/>
                </a:solidFill>
              </a:rPr>
              <a:t>Claude API fetch with error handling</a:t>
            </a:r>
            <a:endParaRPr lang="en-US" sz="800" dirty="0"/>
          </a:p>
        </p:txBody>
      </p:sp>
      <p:sp>
        <p:nvSpPr>
          <p:cNvPr id="61" name="Shape 59"/>
          <p:cNvSpPr/>
          <p:nvPr/>
        </p:nvSpPr>
        <p:spPr>
          <a:xfrm>
            <a:off x="6355080" y="4946904"/>
            <a:ext cx="566928" cy="219456"/>
          </a:xfrm>
          <a:prstGeom prst="rect">
            <a:avLst/>
          </a:prstGeom>
          <a:solidFill>
            <a:srgbClr val="00C9A7">
              <a:alpha val="22000"/>
            </a:srgbClr>
          </a:solidFill>
          <a:ln w="12700">
            <a:solidFill>
              <a:srgbClr val="00C9A7">
                <a:alpha val="50000"/>
              </a:srgbClr>
            </a:solidFill>
            <a:prstDash val="solid"/>
          </a:ln>
        </p:spPr>
      </p:sp>
      <p:sp>
        <p:nvSpPr>
          <p:cNvPr id="62" name="Text 60"/>
          <p:cNvSpPr/>
          <p:nvPr/>
        </p:nvSpPr>
        <p:spPr>
          <a:xfrm>
            <a:off x="6355080" y="4946904"/>
            <a:ext cx="566928" cy="219456"/>
          </a:xfrm>
          <a:prstGeom prst="rect">
            <a:avLst/>
          </a:prstGeom>
          <a:noFill/>
          <a:ln/>
        </p:spPr>
        <p:txBody>
          <a:bodyPr wrap="square" rtlCol="0" anchor="ctr"/>
          <a:lstStyle/>
          <a:p>
            <a:pPr algn="ctr" indent="0" marL="0">
              <a:buNone/>
            </a:pPr>
            <a:r>
              <a:rPr lang="en-US" sz="750" b="1" dirty="0">
                <a:solidFill>
                  <a:srgbClr val="00C9A7"/>
                </a:solidFill>
                <a:latin typeface="Courier New" pitchFamily="34" charset="0"/>
                <a:ea typeface="Courier New" pitchFamily="34" charset="-122"/>
                <a:cs typeface="Courier New" pitchFamily="34" charset="-120"/>
              </a:rPr>
              <a:t>~60</a:t>
            </a:r>
            <a:endParaRPr lang="en-US" sz="750" dirty="0"/>
          </a:p>
        </p:txBody>
      </p:sp>
      <p:sp>
        <p:nvSpPr>
          <p:cNvPr id="63" name="Text 61"/>
          <p:cNvSpPr/>
          <p:nvPr/>
        </p:nvSpPr>
        <p:spPr>
          <a:xfrm>
            <a:off x="6995160" y="4928616"/>
            <a:ext cx="4389120" cy="201168"/>
          </a:xfrm>
          <a:prstGeom prst="rect">
            <a:avLst/>
          </a:prstGeom>
          <a:noFill/>
          <a:ln/>
        </p:spPr>
        <p:txBody>
          <a:bodyPr wrap="square" rtlCol="0" anchor="ctr"/>
          <a:lstStyle/>
          <a:p>
            <a:pPr indent="0" marL="0">
              <a:buNone/>
            </a:pPr>
            <a:r>
              <a:rPr lang="en-US" sz="950" b="1" dirty="0">
                <a:solidFill>
                  <a:srgbClr val="FFFFFF"/>
                </a:solidFill>
              </a:rPr>
              <a:t>Template Router (JS)</a:t>
            </a:r>
            <a:endParaRPr lang="en-US" sz="950" dirty="0"/>
          </a:p>
        </p:txBody>
      </p:sp>
      <p:sp>
        <p:nvSpPr>
          <p:cNvPr id="64" name="Text 62"/>
          <p:cNvSpPr/>
          <p:nvPr/>
        </p:nvSpPr>
        <p:spPr>
          <a:xfrm>
            <a:off x="6995160" y="5120640"/>
            <a:ext cx="4389120" cy="182880"/>
          </a:xfrm>
          <a:prstGeom prst="rect">
            <a:avLst/>
          </a:prstGeom>
          <a:noFill/>
          <a:ln/>
        </p:spPr>
        <p:txBody>
          <a:bodyPr wrap="square" rtlCol="0" anchor="ctr"/>
          <a:lstStyle/>
          <a:p>
            <a:pPr indent="0" marL="0">
              <a:buNone/>
            </a:pPr>
            <a:r>
              <a:rPr lang="en-US" sz="800" dirty="0">
                <a:solidFill>
                  <a:srgbClr val="6B8CAE"/>
                </a:solidFill>
              </a:rPr>
              <a:t>20 if/else branches routing to renderers</a:t>
            </a:r>
            <a:endParaRPr lang="en-US" sz="800" dirty="0"/>
          </a:p>
        </p:txBody>
      </p:sp>
      <p:sp>
        <p:nvSpPr>
          <p:cNvPr id="65" name="Shape 63"/>
          <p:cNvSpPr/>
          <p:nvPr/>
        </p:nvSpPr>
        <p:spPr>
          <a:xfrm>
            <a:off x="6172200" y="5074920"/>
            <a:ext cx="5486400" cy="274320"/>
          </a:xfrm>
          <a:prstGeom prst="rect">
            <a:avLst/>
          </a:prstGeom>
          <a:solidFill>
            <a:srgbClr val="00C9A7">
              <a:alpha val="18000"/>
            </a:srgbClr>
          </a:solidFill>
          <a:ln w="12700">
            <a:solidFill>
              <a:srgbClr val="00C9A7">
                <a:alpha val="40000"/>
              </a:srgbClr>
            </a:solidFill>
            <a:prstDash val="solid"/>
          </a:ln>
        </p:spPr>
      </p:sp>
      <p:sp>
        <p:nvSpPr>
          <p:cNvPr id="66" name="Text 64"/>
          <p:cNvSpPr/>
          <p:nvPr/>
        </p:nvSpPr>
        <p:spPr>
          <a:xfrm>
            <a:off x="6172200" y="5074920"/>
            <a:ext cx="5486400" cy="274320"/>
          </a:xfrm>
          <a:prstGeom prst="rect">
            <a:avLst/>
          </a:prstGeom>
          <a:noFill/>
          <a:ln/>
        </p:spPr>
        <p:txBody>
          <a:bodyPr wrap="square" rtlCol="0" anchor="ctr"/>
          <a:lstStyle/>
          <a:p>
            <a:pPr algn="ctr" indent="0" marL="0">
              <a:buNone/>
            </a:pPr>
            <a:r>
              <a:rPr lang="en-US" sz="850" b="1" dirty="0">
                <a:solidFill>
                  <a:srgbClr val="00C9A7"/>
                </a:solidFill>
              </a:rPr>
              <a:t>Total: 1 file  ·  3,200+ lines  ·  100% client-side  ·  Zero dependencies to install</a:t>
            </a:r>
            <a:endParaRPr lang="en-US" sz="850" dirty="0"/>
          </a:p>
        </p:txBody>
      </p:sp>
      <p:sp>
        <p:nvSpPr>
          <p:cNvPr id="67" name="Shape 65"/>
          <p:cNvSpPr/>
          <p:nvPr/>
        </p:nvSpPr>
        <p:spPr>
          <a:xfrm>
            <a:off x="0" y="6547104"/>
            <a:ext cx="12161520" cy="310896"/>
          </a:xfrm>
          <a:prstGeom prst="rect">
            <a:avLst/>
          </a:prstGeom>
          <a:solidFill>
            <a:srgbClr val="071020"/>
          </a:solidFill>
          <a:ln w="12700">
            <a:solidFill>
              <a:srgbClr val="071020"/>
            </a:solidFill>
            <a:prstDash val="solid"/>
          </a:ln>
        </p:spPr>
      </p:sp>
      <p:sp>
        <p:nvSpPr>
          <p:cNvPr id="68" name="Shape 66"/>
          <p:cNvSpPr/>
          <p:nvPr/>
        </p:nvSpPr>
        <p:spPr>
          <a:xfrm>
            <a:off x="0" y="6547104"/>
            <a:ext cx="12161520" cy="27432"/>
          </a:xfrm>
          <a:prstGeom prst="rect">
            <a:avLst/>
          </a:prstGeom>
          <a:solidFill>
            <a:srgbClr val="E8A020"/>
          </a:solidFill>
          <a:ln w="12700">
            <a:solidFill>
              <a:srgbClr val="E8A020"/>
            </a:solidFill>
            <a:prstDash val="solid"/>
          </a:ln>
        </p:spPr>
      </p:sp>
      <p:sp>
        <p:nvSpPr>
          <p:cNvPr id="69" name="Text 67"/>
          <p:cNvSpPr/>
          <p:nvPr/>
        </p:nvSpPr>
        <p:spPr>
          <a:xfrm>
            <a:off x="0" y="6565392"/>
            <a:ext cx="12161520" cy="274320"/>
          </a:xfrm>
          <a:prstGeom prst="rect">
            <a:avLst/>
          </a:prstGeom>
          <a:noFill/>
          <a:ln/>
        </p:spPr>
        <p:txBody>
          <a:bodyPr wrap="square" rtlCol="0" anchor="ctr"/>
          <a:lstStyle/>
          <a:p>
            <a:pPr algn="ctr" indent="0" marL="0">
              <a:buNone/>
            </a:pPr>
            <a:r>
              <a:rPr lang="en-US" sz="800" dirty="0">
                <a:solidFill>
                  <a:srgbClr val="6B8CAE"/>
                </a:solidFill>
                <a:latin typeface="Courier New" pitchFamily="34" charset="0"/>
                <a:ea typeface="Courier New" pitchFamily="34" charset="-122"/>
                <a:cs typeface="Courier New" pitchFamily="34" charset="-120"/>
              </a:rPr>
              <a:t>DevFolio  ·  AI-Powered Portfolio Generator  ·  SRU  ·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2026-04-21T14:29:19Z</dcterms:created>
  <dcterms:modified xsi:type="dcterms:W3CDTF">2026-04-21T14:29:19Z</dcterms:modified>
</cp:coreProperties>
</file>